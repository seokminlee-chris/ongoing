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0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1143000"/>
            <a:ext cx="4572000" cy="365760"/>
          </a:xfrm>
          <a:prstGeom prst="rect">
            <a:avLst/>
          </a:prstGeom>
          <a:noFill/>
        </p:spPr>
        <p:txBody>
          <a:bodyPr wrap="none">
            <a:spAutoFit/>
          </a:bodyPr>
          <a:lstStyle/>
          <a:p>
            <a:pPr>
              <a:defRPr sz="1400" b="1">
                <a:solidFill>
                  <a:srgbClr val="5A6573"/>
                </a:solidFill>
                <a:latin typeface="Aptos"/>
              </a:defRPr>
            </a:pPr>
            <a:r>
              <a:t>LAB MEETING · 2026.08.21</a:t>
            </a:r>
          </a:p>
        </p:txBody>
      </p:sp>
      <p:sp>
        <p:nvSpPr>
          <p:cNvPr id="4" name="TextBox 3"/>
          <p:cNvSpPr txBox="1"/>
          <p:nvPr/>
        </p:nvSpPr>
        <p:spPr>
          <a:xfrm>
            <a:off x="914400" y="1965960"/>
            <a:ext cx="10241280" cy="1051560"/>
          </a:xfrm>
          <a:prstGeom prst="rect">
            <a:avLst/>
          </a:prstGeom>
          <a:noFill/>
        </p:spPr>
        <p:txBody>
          <a:bodyPr wrap="none">
            <a:spAutoFit/>
          </a:bodyPr>
          <a:lstStyle/>
          <a:p>
            <a:pPr>
              <a:defRPr sz="4200" b="1">
                <a:solidFill>
                  <a:srgbClr val="1C232D"/>
                </a:solidFill>
                <a:latin typeface="Aptos Display"/>
              </a:defRPr>
            </a:pPr>
            <a:r>
              <a:t>Robotics Agent Project</a:t>
            </a:r>
          </a:p>
        </p:txBody>
      </p:sp>
      <p:sp>
        <p:nvSpPr>
          <p:cNvPr id="5" name="Rectangle 4"/>
          <p:cNvSpPr/>
          <p:nvPr/>
        </p:nvSpPr>
        <p:spPr>
          <a:xfrm>
            <a:off x="941832" y="3246120"/>
            <a:ext cx="1143000" cy="36576"/>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3547872"/>
            <a:ext cx="4572000" cy="502920"/>
          </a:xfrm>
          <a:prstGeom prst="rect">
            <a:avLst/>
          </a:prstGeom>
          <a:noFill/>
        </p:spPr>
        <p:txBody>
          <a:bodyPr wrap="none">
            <a:spAutoFit/>
          </a:bodyPr>
          <a:lstStyle/>
          <a:p>
            <a:pPr>
              <a:defRPr sz="2000" b="0">
                <a:solidFill>
                  <a:srgbClr val="4B5460"/>
                </a:solidFill>
                <a:latin typeface="Aptos"/>
              </a:defRPr>
            </a:pPr>
            <a:r>
              <a:t>SEOKMIN LEE</a:t>
            </a:r>
          </a:p>
        </p:txBody>
      </p:sp>
      <p:sp>
        <p:nvSpPr>
          <p:cNvPr id="7" name="TextBox 6"/>
          <p:cNvSpPr txBox="1"/>
          <p:nvPr/>
        </p:nvSpPr>
        <p:spPr>
          <a:xfrm>
            <a:off x="10789920" y="6172200"/>
            <a:ext cx="457200" cy="274320"/>
          </a:xfrm>
          <a:prstGeom prst="rect">
            <a:avLst/>
          </a:prstGeom>
          <a:noFill/>
        </p:spPr>
        <p:txBody>
          <a:bodyPr wrap="none">
            <a:spAutoFit/>
          </a:bodyPr>
          <a:lstStyle/>
          <a:p>
            <a:pPr algn="r">
              <a:defRPr sz="1100">
                <a:solidFill>
                  <a:srgbClr val="969CA5"/>
                </a:solidFill>
                <a:latin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41832" y="621792"/>
            <a:ext cx="3657600" cy="320040"/>
          </a:xfrm>
          <a:prstGeom prst="rect">
            <a:avLst/>
          </a:prstGeom>
          <a:noFill/>
        </p:spPr>
        <p:txBody>
          <a:bodyPr wrap="none">
            <a:spAutoFit/>
          </a:bodyPr>
          <a:lstStyle/>
          <a:p>
            <a:pPr>
              <a:defRPr sz="1300" b="1">
                <a:solidFill>
                  <a:srgbClr val="5A6573"/>
                </a:solidFill>
                <a:latin typeface="Aptos"/>
              </a:defRPr>
            </a:pPr>
            <a:r>
              <a:t>AGENDA</a:t>
            </a:r>
          </a:p>
        </p:txBody>
      </p:sp>
      <p:sp>
        <p:nvSpPr>
          <p:cNvPr id="4" name="TextBox 3"/>
          <p:cNvSpPr txBox="1"/>
          <p:nvPr/>
        </p:nvSpPr>
        <p:spPr>
          <a:xfrm>
            <a:off x="914400" y="987552"/>
            <a:ext cx="6400800" cy="640080"/>
          </a:xfrm>
          <a:prstGeom prst="rect">
            <a:avLst/>
          </a:prstGeom>
          <a:noFill/>
        </p:spPr>
        <p:txBody>
          <a:bodyPr wrap="none">
            <a:spAutoFit/>
          </a:bodyPr>
          <a:lstStyle/>
          <a:p>
            <a:pPr>
              <a:defRPr sz="3000" b="1">
                <a:solidFill>
                  <a:srgbClr val="1C232D"/>
                </a:solidFill>
                <a:latin typeface="Aptos Display"/>
              </a:defRPr>
            </a:pPr>
            <a:r>
              <a:t>Today’s Discussion</a:t>
            </a:r>
          </a:p>
        </p:txBody>
      </p:sp>
      <p:sp>
        <p:nvSpPr>
          <p:cNvPr id="5" name="TextBox 4"/>
          <p:cNvSpPr txBox="1"/>
          <p:nvPr/>
        </p:nvSpPr>
        <p:spPr>
          <a:xfrm>
            <a:off x="960120" y="1874519"/>
            <a:ext cx="502920" cy="384048"/>
          </a:xfrm>
          <a:prstGeom prst="rect">
            <a:avLst/>
          </a:prstGeom>
          <a:noFill/>
        </p:spPr>
        <p:txBody>
          <a:bodyPr wrap="none">
            <a:spAutoFit/>
          </a:bodyPr>
          <a:lstStyle/>
          <a:p>
            <a:pPr>
              <a:defRPr sz="1500" b="1">
                <a:solidFill>
                  <a:srgbClr val="284C7A"/>
                </a:solidFill>
                <a:latin typeface="Aptos"/>
              </a:defRPr>
            </a:pPr>
            <a:r>
              <a:t>01</a:t>
            </a:r>
          </a:p>
        </p:txBody>
      </p:sp>
      <p:sp>
        <p:nvSpPr>
          <p:cNvPr id="6" name="TextBox 5"/>
          <p:cNvSpPr txBox="1"/>
          <p:nvPr/>
        </p:nvSpPr>
        <p:spPr>
          <a:xfrm>
            <a:off x="1600200" y="1856231"/>
            <a:ext cx="9418320" cy="438912"/>
          </a:xfrm>
          <a:prstGeom prst="rect">
            <a:avLst/>
          </a:prstGeom>
          <a:noFill/>
        </p:spPr>
        <p:txBody>
          <a:bodyPr wrap="none">
            <a:spAutoFit/>
          </a:bodyPr>
          <a:lstStyle/>
          <a:p>
            <a:pPr>
              <a:defRPr sz="2000" b="1">
                <a:solidFill>
                  <a:srgbClr val="262D37"/>
                </a:solidFill>
                <a:latin typeface="Aptos"/>
              </a:defRPr>
            </a:pPr>
            <a:r>
              <a:t>Our Research Roadmap</a:t>
            </a:r>
          </a:p>
        </p:txBody>
      </p:sp>
      <p:sp>
        <p:nvSpPr>
          <p:cNvPr id="7" name="Rectangle 6"/>
          <p:cNvSpPr/>
          <p:nvPr/>
        </p:nvSpPr>
        <p:spPr>
          <a:xfrm>
            <a:off x="1600200" y="2377439"/>
            <a:ext cx="8961120" cy="10972"/>
          </a:xfrm>
          <a:prstGeom prst="rect">
            <a:avLst/>
          </a:prstGeom>
          <a:solidFill>
            <a:srgbClr val="DC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679191"/>
            <a:ext cx="502920" cy="384048"/>
          </a:xfrm>
          <a:prstGeom prst="rect">
            <a:avLst/>
          </a:prstGeom>
          <a:noFill/>
        </p:spPr>
        <p:txBody>
          <a:bodyPr wrap="none">
            <a:spAutoFit/>
          </a:bodyPr>
          <a:lstStyle/>
          <a:p>
            <a:pPr>
              <a:defRPr sz="1500" b="1">
                <a:solidFill>
                  <a:srgbClr val="284C7A"/>
                </a:solidFill>
                <a:latin typeface="Aptos"/>
              </a:defRPr>
            </a:pPr>
            <a:r>
              <a:t>02</a:t>
            </a:r>
          </a:p>
        </p:txBody>
      </p:sp>
      <p:sp>
        <p:nvSpPr>
          <p:cNvPr id="9" name="TextBox 8"/>
          <p:cNvSpPr txBox="1"/>
          <p:nvPr/>
        </p:nvSpPr>
        <p:spPr>
          <a:xfrm>
            <a:off x="1600200" y="2660903"/>
            <a:ext cx="9418320" cy="438912"/>
          </a:xfrm>
          <a:prstGeom prst="rect">
            <a:avLst/>
          </a:prstGeom>
          <a:noFill/>
        </p:spPr>
        <p:txBody>
          <a:bodyPr wrap="none">
            <a:spAutoFit/>
          </a:bodyPr>
          <a:lstStyle/>
          <a:p>
            <a:pPr>
              <a:defRPr sz="2000" b="0">
                <a:solidFill>
                  <a:srgbClr val="262D37"/>
                </a:solidFill>
                <a:latin typeface="Aptos"/>
              </a:defRPr>
            </a:pPr>
            <a:r>
              <a:t>Prior Work: CaP-X &amp; VoLo-Agent</a:t>
            </a:r>
          </a:p>
        </p:txBody>
      </p:sp>
      <p:sp>
        <p:nvSpPr>
          <p:cNvPr id="10" name="Rectangle 9"/>
          <p:cNvSpPr/>
          <p:nvPr/>
        </p:nvSpPr>
        <p:spPr>
          <a:xfrm>
            <a:off x="1600200" y="3182111"/>
            <a:ext cx="8961120" cy="10972"/>
          </a:xfrm>
          <a:prstGeom prst="rect">
            <a:avLst/>
          </a:prstGeom>
          <a:solidFill>
            <a:srgbClr val="DC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483863"/>
            <a:ext cx="502920" cy="384048"/>
          </a:xfrm>
          <a:prstGeom prst="rect">
            <a:avLst/>
          </a:prstGeom>
          <a:noFill/>
        </p:spPr>
        <p:txBody>
          <a:bodyPr wrap="none">
            <a:spAutoFit/>
          </a:bodyPr>
          <a:lstStyle/>
          <a:p>
            <a:pPr>
              <a:defRPr sz="1500" b="1">
                <a:solidFill>
                  <a:srgbClr val="284C7A"/>
                </a:solidFill>
                <a:latin typeface="Aptos"/>
              </a:defRPr>
            </a:pPr>
            <a:r>
              <a:t>03</a:t>
            </a:r>
          </a:p>
        </p:txBody>
      </p:sp>
      <p:sp>
        <p:nvSpPr>
          <p:cNvPr id="12" name="TextBox 11"/>
          <p:cNvSpPr txBox="1"/>
          <p:nvPr/>
        </p:nvSpPr>
        <p:spPr>
          <a:xfrm>
            <a:off x="1600200" y="3465575"/>
            <a:ext cx="9418320" cy="438912"/>
          </a:xfrm>
          <a:prstGeom prst="rect">
            <a:avLst/>
          </a:prstGeom>
          <a:noFill/>
        </p:spPr>
        <p:txBody>
          <a:bodyPr wrap="none">
            <a:spAutoFit/>
          </a:bodyPr>
          <a:lstStyle/>
          <a:p>
            <a:pPr>
              <a:defRPr sz="2000" b="0">
                <a:solidFill>
                  <a:srgbClr val="262D37"/>
                </a:solidFill>
                <a:latin typeface="Aptos"/>
              </a:defRPr>
            </a:pPr>
            <a:r>
              <a:t>Code Structure: CaP-X &amp; VoLo-Agent</a:t>
            </a:r>
          </a:p>
        </p:txBody>
      </p:sp>
      <p:sp>
        <p:nvSpPr>
          <p:cNvPr id="13" name="Rectangle 12"/>
          <p:cNvSpPr/>
          <p:nvPr/>
        </p:nvSpPr>
        <p:spPr>
          <a:xfrm>
            <a:off x="1600200" y="3986783"/>
            <a:ext cx="8961120" cy="10972"/>
          </a:xfrm>
          <a:prstGeom prst="rect">
            <a:avLst/>
          </a:prstGeom>
          <a:solidFill>
            <a:srgbClr val="DC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288536"/>
            <a:ext cx="502920" cy="384048"/>
          </a:xfrm>
          <a:prstGeom prst="rect">
            <a:avLst/>
          </a:prstGeom>
          <a:noFill/>
        </p:spPr>
        <p:txBody>
          <a:bodyPr wrap="none">
            <a:spAutoFit/>
          </a:bodyPr>
          <a:lstStyle/>
          <a:p>
            <a:pPr>
              <a:defRPr sz="1500" b="1">
                <a:solidFill>
                  <a:srgbClr val="284C7A"/>
                </a:solidFill>
                <a:latin typeface="Aptos"/>
              </a:defRPr>
            </a:pPr>
            <a:r>
              <a:t>04</a:t>
            </a:r>
          </a:p>
        </p:txBody>
      </p:sp>
      <p:sp>
        <p:nvSpPr>
          <p:cNvPr id="15" name="TextBox 14"/>
          <p:cNvSpPr txBox="1"/>
          <p:nvPr/>
        </p:nvSpPr>
        <p:spPr>
          <a:xfrm>
            <a:off x="1600200" y="4270248"/>
            <a:ext cx="9418320" cy="438912"/>
          </a:xfrm>
          <a:prstGeom prst="rect">
            <a:avLst/>
          </a:prstGeom>
          <a:noFill/>
        </p:spPr>
        <p:txBody>
          <a:bodyPr wrap="none">
            <a:spAutoFit/>
          </a:bodyPr>
          <a:lstStyle/>
          <a:p>
            <a:pPr>
              <a:defRPr sz="2000" b="0">
                <a:solidFill>
                  <a:srgbClr val="262D37"/>
                </a:solidFill>
                <a:latin typeface="Aptos"/>
              </a:defRPr>
            </a:pPr>
            <a:r>
              <a:t>Roadmap Step 1: What Problem Should We Focus On?</a:t>
            </a:r>
          </a:p>
        </p:txBody>
      </p:sp>
      <p:sp>
        <p:nvSpPr>
          <p:cNvPr id="16" name="Rectangle 15"/>
          <p:cNvSpPr/>
          <p:nvPr/>
        </p:nvSpPr>
        <p:spPr>
          <a:xfrm>
            <a:off x="1600200" y="4791455"/>
            <a:ext cx="8961120" cy="10972"/>
          </a:xfrm>
          <a:prstGeom prst="rect">
            <a:avLst/>
          </a:prstGeom>
          <a:solidFill>
            <a:srgbClr val="DCE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093208"/>
            <a:ext cx="502920" cy="384048"/>
          </a:xfrm>
          <a:prstGeom prst="rect">
            <a:avLst/>
          </a:prstGeom>
          <a:noFill/>
        </p:spPr>
        <p:txBody>
          <a:bodyPr wrap="none">
            <a:spAutoFit/>
          </a:bodyPr>
          <a:lstStyle/>
          <a:p>
            <a:pPr>
              <a:defRPr sz="1500" b="1">
                <a:solidFill>
                  <a:srgbClr val="284C7A"/>
                </a:solidFill>
                <a:latin typeface="Aptos"/>
              </a:defRPr>
            </a:pPr>
            <a:r>
              <a:t>05</a:t>
            </a:r>
          </a:p>
        </p:txBody>
      </p:sp>
      <p:sp>
        <p:nvSpPr>
          <p:cNvPr id="18" name="TextBox 17"/>
          <p:cNvSpPr txBox="1"/>
          <p:nvPr/>
        </p:nvSpPr>
        <p:spPr>
          <a:xfrm>
            <a:off x="1600200" y="5074920"/>
            <a:ext cx="9418320" cy="438912"/>
          </a:xfrm>
          <a:prstGeom prst="rect">
            <a:avLst/>
          </a:prstGeom>
          <a:noFill/>
        </p:spPr>
        <p:txBody>
          <a:bodyPr wrap="none">
            <a:spAutoFit/>
          </a:bodyPr>
          <a:lstStyle/>
          <a:p>
            <a:pPr>
              <a:defRPr sz="2000" b="0">
                <a:solidFill>
                  <a:srgbClr val="262D37"/>
                </a:solidFill>
                <a:latin typeface="Aptos"/>
              </a:defRPr>
            </a:pPr>
            <a:r>
              <a:t>Until Next Meeting: Benchmark Study &amp; Selection</a:t>
            </a:r>
          </a:p>
        </p:txBody>
      </p:sp>
      <p:sp>
        <p:nvSpPr>
          <p:cNvPr id="19" name="TextBox 18"/>
          <p:cNvSpPr txBox="1"/>
          <p:nvPr/>
        </p:nvSpPr>
        <p:spPr>
          <a:xfrm>
            <a:off x="10789920" y="6172200"/>
            <a:ext cx="457200" cy="274320"/>
          </a:xfrm>
          <a:prstGeom prst="rect">
            <a:avLst/>
          </a:prstGeom>
          <a:noFill/>
        </p:spPr>
        <p:txBody>
          <a:bodyPr wrap="none">
            <a:spAutoFit/>
          </a:bodyPr>
          <a:lstStyle/>
          <a:p>
            <a:pPr algn="r">
              <a:defRPr sz="1100">
                <a:solidFill>
                  <a:srgbClr val="969CA5"/>
                </a:solidFill>
                <a:latin typeface="Aptos"/>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41248" y="530352"/>
            <a:ext cx="4114800" cy="274320"/>
          </a:xfrm>
          <a:prstGeom prst="rect">
            <a:avLst/>
          </a:prstGeom>
          <a:noFill/>
        </p:spPr>
        <p:txBody>
          <a:bodyPr wrap="none">
            <a:spAutoFit/>
          </a:bodyPr>
          <a:lstStyle/>
          <a:p>
            <a:pPr>
              <a:defRPr sz="1200" b="1">
                <a:solidFill>
                  <a:srgbClr val="536070"/>
                </a:solidFill>
                <a:latin typeface="Aptos"/>
              </a:defRPr>
            </a:pPr>
            <a:r>
              <a:t>RESEARCH ROADMAP</a:t>
            </a:r>
          </a:p>
        </p:txBody>
      </p:sp>
      <p:sp>
        <p:nvSpPr>
          <p:cNvPr id="4" name="TextBox 3"/>
          <p:cNvSpPr txBox="1"/>
          <p:nvPr/>
        </p:nvSpPr>
        <p:spPr>
          <a:xfrm>
            <a:off x="822960" y="896112"/>
            <a:ext cx="7315200" cy="566928"/>
          </a:xfrm>
          <a:prstGeom prst="rect">
            <a:avLst/>
          </a:prstGeom>
          <a:noFill/>
        </p:spPr>
        <p:txBody>
          <a:bodyPr wrap="none">
            <a:spAutoFit/>
          </a:bodyPr>
          <a:lstStyle/>
          <a:p>
            <a:pPr>
              <a:defRPr sz="2800" b="1">
                <a:solidFill>
                  <a:srgbClr val="1C232D"/>
                </a:solidFill>
                <a:latin typeface="Aptos Display"/>
              </a:defRPr>
            </a:pPr>
            <a:r>
              <a:t>From Problem Definition to Real-World Deployment</a:t>
            </a:r>
          </a:p>
        </p:txBody>
      </p:sp>
      <p:sp>
        <p:nvSpPr>
          <p:cNvPr id="5" name="TextBox 4"/>
          <p:cNvSpPr txBox="1"/>
          <p:nvPr/>
        </p:nvSpPr>
        <p:spPr>
          <a:xfrm>
            <a:off x="841248" y="1481328"/>
            <a:ext cx="8961120" cy="310896"/>
          </a:xfrm>
          <a:prstGeom prst="rect">
            <a:avLst/>
          </a:prstGeom>
          <a:noFill/>
        </p:spPr>
        <p:txBody>
          <a:bodyPr wrap="none">
            <a:spAutoFit/>
          </a:bodyPr>
          <a:lstStyle/>
          <a:p>
            <a:pPr>
              <a:defRPr sz="1300">
                <a:solidFill>
                  <a:srgbClr val="69727E"/>
                </a:solidFill>
                <a:latin typeface="Aptos"/>
              </a:defRPr>
            </a:pPr>
            <a:r>
              <a:t>Define the target capability first, then build the evaluation and model around it.</a:t>
            </a:r>
          </a:p>
        </p:txBody>
      </p:sp>
      <p:sp>
        <p:nvSpPr>
          <p:cNvPr id="6" name="Rectangle 5"/>
          <p:cNvSpPr/>
          <p:nvPr/>
        </p:nvSpPr>
        <p:spPr>
          <a:xfrm>
            <a:off x="1097280" y="2880360"/>
            <a:ext cx="9966960" cy="32004"/>
          </a:xfrm>
          <a:prstGeom prst="rect">
            <a:avLst/>
          </a:prstGeom>
          <a:solidFill>
            <a:srgbClr val="CDD3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60120" y="2578608"/>
            <a:ext cx="640080" cy="640080"/>
          </a:xfrm>
          <a:prstGeom prst="ellipse">
            <a:avLst/>
          </a:prstGeom>
          <a:solidFill>
            <a:srgbClr val="284C7A"/>
          </a:solidFill>
          <a:ln w="1905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01</a:t>
            </a:r>
          </a:p>
        </p:txBody>
      </p:sp>
      <p:sp>
        <p:nvSpPr>
          <p:cNvPr id="8" name="TextBox 7"/>
          <p:cNvSpPr txBox="1"/>
          <p:nvPr/>
        </p:nvSpPr>
        <p:spPr>
          <a:xfrm>
            <a:off x="576072" y="3401568"/>
            <a:ext cx="1417320" cy="658368"/>
          </a:xfrm>
          <a:prstGeom prst="rect">
            <a:avLst/>
          </a:prstGeom>
          <a:noFill/>
        </p:spPr>
        <p:txBody>
          <a:bodyPr wrap="square">
            <a:spAutoFit/>
          </a:bodyPr>
          <a:lstStyle/>
          <a:p>
            <a:pPr algn="ctr">
              <a:defRPr sz="1500" b="1">
                <a:solidFill>
                  <a:srgbClr val="222A35"/>
                </a:solidFill>
                <a:latin typeface="Aptos"/>
              </a:defRPr>
            </a:pPr>
            <a:r>
              <a:t>Problem</a:t>
            </a:r>
            <a:br/>
            <a:r>
              <a:t>Definition</a:t>
            </a:r>
          </a:p>
        </p:txBody>
      </p:sp>
      <p:sp>
        <p:nvSpPr>
          <p:cNvPr id="9" name="TextBox 8"/>
          <p:cNvSpPr txBox="1"/>
          <p:nvPr/>
        </p:nvSpPr>
        <p:spPr>
          <a:xfrm>
            <a:off x="457200" y="4133087"/>
            <a:ext cx="1664208" cy="914400"/>
          </a:xfrm>
          <a:prstGeom prst="rect">
            <a:avLst/>
          </a:prstGeom>
          <a:noFill/>
        </p:spPr>
        <p:txBody>
          <a:bodyPr wrap="square">
            <a:spAutoFit/>
          </a:bodyPr>
          <a:lstStyle/>
          <a:p>
            <a:pPr algn="ctr">
              <a:defRPr sz="1050">
                <a:solidFill>
                  <a:srgbClr val="67707C"/>
                </a:solidFill>
                <a:latin typeface="Aptos"/>
              </a:defRPr>
            </a:pPr>
            <a:r>
              <a:t>Long-horizon specialist</a:t>
            </a:r>
            <a:br/>
            <a:r>
              <a:t>vs. generalist</a:t>
            </a:r>
          </a:p>
        </p:txBody>
      </p:sp>
      <p:sp>
        <p:nvSpPr>
          <p:cNvPr id="10" name="Oval 9"/>
          <p:cNvSpPr/>
          <p:nvPr/>
        </p:nvSpPr>
        <p:spPr>
          <a:xfrm>
            <a:off x="3154680" y="2578608"/>
            <a:ext cx="640080" cy="640080"/>
          </a:xfrm>
          <a:prstGeom prst="ellipse">
            <a:avLst/>
          </a:prstGeom>
          <a:solidFill>
            <a:srgbClr val="FFFFFF"/>
          </a:solidFill>
          <a:ln w="1905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84C7A"/>
                </a:solidFill>
                <a:latin typeface="Aptos"/>
              </a:defRPr>
            </a:pPr>
            <a:r>
              <a:t>02</a:t>
            </a:r>
          </a:p>
        </p:txBody>
      </p:sp>
      <p:sp>
        <p:nvSpPr>
          <p:cNvPr id="11" name="TextBox 10"/>
          <p:cNvSpPr txBox="1"/>
          <p:nvPr/>
        </p:nvSpPr>
        <p:spPr>
          <a:xfrm>
            <a:off x="2770632" y="3401568"/>
            <a:ext cx="1417320" cy="658368"/>
          </a:xfrm>
          <a:prstGeom prst="rect">
            <a:avLst/>
          </a:prstGeom>
          <a:noFill/>
        </p:spPr>
        <p:txBody>
          <a:bodyPr wrap="square">
            <a:spAutoFit/>
          </a:bodyPr>
          <a:lstStyle/>
          <a:p>
            <a:pPr algn="ctr">
              <a:defRPr sz="1500" b="1">
                <a:solidFill>
                  <a:srgbClr val="222A35"/>
                </a:solidFill>
                <a:latin typeface="Aptos"/>
              </a:defRPr>
            </a:pPr>
            <a:r>
              <a:t>Benchmark</a:t>
            </a:r>
            <a:br/>
            <a:r>
              <a:t>Selection</a:t>
            </a:r>
          </a:p>
        </p:txBody>
      </p:sp>
      <p:sp>
        <p:nvSpPr>
          <p:cNvPr id="12" name="TextBox 11"/>
          <p:cNvSpPr txBox="1"/>
          <p:nvPr/>
        </p:nvSpPr>
        <p:spPr>
          <a:xfrm>
            <a:off x="2651760" y="4133087"/>
            <a:ext cx="1664208" cy="914400"/>
          </a:xfrm>
          <a:prstGeom prst="rect">
            <a:avLst/>
          </a:prstGeom>
          <a:noFill/>
        </p:spPr>
        <p:txBody>
          <a:bodyPr wrap="square">
            <a:spAutoFit/>
          </a:bodyPr>
          <a:lstStyle/>
          <a:p>
            <a:pPr algn="ctr">
              <a:defRPr sz="1050">
                <a:solidFill>
                  <a:srgbClr val="67707C"/>
                </a:solidFill>
                <a:latin typeface="Aptos"/>
              </a:defRPr>
            </a:pPr>
            <a:r>
              <a:t>Choose benchmarks that</a:t>
            </a:r>
            <a:br/>
            <a:r>
              <a:t>expose the target capability</a:t>
            </a:r>
          </a:p>
        </p:txBody>
      </p:sp>
      <p:sp>
        <p:nvSpPr>
          <p:cNvPr id="13" name="Oval 12"/>
          <p:cNvSpPr/>
          <p:nvPr/>
        </p:nvSpPr>
        <p:spPr>
          <a:xfrm>
            <a:off x="5349240" y="2578608"/>
            <a:ext cx="640080" cy="640080"/>
          </a:xfrm>
          <a:prstGeom prst="ellipse">
            <a:avLst/>
          </a:prstGeom>
          <a:solidFill>
            <a:srgbClr val="FFFFFF"/>
          </a:solidFill>
          <a:ln w="1905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84C7A"/>
                </a:solidFill>
                <a:latin typeface="Aptos"/>
              </a:defRPr>
            </a:pPr>
            <a:r>
              <a:t>03</a:t>
            </a:r>
          </a:p>
        </p:txBody>
      </p:sp>
      <p:sp>
        <p:nvSpPr>
          <p:cNvPr id="14" name="TextBox 13"/>
          <p:cNvSpPr txBox="1"/>
          <p:nvPr/>
        </p:nvSpPr>
        <p:spPr>
          <a:xfrm>
            <a:off x="4965192" y="3401568"/>
            <a:ext cx="1417320" cy="658368"/>
          </a:xfrm>
          <a:prstGeom prst="rect">
            <a:avLst/>
          </a:prstGeom>
          <a:noFill/>
        </p:spPr>
        <p:txBody>
          <a:bodyPr wrap="square">
            <a:spAutoFit/>
          </a:bodyPr>
          <a:lstStyle/>
          <a:p>
            <a:pPr algn="ctr">
              <a:defRPr sz="1500" b="1">
                <a:solidFill>
                  <a:srgbClr val="222A35"/>
                </a:solidFill>
                <a:latin typeface="Aptos"/>
              </a:defRPr>
            </a:pPr>
            <a:r>
              <a:t>Baseline &amp;</a:t>
            </a:r>
            <a:br/>
            <a:r>
              <a:t>Limitation Analysis</a:t>
            </a:r>
          </a:p>
        </p:txBody>
      </p:sp>
      <p:sp>
        <p:nvSpPr>
          <p:cNvPr id="15" name="TextBox 14"/>
          <p:cNvSpPr txBox="1"/>
          <p:nvPr/>
        </p:nvSpPr>
        <p:spPr>
          <a:xfrm>
            <a:off x="4846320" y="4133087"/>
            <a:ext cx="1664208" cy="914400"/>
          </a:xfrm>
          <a:prstGeom prst="rect">
            <a:avLst/>
          </a:prstGeom>
          <a:noFill/>
        </p:spPr>
        <p:txBody>
          <a:bodyPr wrap="square">
            <a:spAutoFit/>
          </a:bodyPr>
          <a:lstStyle/>
          <a:p>
            <a:pPr algn="ctr">
              <a:defRPr sz="1050">
                <a:solidFill>
                  <a:srgbClr val="67707C"/>
                </a:solidFill>
                <a:latin typeface="Aptos"/>
              </a:defRPr>
            </a:pPr>
            <a:r>
              <a:t>Run prior models and</a:t>
            </a:r>
            <a:br/>
            <a:r>
              <a:t>identify failure modes</a:t>
            </a:r>
          </a:p>
        </p:txBody>
      </p:sp>
      <p:sp>
        <p:nvSpPr>
          <p:cNvPr id="16" name="Oval 15"/>
          <p:cNvSpPr/>
          <p:nvPr/>
        </p:nvSpPr>
        <p:spPr>
          <a:xfrm>
            <a:off x="7543800" y="2578608"/>
            <a:ext cx="640080" cy="640080"/>
          </a:xfrm>
          <a:prstGeom prst="ellipse">
            <a:avLst/>
          </a:prstGeom>
          <a:solidFill>
            <a:srgbClr val="FFFFFF"/>
          </a:solidFill>
          <a:ln w="1905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84C7A"/>
                </a:solidFill>
                <a:latin typeface="Aptos"/>
              </a:defRPr>
            </a:pPr>
            <a:r>
              <a:t>04</a:t>
            </a:r>
          </a:p>
        </p:txBody>
      </p:sp>
      <p:sp>
        <p:nvSpPr>
          <p:cNvPr id="17" name="TextBox 16"/>
          <p:cNvSpPr txBox="1"/>
          <p:nvPr/>
        </p:nvSpPr>
        <p:spPr>
          <a:xfrm>
            <a:off x="7159752" y="3401568"/>
            <a:ext cx="1417320" cy="658368"/>
          </a:xfrm>
          <a:prstGeom prst="rect">
            <a:avLst/>
          </a:prstGeom>
          <a:noFill/>
        </p:spPr>
        <p:txBody>
          <a:bodyPr wrap="square">
            <a:spAutoFit/>
          </a:bodyPr>
          <a:lstStyle/>
          <a:p>
            <a:pPr algn="ctr">
              <a:defRPr sz="1500" b="1">
                <a:solidFill>
                  <a:srgbClr val="222A35"/>
                </a:solidFill>
                <a:latin typeface="Aptos"/>
              </a:defRPr>
            </a:pPr>
            <a:r>
              <a:t>New Model</a:t>
            </a:r>
            <a:br/>
            <a:r>
              <a:t>&amp; SOTA</a:t>
            </a:r>
          </a:p>
        </p:txBody>
      </p:sp>
      <p:sp>
        <p:nvSpPr>
          <p:cNvPr id="18" name="TextBox 17"/>
          <p:cNvSpPr txBox="1"/>
          <p:nvPr/>
        </p:nvSpPr>
        <p:spPr>
          <a:xfrm>
            <a:off x="7040880" y="4133087"/>
            <a:ext cx="1664208" cy="914400"/>
          </a:xfrm>
          <a:prstGeom prst="rect">
            <a:avLst/>
          </a:prstGeom>
          <a:noFill/>
        </p:spPr>
        <p:txBody>
          <a:bodyPr wrap="square">
            <a:spAutoFit/>
          </a:bodyPr>
          <a:lstStyle/>
          <a:p>
            <a:pPr algn="ctr">
              <a:defRPr sz="1050">
                <a:solidFill>
                  <a:srgbClr val="67707C"/>
                </a:solidFill>
                <a:latin typeface="Aptos"/>
              </a:defRPr>
            </a:pPr>
            <a:r>
              <a:t>Design from limitations</a:t>
            </a:r>
            <a:br/>
            <a:r>
              <a:t>and push performance</a:t>
            </a:r>
          </a:p>
        </p:txBody>
      </p:sp>
      <p:sp>
        <p:nvSpPr>
          <p:cNvPr id="19" name="Oval 18"/>
          <p:cNvSpPr/>
          <p:nvPr/>
        </p:nvSpPr>
        <p:spPr>
          <a:xfrm>
            <a:off x="9738360" y="2578608"/>
            <a:ext cx="640080" cy="640080"/>
          </a:xfrm>
          <a:prstGeom prst="ellipse">
            <a:avLst/>
          </a:prstGeom>
          <a:solidFill>
            <a:srgbClr val="FFFFFF"/>
          </a:solidFill>
          <a:ln w="1905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84C7A"/>
                </a:solidFill>
                <a:latin typeface="Aptos"/>
              </a:defRPr>
            </a:pPr>
            <a:r>
              <a:t>05</a:t>
            </a:r>
          </a:p>
        </p:txBody>
      </p:sp>
      <p:sp>
        <p:nvSpPr>
          <p:cNvPr id="20" name="TextBox 19"/>
          <p:cNvSpPr txBox="1"/>
          <p:nvPr/>
        </p:nvSpPr>
        <p:spPr>
          <a:xfrm>
            <a:off x="9354312" y="3401568"/>
            <a:ext cx="1417320" cy="658368"/>
          </a:xfrm>
          <a:prstGeom prst="rect">
            <a:avLst/>
          </a:prstGeom>
          <a:noFill/>
        </p:spPr>
        <p:txBody>
          <a:bodyPr wrap="square">
            <a:spAutoFit/>
          </a:bodyPr>
          <a:lstStyle/>
          <a:p>
            <a:pPr algn="ctr">
              <a:defRPr sz="1500" b="1">
                <a:solidFill>
                  <a:srgbClr val="222A35"/>
                </a:solidFill>
                <a:latin typeface="Aptos"/>
              </a:defRPr>
            </a:pPr>
            <a:r>
              <a:t>Real-World</a:t>
            </a:r>
            <a:br/>
            <a:r>
              <a:t>Deployment</a:t>
            </a:r>
          </a:p>
        </p:txBody>
      </p:sp>
      <p:sp>
        <p:nvSpPr>
          <p:cNvPr id="21" name="TextBox 20"/>
          <p:cNvSpPr txBox="1"/>
          <p:nvPr/>
        </p:nvSpPr>
        <p:spPr>
          <a:xfrm>
            <a:off x="9235440" y="4133087"/>
            <a:ext cx="1664208" cy="914400"/>
          </a:xfrm>
          <a:prstGeom prst="rect">
            <a:avLst/>
          </a:prstGeom>
          <a:noFill/>
        </p:spPr>
        <p:txBody>
          <a:bodyPr wrap="square">
            <a:spAutoFit/>
          </a:bodyPr>
          <a:lstStyle/>
          <a:p>
            <a:pPr algn="ctr">
              <a:defRPr sz="1050">
                <a:solidFill>
                  <a:srgbClr val="67707C"/>
                </a:solidFill>
                <a:latin typeface="Aptos"/>
              </a:defRPr>
            </a:pPr>
            <a:r>
              <a:t>Validate the final system</a:t>
            </a:r>
            <a:br/>
            <a:r>
              <a:t>on a real robot</a:t>
            </a:r>
          </a:p>
        </p:txBody>
      </p:sp>
      <p:sp>
        <p:nvSpPr>
          <p:cNvPr id="22" name="Rounded Rectangle 21"/>
          <p:cNvSpPr/>
          <p:nvPr/>
        </p:nvSpPr>
        <p:spPr>
          <a:xfrm>
            <a:off x="868680" y="5257800"/>
            <a:ext cx="10378440" cy="749808"/>
          </a:xfrm>
          <a:prstGeom prst="roundRect">
            <a:avLst/>
          </a:prstGeom>
          <a:solidFill>
            <a:srgbClr val="EEF2F7"/>
          </a:solidFill>
          <a:ln w="12700">
            <a:solidFill>
              <a:srgbClr val="DDE2E9"/>
            </a:solidFill>
          </a:ln>
        </p:spPr>
        <p:style>
          <a:lnRef idx="1">
            <a:schemeClr val="accent1"/>
          </a:lnRef>
          <a:fillRef idx="3">
            <a:schemeClr val="accent1"/>
          </a:fillRef>
          <a:effectRef idx="2">
            <a:schemeClr val="accent1"/>
          </a:effectRef>
          <a:fontRef idx="minor">
            <a:schemeClr val="lt1"/>
          </a:fontRef>
        </p:style>
        <p:txBody>
          <a:bodyPr lIns="228600" rIns="228600" rtlCol="0" anchor="ctr"/>
          <a:lstStyle/>
          <a:p>
            <a:pPr algn="ctr">
              <a:defRPr sz="1500" b="1">
                <a:solidFill>
                  <a:srgbClr val="284C7A"/>
                </a:solidFill>
                <a:latin typeface="Aptos"/>
              </a:defRPr>
            </a:pPr>
            <a:r>
              <a:t>Key decision now  →  Long-horizon specialized model or broadly stronger generalist?</a:t>
            </a:r>
          </a:p>
        </p:txBody>
      </p:sp>
      <p:sp>
        <p:nvSpPr>
          <p:cNvPr id="23" name="TextBox 22"/>
          <p:cNvSpPr txBox="1"/>
          <p:nvPr/>
        </p:nvSpPr>
        <p:spPr>
          <a:xfrm>
            <a:off x="10789920" y="6291072"/>
            <a:ext cx="457200" cy="228600"/>
          </a:xfrm>
          <a:prstGeom prst="rect">
            <a:avLst/>
          </a:prstGeom>
          <a:noFill/>
        </p:spPr>
        <p:txBody>
          <a:bodyPr wrap="none">
            <a:spAutoFit/>
          </a:bodyPr>
          <a:lstStyle/>
          <a:p>
            <a:pPr algn="r">
              <a:defRPr sz="1100">
                <a:solidFill>
                  <a:srgbClr val="969CA5"/>
                </a:solidFill>
                <a:latin typeface="Aptos"/>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75488"/>
            <a:ext cx="4389120" cy="256032"/>
          </a:xfrm>
          <a:prstGeom prst="rect">
            <a:avLst/>
          </a:prstGeom>
          <a:noFill/>
        </p:spPr>
        <p:txBody>
          <a:bodyPr wrap="none">
            <a:spAutoFit/>
          </a:bodyPr>
          <a:lstStyle/>
          <a:p>
            <a:pPr>
              <a:defRPr sz="1150" b="1">
                <a:solidFill>
                  <a:srgbClr val="536070"/>
                </a:solidFill>
                <a:latin typeface="Aptos"/>
              </a:defRPr>
            </a:pPr>
            <a:r>
              <a:t>PRIOR WORK · ROBOTICS AGENT</a:t>
            </a:r>
          </a:p>
        </p:txBody>
      </p:sp>
      <p:sp>
        <p:nvSpPr>
          <p:cNvPr id="4" name="TextBox 3"/>
          <p:cNvSpPr txBox="1"/>
          <p:nvPr/>
        </p:nvSpPr>
        <p:spPr>
          <a:xfrm>
            <a:off x="804672" y="804672"/>
            <a:ext cx="5669280" cy="502920"/>
          </a:xfrm>
          <a:prstGeom prst="rect">
            <a:avLst/>
          </a:prstGeom>
          <a:noFill/>
        </p:spPr>
        <p:txBody>
          <a:bodyPr wrap="none">
            <a:spAutoFit/>
          </a:bodyPr>
          <a:lstStyle/>
          <a:p>
            <a:pPr>
              <a:defRPr sz="2700" b="1">
                <a:solidFill>
                  <a:srgbClr val="1C232D"/>
                </a:solidFill>
                <a:latin typeface="Aptos Display"/>
              </a:defRPr>
            </a:pPr>
            <a:r>
              <a:t>CaP-X: Code as Policy</a:t>
            </a:r>
          </a:p>
        </p:txBody>
      </p:sp>
      <p:sp>
        <p:nvSpPr>
          <p:cNvPr id="5" name="Rounded Rectangle 4"/>
          <p:cNvSpPr/>
          <p:nvPr/>
        </p:nvSpPr>
        <p:spPr>
          <a:xfrm>
            <a:off x="804672" y="1508760"/>
            <a:ext cx="3794760" cy="1417320"/>
          </a:xfrm>
          <a:prstGeom prst="roundRect">
            <a:avLst/>
          </a:prstGeom>
          <a:solidFill>
            <a:srgbClr val="EEF2F7"/>
          </a:solidFill>
          <a:ln>
            <a:solidFill>
              <a:srgbClr val="DDE2E9"/>
            </a:solidFill>
          </a:ln>
        </p:spPr>
        <p:style>
          <a:lnRef idx="1">
            <a:schemeClr val="accent1"/>
          </a:lnRef>
          <a:fillRef idx="3">
            <a:schemeClr val="accent1"/>
          </a:fillRef>
          <a:effectRef idx="2">
            <a:schemeClr val="accent1"/>
          </a:effectRef>
          <a:fontRef idx="minor">
            <a:schemeClr val="lt1"/>
          </a:fontRef>
        </p:style>
        <p:txBody>
          <a:bodyPr lIns="228600" tIns="155448" rIns="201168" rtlCol="0" anchor="ctr"/>
          <a:lstStyle/>
          <a:p>
            <a:pPr algn="ctr">
              <a:defRPr sz="1300" b="1">
                <a:solidFill>
                  <a:srgbClr val="284C7A"/>
                </a:solidFill>
                <a:latin typeface="Aptos"/>
              </a:defRPr>
            </a:pPr>
            <a:r>
              <a:t>Core Idea</a:t>
            </a:r>
          </a:p>
          <a:p>
            <a:pPr>
              <a:spcBef>
                <a:spcPts val="700"/>
              </a:spcBef>
              <a:defRPr sz="1500" b="1">
                <a:solidFill>
                  <a:srgbClr val="222A35"/>
                </a:solidFill>
                <a:latin typeface="Aptos"/>
              </a:defRPr>
            </a:pPr>
            <a:r>
              <a:t>Task  →  Generate Code  →  Execute in Environment</a:t>
            </a:r>
          </a:p>
          <a:p>
            <a:pPr>
              <a:spcBef>
                <a:spcPts val="500"/>
              </a:spcBef>
              <a:defRPr sz="1150">
                <a:solidFill>
                  <a:srgbClr val="5C6672"/>
                </a:solidFill>
                <a:latin typeface="Aptos"/>
              </a:defRPr>
            </a:pPr>
            <a:r>
              <a:t>The generated program itself acts as the robot policy.</a:t>
            </a:r>
          </a:p>
        </p:txBody>
      </p:sp>
      <p:sp>
        <p:nvSpPr>
          <p:cNvPr id="6" name="TextBox 5"/>
          <p:cNvSpPr txBox="1"/>
          <p:nvPr/>
        </p:nvSpPr>
        <p:spPr>
          <a:xfrm>
            <a:off x="841248" y="3218688"/>
            <a:ext cx="3703320" cy="411480"/>
          </a:xfrm>
          <a:prstGeom prst="rect">
            <a:avLst/>
          </a:prstGeom>
          <a:noFill/>
        </p:spPr>
        <p:txBody>
          <a:bodyPr wrap="none">
            <a:spAutoFit/>
          </a:bodyPr>
          <a:lstStyle/>
          <a:p>
            <a:pPr>
              <a:defRPr sz="1600" b="1">
                <a:solidFill>
                  <a:srgbClr val="222A35"/>
                </a:solidFill>
                <a:latin typeface="Aptos"/>
              </a:defRPr>
            </a:pPr>
            <a:r>
              <a:t>Policy = Composition of Primitive Functions</a:t>
            </a:r>
          </a:p>
        </p:txBody>
      </p:sp>
      <p:sp>
        <p:nvSpPr>
          <p:cNvPr id="7" name="Rounded Rectangle 6"/>
          <p:cNvSpPr/>
          <p:nvPr/>
        </p:nvSpPr>
        <p:spPr>
          <a:xfrm>
            <a:off x="841248" y="3767328"/>
            <a:ext cx="1600200" cy="1234440"/>
          </a:xfrm>
          <a:prstGeom prst="roundRect">
            <a:avLst/>
          </a:prstGeom>
          <a:solidFill>
            <a:srgbClr val="F0F6FA"/>
          </a:solidFill>
          <a:ln>
            <a:solidFill>
              <a:srgbClr val="CC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84C7A"/>
                </a:solidFill>
                <a:latin typeface="Aptos"/>
              </a:defRPr>
            </a:pPr>
            <a:r>
              <a:t>Low-Level</a:t>
            </a:r>
          </a:p>
          <a:p>
            <a:pPr algn="ctr">
              <a:defRPr sz="1050">
                <a:solidFill>
                  <a:srgbClr val="536070"/>
                </a:solidFill>
                <a:latin typeface="Aptos"/>
              </a:defRPr>
            </a:pPr>
            <a:r>
              <a:t>segmentation</a:t>
            </a:r>
            <a:br/>
            <a:r>
              <a:t>motion / perception</a:t>
            </a:r>
            <a:br/>
            <a:r>
              <a:t>basic robot functions</a:t>
            </a:r>
          </a:p>
        </p:txBody>
      </p:sp>
      <p:sp>
        <p:nvSpPr>
          <p:cNvPr id="8" name="Rounded Rectangle 7"/>
          <p:cNvSpPr/>
          <p:nvPr/>
        </p:nvSpPr>
        <p:spPr>
          <a:xfrm>
            <a:off x="2852928" y="3767328"/>
            <a:ext cx="1600200" cy="1234440"/>
          </a:xfrm>
          <a:prstGeom prst="roundRect">
            <a:avLst/>
          </a:prstGeom>
          <a:solidFill>
            <a:srgbClr val="F2F4FA"/>
          </a:solidFill>
          <a:ln>
            <a:solidFill>
              <a:srgbClr val="D3D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48487D"/>
                </a:solidFill>
                <a:latin typeface="Aptos"/>
              </a:defRPr>
            </a:pPr>
            <a:r>
              <a:t>High-Level</a:t>
            </a:r>
          </a:p>
          <a:p>
            <a:pPr algn="ctr">
              <a:defRPr sz="1000">
                <a:solidFill>
                  <a:srgbClr val="536070"/>
                </a:solidFill>
                <a:latin typeface="Aptos"/>
              </a:defRPr>
            </a:pPr>
            <a:r>
              <a:t>e.g. sample_grasp_pose()</a:t>
            </a:r>
            <a:br/>
            <a:r>
              <a:t>composition of multiple</a:t>
            </a:r>
            <a:br/>
            <a:r>
              <a:t>low-level functions</a:t>
            </a:r>
          </a:p>
        </p:txBody>
      </p:sp>
      <p:sp>
        <p:nvSpPr>
          <p:cNvPr id="9" name="Rounded Rectangle 8"/>
          <p:cNvSpPr/>
          <p:nvPr/>
        </p:nvSpPr>
        <p:spPr>
          <a:xfrm>
            <a:off x="841248" y="5257800"/>
            <a:ext cx="3611880" cy="658368"/>
          </a:xfrm>
          <a:prstGeom prst="roundRect">
            <a:avLst/>
          </a:prstGeom>
          <a:solidFill>
            <a:srgbClr val="F9F4EB"/>
          </a:solidFill>
          <a:ln>
            <a:solidFill>
              <a:srgbClr val="E8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70512F"/>
                </a:solidFill>
                <a:latin typeface="Aptos"/>
              </a:defRPr>
            </a:pPr>
            <a:r>
              <a:t>Design choice: Which primitives should the agent be given?</a:t>
            </a:r>
          </a:p>
        </p:txBody>
      </p:sp>
      <p:pic>
        <p:nvPicPr>
          <p:cNvPr id="10" name="Picture 9" descr="905bc1c2-59dd-4241-b77e-06b512fd9c70.png"/>
          <p:cNvPicPr>
            <a:picLocks noChangeAspect="1"/>
          </p:cNvPicPr>
          <p:nvPr/>
        </p:nvPicPr>
        <p:blipFill>
          <a:blip r:embed="rId2"/>
          <a:stretch>
            <a:fillRect/>
          </a:stretch>
        </p:blipFill>
        <p:spPr>
          <a:xfrm>
            <a:off x="4892040" y="1990789"/>
            <a:ext cx="6629400" cy="3507357"/>
          </a:xfrm>
          <a:prstGeom prst="rect">
            <a:avLst/>
          </a:prstGeom>
        </p:spPr>
      </p:pic>
      <p:sp>
        <p:nvSpPr>
          <p:cNvPr id="11" name="TextBox 10"/>
          <p:cNvSpPr txBox="1"/>
          <p:nvPr/>
        </p:nvSpPr>
        <p:spPr>
          <a:xfrm>
            <a:off x="4983480" y="5925312"/>
            <a:ext cx="6400800" cy="274320"/>
          </a:xfrm>
          <a:prstGeom prst="rect">
            <a:avLst/>
          </a:prstGeom>
          <a:noFill/>
        </p:spPr>
        <p:txBody>
          <a:bodyPr wrap="none">
            <a:spAutoFit/>
          </a:bodyPr>
          <a:lstStyle/>
          <a:p>
            <a:pPr algn="ctr">
              <a:defRPr sz="950" i="1">
                <a:solidFill>
                  <a:srgbClr val="707882"/>
                </a:solidFill>
                <a:latin typeface="Aptos"/>
              </a:defRPr>
            </a:pPr>
            <a:r>
              <a:t>Example: a high-level grasp primitive internally expands into perception and grasp-planning primitives.</a:t>
            </a:r>
          </a:p>
        </p:txBody>
      </p:sp>
      <p:sp>
        <p:nvSpPr>
          <p:cNvPr id="12" name="TextBox 11"/>
          <p:cNvSpPr txBox="1"/>
          <p:nvPr/>
        </p:nvSpPr>
        <p:spPr>
          <a:xfrm>
            <a:off x="10789920" y="6355080"/>
            <a:ext cx="457200" cy="228600"/>
          </a:xfrm>
          <a:prstGeom prst="rect">
            <a:avLst/>
          </a:prstGeom>
          <a:noFill/>
        </p:spPr>
        <p:txBody>
          <a:bodyPr wrap="none">
            <a:spAutoFit/>
          </a:bodyPr>
          <a:lstStyle/>
          <a:p>
            <a:pPr algn="r">
              <a:defRPr sz="1100">
                <a:solidFill>
                  <a:srgbClr val="969CA5"/>
                </a:solidFill>
                <a:latin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38912"/>
            <a:ext cx="5029200" cy="274320"/>
          </a:xfrm>
          <a:prstGeom prst="rect">
            <a:avLst/>
          </a:prstGeom>
          <a:noFill/>
        </p:spPr>
        <p:txBody>
          <a:bodyPr wrap="none">
            <a:spAutoFit/>
          </a:bodyPr>
          <a:lstStyle/>
          <a:p>
            <a:pPr>
              <a:defRPr sz="1150" b="1">
                <a:solidFill>
                  <a:srgbClr val="536070"/>
                </a:solidFill>
                <a:latin typeface="Aptos"/>
              </a:defRPr>
            </a:pPr>
            <a:r>
              <a:t>PRIOR WORK · CaP-X</a:t>
            </a:r>
          </a:p>
        </p:txBody>
      </p:sp>
      <p:sp>
        <p:nvSpPr>
          <p:cNvPr id="4" name="TextBox 3"/>
          <p:cNvSpPr txBox="1"/>
          <p:nvPr/>
        </p:nvSpPr>
        <p:spPr>
          <a:xfrm>
            <a:off x="804672" y="768096"/>
            <a:ext cx="7315200" cy="502920"/>
          </a:xfrm>
          <a:prstGeom prst="rect">
            <a:avLst/>
          </a:prstGeom>
          <a:noFill/>
        </p:spPr>
        <p:txBody>
          <a:bodyPr wrap="none">
            <a:spAutoFit/>
          </a:bodyPr>
          <a:lstStyle/>
          <a:p>
            <a:pPr>
              <a:defRPr sz="2500" b="1">
                <a:solidFill>
                  <a:srgbClr val="1C232D"/>
                </a:solidFill>
                <a:latin typeface="Aptos Display"/>
              </a:defRPr>
            </a:pPr>
            <a:r>
              <a:t>CaP-Agent0: Iterative Code Generation &amp; Reflection</a:t>
            </a:r>
          </a:p>
        </p:txBody>
      </p:sp>
      <p:sp>
        <p:nvSpPr>
          <p:cNvPr id="5" name="Oval 4"/>
          <p:cNvSpPr/>
          <p:nvPr/>
        </p:nvSpPr>
        <p:spPr>
          <a:xfrm>
            <a:off x="841248" y="1618488"/>
            <a:ext cx="438912" cy="438912"/>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01</a:t>
            </a:r>
          </a:p>
        </p:txBody>
      </p:sp>
      <p:sp>
        <p:nvSpPr>
          <p:cNvPr id="6" name="TextBox 5"/>
          <p:cNvSpPr txBox="1"/>
          <p:nvPr/>
        </p:nvSpPr>
        <p:spPr>
          <a:xfrm>
            <a:off x="1417320" y="1572768"/>
            <a:ext cx="3337560" cy="292608"/>
          </a:xfrm>
          <a:prstGeom prst="rect">
            <a:avLst/>
          </a:prstGeom>
          <a:noFill/>
        </p:spPr>
        <p:txBody>
          <a:bodyPr wrap="none">
            <a:spAutoFit/>
          </a:bodyPr>
          <a:lstStyle/>
          <a:p>
            <a:pPr>
              <a:defRPr sz="1500" b="1">
                <a:solidFill>
                  <a:srgbClr val="222A35"/>
                </a:solidFill>
                <a:latin typeface="Aptos"/>
              </a:defRPr>
            </a:pPr>
            <a:r>
              <a:t>Generate</a:t>
            </a:r>
          </a:p>
        </p:txBody>
      </p:sp>
      <p:sp>
        <p:nvSpPr>
          <p:cNvPr id="7" name="TextBox 6"/>
          <p:cNvSpPr txBox="1"/>
          <p:nvPr/>
        </p:nvSpPr>
        <p:spPr>
          <a:xfrm>
            <a:off x="1417320" y="1901952"/>
            <a:ext cx="3337560" cy="685800"/>
          </a:xfrm>
          <a:prstGeom prst="rect">
            <a:avLst/>
          </a:prstGeom>
          <a:noFill/>
        </p:spPr>
        <p:txBody>
          <a:bodyPr wrap="square">
            <a:spAutoFit/>
          </a:bodyPr>
          <a:lstStyle/>
          <a:p>
            <a:pPr>
              <a:defRPr sz="1050">
                <a:solidFill>
                  <a:srgbClr val="5B6673"/>
                </a:solidFill>
                <a:latin typeface="Aptos"/>
              </a:defRPr>
            </a:pPr>
            <a:r>
              <a:t>Task description + API / skill documentation</a:t>
            </a:r>
            <a:br/>
            <a:r>
              <a:t>→ Coding agents generate a Python policy</a:t>
            </a:r>
          </a:p>
        </p:txBody>
      </p:sp>
      <p:sp>
        <p:nvSpPr>
          <p:cNvPr id="8" name="Rectangle 7"/>
          <p:cNvSpPr/>
          <p:nvPr/>
        </p:nvSpPr>
        <p:spPr>
          <a:xfrm>
            <a:off x="1042415" y="2103120"/>
            <a:ext cx="22860" cy="694944"/>
          </a:xfrm>
          <a:prstGeom prst="rect">
            <a:avLst/>
          </a:prstGeom>
          <a:solidFill>
            <a:srgbClr val="C7D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1248" y="2834639"/>
            <a:ext cx="438912" cy="438912"/>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02</a:t>
            </a:r>
          </a:p>
        </p:txBody>
      </p:sp>
      <p:sp>
        <p:nvSpPr>
          <p:cNvPr id="10" name="TextBox 9"/>
          <p:cNvSpPr txBox="1"/>
          <p:nvPr/>
        </p:nvSpPr>
        <p:spPr>
          <a:xfrm>
            <a:off x="1417320" y="2788920"/>
            <a:ext cx="3337560" cy="292608"/>
          </a:xfrm>
          <a:prstGeom prst="rect">
            <a:avLst/>
          </a:prstGeom>
          <a:noFill/>
        </p:spPr>
        <p:txBody>
          <a:bodyPr wrap="none">
            <a:spAutoFit/>
          </a:bodyPr>
          <a:lstStyle/>
          <a:p>
            <a:pPr>
              <a:defRPr sz="1500" b="1">
                <a:solidFill>
                  <a:srgbClr val="222A35"/>
                </a:solidFill>
                <a:latin typeface="Aptos"/>
              </a:defRPr>
            </a:pPr>
            <a:r>
              <a:t>Execute</a:t>
            </a:r>
          </a:p>
        </p:txBody>
      </p:sp>
      <p:sp>
        <p:nvSpPr>
          <p:cNvPr id="11" name="TextBox 10"/>
          <p:cNvSpPr txBox="1"/>
          <p:nvPr/>
        </p:nvSpPr>
        <p:spPr>
          <a:xfrm>
            <a:off x="1417320" y="3118103"/>
            <a:ext cx="3337560" cy="685800"/>
          </a:xfrm>
          <a:prstGeom prst="rect">
            <a:avLst/>
          </a:prstGeom>
          <a:noFill/>
        </p:spPr>
        <p:txBody>
          <a:bodyPr wrap="square">
            <a:spAutoFit/>
          </a:bodyPr>
          <a:lstStyle/>
          <a:p>
            <a:pPr>
              <a:defRPr sz="1050">
                <a:solidFill>
                  <a:srgbClr val="5B6673"/>
                </a:solidFill>
                <a:latin typeface="Aptos"/>
              </a:defRPr>
            </a:pPr>
            <a:r>
              <a:t>Run the generated Python code in the environment</a:t>
            </a:r>
            <a:br/>
            <a:r>
              <a:t>→ One program attempts the entire episode</a:t>
            </a:r>
          </a:p>
        </p:txBody>
      </p:sp>
      <p:sp>
        <p:nvSpPr>
          <p:cNvPr id="12" name="Rectangle 11"/>
          <p:cNvSpPr/>
          <p:nvPr/>
        </p:nvSpPr>
        <p:spPr>
          <a:xfrm>
            <a:off x="1042415" y="3319272"/>
            <a:ext cx="22860" cy="694944"/>
          </a:xfrm>
          <a:prstGeom prst="rect">
            <a:avLst/>
          </a:prstGeom>
          <a:solidFill>
            <a:srgbClr val="C7D0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8" y="4050791"/>
            <a:ext cx="438912" cy="438912"/>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03</a:t>
            </a:r>
          </a:p>
        </p:txBody>
      </p:sp>
      <p:sp>
        <p:nvSpPr>
          <p:cNvPr id="14" name="TextBox 13"/>
          <p:cNvSpPr txBox="1"/>
          <p:nvPr/>
        </p:nvSpPr>
        <p:spPr>
          <a:xfrm>
            <a:off x="1417320" y="4005072"/>
            <a:ext cx="3337560" cy="292608"/>
          </a:xfrm>
          <a:prstGeom prst="rect">
            <a:avLst/>
          </a:prstGeom>
          <a:noFill/>
        </p:spPr>
        <p:txBody>
          <a:bodyPr wrap="none">
            <a:spAutoFit/>
          </a:bodyPr>
          <a:lstStyle/>
          <a:p>
            <a:pPr>
              <a:defRPr sz="1500" b="1">
                <a:solidFill>
                  <a:srgbClr val="222A35"/>
                </a:solidFill>
                <a:latin typeface="Aptos"/>
              </a:defRPr>
            </a:pPr>
            <a:r>
              <a:t>Reflect &amp; Retry</a:t>
            </a:r>
          </a:p>
        </p:txBody>
      </p:sp>
      <p:sp>
        <p:nvSpPr>
          <p:cNvPr id="15" name="TextBox 14"/>
          <p:cNvSpPr txBox="1"/>
          <p:nvPr/>
        </p:nvSpPr>
        <p:spPr>
          <a:xfrm>
            <a:off x="1417320" y="4334256"/>
            <a:ext cx="3337560" cy="685800"/>
          </a:xfrm>
          <a:prstGeom prst="rect">
            <a:avLst/>
          </a:prstGeom>
          <a:noFill/>
        </p:spPr>
        <p:txBody>
          <a:bodyPr wrap="square">
            <a:spAutoFit/>
          </a:bodyPr>
          <a:lstStyle/>
          <a:p>
            <a:pPr>
              <a:defRPr sz="1050">
                <a:solidFill>
                  <a:srgbClr val="5B6673"/>
                </a:solidFill>
                <a:latin typeface="Aptos"/>
              </a:defRPr>
            </a:pPr>
            <a:r>
              <a:t>If failed, feed execution feedback back to the agent</a:t>
            </a:r>
            <a:br/>
            <a:r>
              <a:t>→ Generate a new program and retry the task</a:t>
            </a:r>
          </a:p>
        </p:txBody>
      </p:sp>
      <p:sp>
        <p:nvSpPr>
          <p:cNvPr id="16" name="Rounded Rectangle 15"/>
          <p:cNvSpPr/>
          <p:nvPr/>
        </p:nvSpPr>
        <p:spPr>
          <a:xfrm>
            <a:off x="841248" y="5257800"/>
            <a:ext cx="3886200" cy="841248"/>
          </a:xfrm>
          <a:prstGeom prst="roundRect">
            <a:avLst/>
          </a:prstGeom>
          <a:solidFill>
            <a:srgbClr val="EEF2F7"/>
          </a:solidFill>
          <a:ln>
            <a:solidFill>
              <a:srgbClr val="DAE0E7"/>
            </a:solid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150" b="1">
                <a:solidFill>
                  <a:srgbClr val="284C7A"/>
                </a:solidFill>
                <a:latin typeface="Aptos"/>
              </a:defRPr>
            </a:pPr>
            <a:r>
              <a:t>Failure feedback  =  stdout / stderr  +  Visual Difference Model</a:t>
            </a:r>
          </a:p>
          <a:p>
            <a:pPr algn="ctr">
              <a:defRPr sz="950">
                <a:solidFill>
                  <a:srgbClr val="5B6673"/>
                </a:solidFill>
                <a:latin typeface="Aptos"/>
              </a:defRPr>
            </a:pPr>
            <a:r>
              <a:t>VLM compares images before vs. after the episode and describes what changed.</a:t>
            </a:r>
          </a:p>
        </p:txBody>
      </p:sp>
      <p:pic>
        <p:nvPicPr>
          <p:cNvPr id="17" name="Picture 16" descr="ef860218-2d9a-4169-bb6d-ae5345e341c8.png"/>
          <p:cNvPicPr>
            <a:picLocks noChangeAspect="1"/>
          </p:cNvPicPr>
          <p:nvPr/>
        </p:nvPicPr>
        <p:blipFill>
          <a:blip r:embed="rId2"/>
          <a:stretch>
            <a:fillRect/>
          </a:stretch>
        </p:blipFill>
        <p:spPr>
          <a:xfrm>
            <a:off x="4983480" y="1955776"/>
            <a:ext cx="6720840" cy="3604814"/>
          </a:xfrm>
          <a:prstGeom prst="rect">
            <a:avLst/>
          </a:prstGeom>
        </p:spPr>
      </p:pic>
      <p:sp>
        <p:nvSpPr>
          <p:cNvPr id="18" name="TextBox 17"/>
          <p:cNvSpPr txBox="1"/>
          <p:nvPr/>
        </p:nvSpPr>
        <p:spPr>
          <a:xfrm>
            <a:off x="10789920" y="6355080"/>
            <a:ext cx="457200" cy="228600"/>
          </a:xfrm>
          <a:prstGeom prst="rect">
            <a:avLst/>
          </a:prstGeom>
          <a:noFill/>
        </p:spPr>
        <p:txBody>
          <a:bodyPr wrap="none">
            <a:spAutoFit/>
          </a:bodyPr>
          <a:lstStyle/>
          <a:p>
            <a:pPr algn="r">
              <a:defRPr sz="1100">
                <a:solidFill>
                  <a:srgbClr val="969CA5"/>
                </a:solidFill>
                <a:latin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11480"/>
            <a:ext cx="4572000" cy="274320"/>
          </a:xfrm>
          <a:prstGeom prst="rect">
            <a:avLst/>
          </a:prstGeom>
          <a:noFill/>
        </p:spPr>
        <p:txBody>
          <a:bodyPr wrap="none">
            <a:spAutoFit/>
          </a:bodyPr>
          <a:lstStyle/>
          <a:p>
            <a:pPr>
              <a:defRPr sz="1150" b="1">
                <a:solidFill>
                  <a:srgbClr val="536070"/>
                </a:solidFill>
                <a:latin typeface="Aptos"/>
              </a:defRPr>
            </a:pPr>
            <a:r>
              <a:t>PRIOR WORK · CaP-X</a:t>
            </a:r>
          </a:p>
        </p:txBody>
      </p:sp>
      <p:sp>
        <p:nvSpPr>
          <p:cNvPr id="4" name="TextBox 3"/>
          <p:cNvSpPr txBox="1"/>
          <p:nvPr/>
        </p:nvSpPr>
        <p:spPr>
          <a:xfrm>
            <a:off x="804672" y="749808"/>
            <a:ext cx="7315200" cy="502920"/>
          </a:xfrm>
          <a:prstGeom prst="rect">
            <a:avLst/>
          </a:prstGeom>
          <a:noFill/>
        </p:spPr>
        <p:txBody>
          <a:bodyPr wrap="none">
            <a:spAutoFit/>
          </a:bodyPr>
          <a:lstStyle/>
          <a:p>
            <a:pPr>
              <a:defRPr sz="2600" b="1">
                <a:solidFill>
                  <a:srgbClr val="1C232D"/>
                </a:solidFill>
                <a:latin typeface="Aptos Display"/>
              </a:defRPr>
            </a:pPr>
            <a:r>
              <a:t>CaP-Agent0: Experimental Results</a:t>
            </a:r>
          </a:p>
        </p:txBody>
      </p:sp>
      <p:sp>
        <p:nvSpPr>
          <p:cNvPr id="5" name="TextBox 4"/>
          <p:cNvSpPr txBox="1"/>
          <p:nvPr/>
        </p:nvSpPr>
        <p:spPr>
          <a:xfrm>
            <a:off x="822960" y="1234440"/>
            <a:ext cx="9875520" cy="310896"/>
          </a:xfrm>
          <a:prstGeom prst="rect">
            <a:avLst/>
          </a:prstGeom>
          <a:noFill/>
        </p:spPr>
        <p:txBody>
          <a:bodyPr wrap="none">
            <a:spAutoFit/>
          </a:bodyPr>
          <a:lstStyle/>
          <a:p>
            <a:pPr>
              <a:defRPr sz="1250">
                <a:solidFill>
                  <a:srgbClr val="626C78"/>
                </a:solidFill>
                <a:latin typeface="Aptos"/>
              </a:defRPr>
            </a:pPr>
            <a:r>
              <a:t>Agentic feedback improves performance — and CaP-Agent0 is competitive with / stronger than VLA baselines.</a:t>
            </a:r>
          </a:p>
        </p:txBody>
      </p:sp>
      <p:sp>
        <p:nvSpPr>
          <p:cNvPr id="6" name="Oval 5"/>
          <p:cNvSpPr/>
          <p:nvPr/>
        </p:nvSpPr>
        <p:spPr>
          <a:xfrm>
            <a:off x="804672" y="1764792"/>
            <a:ext cx="384048" cy="38404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01</a:t>
            </a:r>
          </a:p>
        </p:txBody>
      </p:sp>
      <p:sp>
        <p:nvSpPr>
          <p:cNvPr id="7" name="TextBox 6"/>
          <p:cNvSpPr txBox="1"/>
          <p:nvPr/>
        </p:nvSpPr>
        <p:spPr>
          <a:xfrm>
            <a:off x="1307592" y="1755648"/>
            <a:ext cx="4389120" cy="365760"/>
          </a:xfrm>
          <a:prstGeom prst="rect">
            <a:avLst/>
          </a:prstGeom>
          <a:noFill/>
        </p:spPr>
        <p:txBody>
          <a:bodyPr wrap="none">
            <a:spAutoFit/>
          </a:bodyPr>
          <a:lstStyle/>
          <a:p>
            <a:pPr>
              <a:defRPr sz="1600" b="1">
                <a:solidFill>
                  <a:srgbClr val="222A35"/>
                </a:solidFill>
                <a:latin typeface="Aptos"/>
              </a:defRPr>
            </a:pPr>
            <a:r>
              <a:t>Ablation Study</a:t>
            </a:r>
          </a:p>
        </p:txBody>
      </p:sp>
      <p:sp>
        <p:nvSpPr>
          <p:cNvPr id="8" name="Oval 7"/>
          <p:cNvSpPr/>
          <p:nvPr/>
        </p:nvSpPr>
        <p:spPr>
          <a:xfrm>
            <a:off x="6172200" y="1764792"/>
            <a:ext cx="384048" cy="38404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02</a:t>
            </a:r>
          </a:p>
        </p:txBody>
      </p:sp>
      <p:sp>
        <p:nvSpPr>
          <p:cNvPr id="9" name="TextBox 8"/>
          <p:cNvSpPr txBox="1"/>
          <p:nvPr/>
        </p:nvSpPr>
        <p:spPr>
          <a:xfrm>
            <a:off x="6675120" y="1755648"/>
            <a:ext cx="4389120" cy="365760"/>
          </a:xfrm>
          <a:prstGeom prst="rect">
            <a:avLst/>
          </a:prstGeom>
          <a:noFill/>
        </p:spPr>
        <p:txBody>
          <a:bodyPr wrap="none">
            <a:spAutoFit/>
          </a:bodyPr>
          <a:lstStyle/>
          <a:p>
            <a:pPr>
              <a:defRPr sz="1600" b="1">
                <a:solidFill>
                  <a:srgbClr val="222A35"/>
                </a:solidFill>
                <a:latin typeface="Aptos"/>
              </a:defRPr>
            </a:pPr>
            <a:r>
              <a:t>Comparison with VLA Baselines</a:t>
            </a:r>
          </a:p>
        </p:txBody>
      </p:sp>
      <p:sp>
        <p:nvSpPr>
          <p:cNvPr id="10" name="Rounded Rectangle 9"/>
          <p:cNvSpPr/>
          <p:nvPr/>
        </p:nvSpPr>
        <p:spPr>
          <a:xfrm>
            <a:off x="749808" y="2240280"/>
            <a:ext cx="5074920" cy="3246120"/>
          </a:xfrm>
          <a:prstGeom prst="roundRect">
            <a:avLst/>
          </a:prstGeom>
          <a:solidFill>
            <a:srgbClr val="FFFFFF"/>
          </a:solidFill>
          <a:ln>
            <a:solidFill>
              <a:srgbClr val="DD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ab397297-c7d1-4e1a-9041-76edf842e054.png"/>
          <p:cNvPicPr>
            <a:picLocks noChangeAspect="1"/>
          </p:cNvPicPr>
          <p:nvPr/>
        </p:nvPicPr>
        <p:blipFill>
          <a:blip r:embed="rId2"/>
          <a:stretch>
            <a:fillRect/>
          </a:stretch>
        </p:blipFill>
        <p:spPr>
          <a:xfrm>
            <a:off x="932688" y="2877542"/>
            <a:ext cx="4709160" cy="1807003"/>
          </a:xfrm>
          <a:prstGeom prst="rect">
            <a:avLst/>
          </a:prstGeom>
        </p:spPr>
      </p:pic>
      <p:sp>
        <p:nvSpPr>
          <p:cNvPr id="12" name="Rounded Rectangle 11"/>
          <p:cNvSpPr/>
          <p:nvPr/>
        </p:nvSpPr>
        <p:spPr>
          <a:xfrm>
            <a:off x="6108192" y="2240280"/>
            <a:ext cx="5321808" cy="3246120"/>
          </a:xfrm>
          <a:prstGeom prst="roundRect">
            <a:avLst/>
          </a:prstGeom>
          <a:solidFill>
            <a:srgbClr val="FFFFFF"/>
          </a:solidFill>
          <a:ln>
            <a:solidFill>
              <a:srgbClr val="DD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7e127b14-309a-4287-b77a-c3a98f1af9b7.png"/>
          <p:cNvPicPr>
            <a:picLocks noChangeAspect="1"/>
          </p:cNvPicPr>
          <p:nvPr/>
        </p:nvPicPr>
        <p:blipFill>
          <a:blip r:embed="rId3"/>
          <a:stretch>
            <a:fillRect/>
          </a:stretch>
        </p:blipFill>
        <p:spPr>
          <a:xfrm>
            <a:off x="6523194" y="2432304"/>
            <a:ext cx="4491803" cy="2697480"/>
          </a:xfrm>
          <a:prstGeom prst="rect">
            <a:avLst/>
          </a:prstGeom>
        </p:spPr>
      </p:pic>
      <p:sp>
        <p:nvSpPr>
          <p:cNvPr id="14" name="Rounded Rectangle 13"/>
          <p:cNvSpPr/>
          <p:nvPr/>
        </p:nvSpPr>
        <p:spPr>
          <a:xfrm>
            <a:off x="841248" y="5641848"/>
            <a:ext cx="4892040" cy="5943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80" b="1">
                <a:solidFill>
                  <a:srgbClr val="284C7A"/>
                </a:solidFill>
                <a:latin typeface="Aptos"/>
              </a:defRPr>
            </a:pPr>
            <a:r>
              <a:t>Adding richer feedback + multi-turn refinement consistently improves success.</a:t>
            </a:r>
          </a:p>
        </p:txBody>
      </p:sp>
      <p:sp>
        <p:nvSpPr>
          <p:cNvPr id="15" name="Rounded Rectangle 14"/>
          <p:cNvSpPr/>
          <p:nvPr/>
        </p:nvSpPr>
        <p:spPr>
          <a:xfrm>
            <a:off x="6199632" y="5641848"/>
            <a:ext cx="5138928" cy="594360"/>
          </a:xfrm>
          <a:prstGeom prst="roundRect">
            <a:avLst/>
          </a:prstGeom>
          <a:solidFill>
            <a:srgbClr val="EE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60" b="1">
                <a:solidFill>
                  <a:srgbClr val="284C7A"/>
                </a:solidFill>
                <a:latin typeface="Aptos"/>
              </a:defRPr>
            </a:pPr>
            <a:r>
              <a:t>CaP-Agent0 outperforms VLA baselines on most LIBERO-PRO perturbation settings.</a:t>
            </a:r>
          </a:p>
        </p:txBody>
      </p:sp>
      <p:sp>
        <p:nvSpPr>
          <p:cNvPr id="16" name="TextBox 15"/>
          <p:cNvSpPr txBox="1"/>
          <p:nvPr/>
        </p:nvSpPr>
        <p:spPr>
          <a:xfrm>
            <a:off x="10789920" y="6355080"/>
            <a:ext cx="457200" cy="228600"/>
          </a:xfrm>
          <a:prstGeom prst="rect">
            <a:avLst/>
          </a:prstGeom>
          <a:noFill/>
        </p:spPr>
        <p:txBody>
          <a:bodyPr wrap="none">
            <a:spAutoFit/>
          </a:bodyPr>
          <a:lstStyle/>
          <a:p>
            <a:pPr algn="r">
              <a:defRPr sz="1100">
                <a:solidFill>
                  <a:srgbClr val="969CA5"/>
                </a:solidFill>
                <a:latin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84048"/>
            <a:ext cx="4572000" cy="256032"/>
          </a:xfrm>
          <a:prstGeom prst="rect">
            <a:avLst/>
          </a:prstGeom>
          <a:noFill/>
        </p:spPr>
        <p:txBody>
          <a:bodyPr wrap="none">
            <a:spAutoFit/>
          </a:bodyPr>
          <a:lstStyle/>
          <a:p>
            <a:pPr>
              <a:defRPr sz="1100" b="1">
                <a:solidFill>
                  <a:srgbClr val="536070"/>
                </a:solidFill>
                <a:latin typeface="Aptos"/>
              </a:defRPr>
            </a:pPr>
            <a:r>
              <a:t>PRIOR WORK · ROBOTICS AGENT</a:t>
            </a:r>
          </a:p>
        </p:txBody>
      </p:sp>
      <p:sp>
        <p:nvSpPr>
          <p:cNvPr id="4" name="TextBox 3"/>
          <p:cNvSpPr txBox="1"/>
          <p:nvPr/>
        </p:nvSpPr>
        <p:spPr>
          <a:xfrm>
            <a:off x="676656" y="713232"/>
            <a:ext cx="7315200" cy="475488"/>
          </a:xfrm>
          <a:prstGeom prst="rect">
            <a:avLst/>
          </a:prstGeom>
          <a:noFill/>
        </p:spPr>
        <p:txBody>
          <a:bodyPr wrap="none">
            <a:spAutoFit/>
          </a:bodyPr>
          <a:lstStyle/>
          <a:p>
            <a:pPr>
              <a:defRPr sz="2500" b="1">
                <a:solidFill>
                  <a:srgbClr val="1C232D"/>
                </a:solidFill>
                <a:latin typeface="Aptos Display"/>
              </a:defRPr>
            </a:pPr>
            <a:r>
              <a:t>VoLo-Agent: VLM-Orchestrated Robot Control</a:t>
            </a:r>
          </a:p>
        </p:txBody>
      </p:sp>
      <p:sp>
        <p:nvSpPr>
          <p:cNvPr id="5" name="Rectangle 4"/>
          <p:cNvSpPr/>
          <p:nvPr/>
        </p:nvSpPr>
        <p:spPr>
          <a:xfrm>
            <a:off x="4315968" y="1353312"/>
            <a:ext cx="10972" cy="4983480"/>
          </a:xfrm>
          <a:prstGeom prst="rect">
            <a:avLst/>
          </a:prstGeom>
          <a:solidFill>
            <a:srgbClr val="E0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3232" y="1435608"/>
            <a:ext cx="384048" cy="38404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01</a:t>
            </a:r>
          </a:p>
        </p:txBody>
      </p:sp>
      <p:sp>
        <p:nvSpPr>
          <p:cNvPr id="7" name="TextBox 6"/>
          <p:cNvSpPr txBox="1"/>
          <p:nvPr/>
        </p:nvSpPr>
        <p:spPr>
          <a:xfrm>
            <a:off x="1234440" y="1417320"/>
            <a:ext cx="2788920" cy="256032"/>
          </a:xfrm>
          <a:prstGeom prst="rect">
            <a:avLst/>
          </a:prstGeom>
          <a:noFill/>
        </p:spPr>
        <p:txBody>
          <a:bodyPr wrap="none">
            <a:spAutoFit/>
          </a:bodyPr>
          <a:lstStyle/>
          <a:p>
            <a:pPr>
              <a:defRPr sz="1400" b="1">
                <a:solidFill>
                  <a:srgbClr val="1C232D"/>
                </a:solidFill>
                <a:latin typeface="Aptos"/>
              </a:defRPr>
            </a:pPr>
            <a:r>
              <a:t>Plan</a:t>
            </a:r>
          </a:p>
        </p:txBody>
      </p:sp>
      <p:sp>
        <p:nvSpPr>
          <p:cNvPr id="8" name="TextBox 7"/>
          <p:cNvSpPr txBox="1"/>
          <p:nvPr/>
        </p:nvSpPr>
        <p:spPr>
          <a:xfrm>
            <a:off x="1234440" y="1709928"/>
            <a:ext cx="2788920" cy="585216"/>
          </a:xfrm>
          <a:prstGeom prst="rect">
            <a:avLst/>
          </a:prstGeom>
          <a:noFill/>
        </p:spPr>
        <p:txBody>
          <a:bodyPr wrap="square">
            <a:spAutoFit/>
          </a:bodyPr>
          <a:lstStyle/>
          <a:p>
            <a:pPr>
              <a:defRPr sz="950">
                <a:solidFill>
                  <a:srgbClr val="5C6774"/>
                </a:solidFill>
                <a:latin typeface="Aptos"/>
              </a:defRPr>
            </a:pPr>
            <a:r>
              <a:t>Planner VLM decomposes the task into an ordered list of subtasks.</a:t>
            </a:r>
          </a:p>
        </p:txBody>
      </p:sp>
      <p:sp>
        <p:nvSpPr>
          <p:cNvPr id="9" name="Oval 8"/>
          <p:cNvSpPr/>
          <p:nvPr/>
        </p:nvSpPr>
        <p:spPr>
          <a:xfrm>
            <a:off x="713232" y="2459736"/>
            <a:ext cx="384048" cy="38404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02</a:t>
            </a:r>
          </a:p>
        </p:txBody>
      </p:sp>
      <p:sp>
        <p:nvSpPr>
          <p:cNvPr id="10" name="TextBox 9"/>
          <p:cNvSpPr txBox="1"/>
          <p:nvPr/>
        </p:nvSpPr>
        <p:spPr>
          <a:xfrm>
            <a:off x="1234440" y="2441448"/>
            <a:ext cx="2788920" cy="256032"/>
          </a:xfrm>
          <a:prstGeom prst="rect">
            <a:avLst/>
          </a:prstGeom>
          <a:noFill/>
        </p:spPr>
        <p:txBody>
          <a:bodyPr wrap="none">
            <a:spAutoFit/>
          </a:bodyPr>
          <a:lstStyle/>
          <a:p>
            <a:pPr>
              <a:defRPr sz="1400" b="1">
                <a:solidFill>
                  <a:srgbClr val="1C232D"/>
                </a:solidFill>
                <a:latin typeface="Aptos"/>
              </a:defRPr>
            </a:pPr>
            <a:r>
              <a:t>Execute</a:t>
            </a:r>
          </a:p>
        </p:txBody>
      </p:sp>
      <p:sp>
        <p:nvSpPr>
          <p:cNvPr id="11" name="TextBox 10"/>
          <p:cNvSpPr txBox="1"/>
          <p:nvPr/>
        </p:nvSpPr>
        <p:spPr>
          <a:xfrm>
            <a:off x="1234440" y="2734056"/>
            <a:ext cx="2788920" cy="585216"/>
          </a:xfrm>
          <a:prstGeom prst="rect">
            <a:avLst/>
          </a:prstGeom>
          <a:noFill/>
        </p:spPr>
        <p:txBody>
          <a:bodyPr wrap="square">
            <a:spAutoFit/>
          </a:bodyPr>
          <a:lstStyle/>
          <a:p>
            <a:pPr>
              <a:defRPr sz="950">
                <a:solidFill>
                  <a:srgbClr val="5C6774"/>
                </a:solidFill>
                <a:latin typeface="Aptos"/>
              </a:defRPr>
            </a:pPr>
            <a:r>
              <a:t>Current subtask is executed with VLA by default; classical control is available as fallback.</a:t>
            </a:r>
          </a:p>
        </p:txBody>
      </p:sp>
      <p:sp>
        <p:nvSpPr>
          <p:cNvPr id="12" name="Oval 11"/>
          <p:cNvSpPr/>
          <p:nvPr/>
        </p:nvSpPr>
        <p:spPr>
          <a:xfrm>
            <a:off x="713232" y="3483864"/>
            <a:ext cx="384048" cy="38404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03</a:t>
            </a:r>
          </a:p>
        </p:txBody>
      </p:sp>
      <p:sp>
        <p:nvSpPr>
          <p:cNvPr id="13" name="TextBox 12"/>
          <p:cNvSpPr txBox="1"/>
          <p:nvPr/>
        </p:nvSpPr>
        <p:spPr>
          <a:xfrm>
            <a:off x="1234440" y="3465576"/>
            <a:ext cx="2788920" cy="256032"/>
          </a:xfrm>
          <a:prstGeom prst="rect">
            <a:avLst/>
          </a:prstGeom>
          <a:noFill/>
        </p:spPr>
        <p:txBody>
          <a:bodyPr wrap="none">
            <a:spAutoFit/>
          </a:bodyPr>
          <a:lstStyle/>
          <a:p>
            <a:pPr>
              <a:defRPr sz="1400" b="1">
                <a:solidFill>
                  <a:srgbClr val="1C232D"/>
                </a:solidFill>
                <a:latin typeface="Aptos"/>
              </a:defRPr>
            </a:pPr>
            <a:r>
              <a:t>Monitor</a:t>
            </a:r>
          </a:p>
        </p:txBody>
      </p:sp>
      <p:sp>
        <p:nvSpPr>
          <p:cNvPr id="14" name="TextBox 13"/>
          <p:cNvSpPr txBox="1"/>
          <p:nvPr/>
        </p:nvSpPr>
        <p:spPr>
          <a:xfrm>
            <a:off x="1234440" y="3758184"/>
            <a:ext cx="2788920" cy="585216"/>
          </a:xfrm>
          <a:prstGeom prst="rect">
            <a:avLst/>
          </a:prstGeom>
          <a:noFill/>
        </p:spPr>
        <p:txBody>
          <a:bodyPr wrap="square">
            <a:spAutoFit/>
          </a:bodyPr>
          <a:lstStyle/>
          <a:p>
            <a:pPr>
              <a:defRPr sz="950">
                <a:solidFill>
                  <a:srgbClr val="5C6774"/>
                </a:solidFill>
                <a:latin typeface="Aptos"/>
              </a:defRPr>
            </a:pPr>
            <a:r>
              <a:t>Every ~10 VLA steps, the same Planner VLM outputs Continue / Done / Error.</a:t>
            </a:r>
          </a:p>
        </p:txBody>
      </p:sp>
      <p:sp>
        <p:nvSpPr>
          <p:cNvPr id="15" name="Rounded Rectangle 14"/>
          <p:cNvSpPr/>
          <p:nvPr/>
        </p:nvSpPr>
        <p:spPr>
          <a:xfrm>
            <a:off x="713232" y="4599432"/>
            <a:ext cx="3310128" cy="1051560"/>
          </a:xfrm>
          <a:prstGeom prst="roundRect">
            <a:avLst/>
          </a:prstGeom>
          <a:solidFill>
            <a:srgbClr val="F9F4EB"/>
          </a:solidFill>
          <a:ln>
            <a:solidFill>
              <a:srgbClr val="E8DCC5"/>
            </a:solidFill>
          </a:ln>
        </p:spPr>
        <p:style>
          <a:lnRef idx="1">
            <a:schemeClr val="accent1"/>
          </a:lnRef>
          <a:fillRef idx="3">
            <a:schemeClr val="accent1"/>
          </a:fillRef>
          <a:effectRef idx="2">
            <a:schemeClr val="accent1"/>
          </a:effectRef>
          <a:fontRef idx="minor">
            <a:schemeClr val="lt1"/>
          </a:fontRef>
        </p:style>
        <p:txBody>
          <a:bodyPr lIns="146304" tIns="91440" rIns="146304" rtlCol="0" anchor="ctr"/>
          <a:lstStyle/>
          <a:p>
            <a:pPr algn="ctr">
              <a:defRPr sz="1150" b="1">
                <a:solidFill>
                  <a:srgbClr val="AE7325"/>
                </a:solidFill>
                <a:latin typeface="Aptos"/>
              </a:defRPr>
            </a:pPr>
            <a:r>
              <a:t>When ERROR is detected</a:t>
            </a:r>
          </a:p>
          <a:p>
            <a:pPr>
              <a:defRPr sz="930">
                <a:solidFill>
                  <a:srgbClr val="5C6774"/>
                </a:solidFill>
                <a:latin typeface="Aptos"/>
              </a:defRPr>
            </a:pPr>
            <a:r>
              <a:t>① Fall back to classical control</a:t>
            </a:r>
          </a:p>
          <a:p>
            <a:pPr>
              <a:defRPr sz="930">
                <a:solidFill>
                  <a:srgbClr val="5C6774"/>
                </a:solidFill>
                <a:latin typeface="Aptos"/>
              </a:defRPr>
            </a:pPr>
            <a:r>
              <a:t>② Re-plan → execute new first subtask</a:t>
            </a:r>
          </a:p>
        </p:txBody>
      </p:sp>
      <p:sp>
        <p:nvSpPr>
          <p:cNvPr id="16" name="Rounded Rectangle 15"/>
          <p:cNvSpPr/>
          <p:nvPr/>
        </p:nvSpPr>
        <p:spPr>
          <a:xfrm>
            <a:off x="4736592" y="1389888"/>
            <a:ext cx="1005840" cy="512064"/>
          </a:xfrm>
          <a:prstGeom prst="roundRect">
            <a:avLst/>
          </a:prstGeom>
          <a:solidFill>
            <a:srgbClr val="EEF2F7"/>
          </a:solidFill>
          <a:ln w="1397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C232D"/>
                </a:solidFill>
                <a:latin typeface="Aptos"/>
              </a:defRPr>
            </a:pPr>
            <a:r>
              <a:t>Task</a:t>
            </a:r>
          </a:p>
        </p:txBody>
      </p:sp>
      <p:cxnSp>
        <p:nvCxnSpPr>
          <p:cNvPr id="17" name="Connector 16"/>
          <p:cNvCxnSpPr/>
          <p:nvPr/>
        </p:nvCxnSpPr>
        <p:spPr>
          <a:xfrm>
            <a:off x="5742432" y="1645920"/>
            <a:ext cx="310896" cy="0"/>
          </a:xfrm>
          <a:prstGeom prst="line">
            <a:avLst/>
          </a:prstGeom>
          <a:ln w="17145">
            <a:solidFill>
              <a:srgbClr val="5B4CA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053328" y="1261872"/>
            <a:ext cx="2852928" cy="768096"/>
          </a:xfrm>
          <a:prstGeom prst="roundRect">
            <a:avLst/>
          </a:prstGeom>
          <a:solidFill>
            <a:srgbClr val="F2EFFC"/>
          </a:solidFill>
          <a:ln w="13970">
            <a:solidFill>
              <a:srgbClr val="5B4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B4CA0"/>
                </a:solidFill>
                <a:latin typeface="Aptos"/>
              </a:defRPr>
            </a:pPr>
            <a:r>
              <a:t>Planner VLM</a:t>
            </a:r>
          </a:p>
          <a:p>
            <a:pPr algn="ctr">
              <a:defRPr sz="800">
                <a:solidFill>
                  <a:srgbClr val="5C6774"/>
                </a:solidFill>
                <a:latin typeface="Aptos"/>
              </a:defRPr>
            </a:pPr>
            <a:r>
              <a:t>Planning + Monitoring + Re-planning</a:t>
            </a:r>
          </a:p>
        </p:txBody>
      </p:sp>
      <p:cxnSp>
        <p:nvCxnSpPr>
          <p:cNvPr id="19" name="Connector 18"/>
          <p:cNvCxnSpPr/>
          <p:nvPr/>
        </p:nvCxnSpPr>
        <p:spPr>
          <a:xfrm>
            <a:off x="7479792" y="2029968"/>
            <a:ext cx="0" cy="237744"/>
          </a:xfrm>
          <a:prstGeom prst="line">
            <a:avLst/>
          </a:prstGeom>
          <a:ln w="17145">
            <a:solidFill>
              <a:srgbClr val="5B4CA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10912" y="2267712"/>
            <a:ext cx="4956048" cy="603504"/>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5C6774"/>
                </a:solidFill>
              </a:rPr>
              <a:t>[  </a:t>
            </a:r>
            <a:r>
              <a:rPr sz="1100" b="1">
                <a:solidFill>
                  <a:srgbClr val="5B4CA0"/>
                </a:solidFill>
              </a:rPr>
              <a:t>Subtask 1</a:t>
            </a:r>
            <a:r>
              <a:rPr sz="1000">
                <a:solidFill>
                  <a:srgbClr val="5C6774"/>
                </a:solidFill>
              </a:rPr>
              <a:t>  ,  Subtask 2  ,  Subtask 3  ,  ...  ]</a:t>
            </a:r>
          </a:p>
        </p:txBody>
      </p:sp>
      <p:cxnSp>
        <p:nvCxnSpPr>
          <p:cNvPr id="21" name="Connector 20"/>
          <p:cNvCxnSpPr/>
          <p:nvPr/>
        </p:nvCxnSpPr>
        <p:spPr>
          <a:xfrm>
            <a:off x="7479792" y="2871216"/>
            <a:ext cx="0" cy="219456"/>
          </a:xfrm>
          <a:prstGeom prst="line">
            <a:avLst/>
          </a:prstGeom>
          <a:ln w="17145">
            <a:solidFill>
              <a:srgbClr val="5B4CA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327648" y="3090672"/>
            <a:ext cx="2304288" cy="566928"/>
          </a:xfrm>
          <a:prstGeom prst="roundRect">
            <a:avLst/>
          </a:prstGeom>
          <a:solidFill>
            <a:srgbClr val="F2EFFC"/>
          </a:solidFill>
          <a:ln w="13970">
            <a:solidFill>
              <a:srgbClr val="5B4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5B4CA0"/>
                </a:solidFill>
                <a:latin typeface="Aptos"/>
              </a:defRPr>
            </a:pPr>
            <a:r>
              <a:t>Current Subtask: 1</a:t>
            </a:r>
          </a:p>
        </p:txBody>
      </p:sp>
      <p:cxnSp>
        <p:nvCxnSpPr>
          <p:cNvPr id="23" name="Connector 22"/>
          <p:cNvCxnSpPr/>
          <p:nvPr/>
        </p:nvCxnSpPr>
        <p:spPr>
          <a:xfrm flipH="1">
            <a:off x="5577840" y="3374136"/>
            <a:ext cx="749808" cy="0"/>
          </a:xfrm>
          <a:prstGeom prst="line">
            <a:avLst/>
          </a:prstGeom>
          <a:ln w="17145">
            <a:solidFill>
              <a:srgbClr val="284C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31936" y="3374136"/>
            <a:ext cx="832104" cy="0"/>
          </a:xfrm>
          <a:prstGeom prst="line">
            <a:avLst/>
          </a:prstGeom>
          <a:ln w="17145">
            <a:solidFill>
              <a:srgbClr val="AE7325"/>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736592" y="3090672"/>
            <a:ext cx="841248" cy="566928"/>
          </a:xfrm>
          <a:prstGeom prst="roundRect">
            <a:avLst/>
          </a:prstGeom>
          <a:solidFill>
            <a:srgbClr val="EFF6FA"/>
          </a:solidFill>
          <a:ln w="1397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84C7A"/>
                </a:solidFill>
                <a:latin typeface="Aptos"/>
              </a:defRPr>
            </a:pPr>
            <a:r>
              <a:t>VLA</a:t>
            </a:r>
          </a:p>
          <a:p>
            <a:pPr algn="ctr">
              <a:defRPr sz="800">
                <a:solidFill>
                  <a:srgbClr val="5C6774"/>
                </a:solidFill>
                <a:latin typeface="Aptos"/>
              </a:defRPr>
            </a:pPr>
            <a:r>
              <a:t>default</a:t>
            </a:r>
          </a:p>
        </p:txBody>
      </p:sp>
      <p:sp>
        <p:nvSpPr>
          <p:cNvPr id="26" name="Rounded Rectangle 25"/>
          <p:cNvSpPr/>
          <p:nvPr/>
        </p:nvSpPr>
        <p:spPr>
          <a:xfrm>
            <a:off x="9464040" y="3090672"/>
            <a:ext cx="1417320" cy="566928"/>
          </a:xfrm>
          <a:prstGeom prst="roundRect">
            <a:avLst/>
          </a:prstGeom>
          <a:solidFill>
            <a:srgbClr val="F9F4EB"/>
          </a:solidFill>
          <a:ln w="13970">
            <a:solidFill>
              <a:srgbClr val="AE732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AE7325"/>
                </a:solidFill>
                <a:latin typeface="Aptos"/>
              </a:defRPr>
            </a:pPr>
            <a:r>
              <a:t>Classical</a:t>
            </a:r>
          </a:p>
          <a:p>
            <a:pPr algn="ctr">
              <a:defRPr sz="800">
                <a:solidFill>
                  <a:srgbClr val="5C6774"/>
                </a:solidFill>
                <a:latin typeface="Aptos"/>
              </a:defRPr>
            </a:pPr>
            <a:r>
              <a:t>fallback</a:t>
            </a:r>
          </a:p>
        </p:txBody>
      </p:sp>
      <p:cxnSp>
        <p:nvCxnSpPr>
          <p:cNvPr id="27" name="Connector 26"/>
          <p:cNvCxnSpPr/>
          <p:nvPr/>
        </p:nvCxnSpPr>
        <p:spPr>
          <a:xfrm>
            <a:off x="7479792" y="3657600"/>
            <a:ext cx="0" cy="329184"/>
          </a:xfrm>
          <a:prstGeom prst="line">
            <a:avLst/>
          </a:prstGeom>
          <a:ln w="17145">
            <a:solidFill>
              <a:srgbClr val="5B4CA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053328" y="3986784"/>
            <a:ext cx="2852928" cy="658368"/>
          </a:xfrm>
          <a:prstGeom prst="roundRect">
            <a:avLst/>
          </a:prstGeom>
          <a:solidFill>
            <a:srgbClr val="F2EFFC"/>
          </a:solidFill>
          <a:ln w="13970">
            <a:solidFill>
              <a:srgbClr val="5B4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5B4CA0"/>
                </a:solidFill>
                <a:latin typeface="Aptos"/>
              </a:defRPr>
            </a:pPr>
            <a:r>
              <a:t>Planner VLM</a:t>
            </a:r>
          </a:p>
          <a:p>
            <a:pPr algn="ctr">
              <a:defRPr sz="800">
                <a:solidFill>
                  <a:srgbClr val="5C6774"/>
                </a:solidFill>
                <a:latin typeface="Aptos"/>
              </a:defRPr>
            </a:pPr>
            <a:r>
              <a:t>Monitor every ~10 VLA steps</a:t>
            </a:r>
          </a:p>
        </p:txBody>
      </p:sp>
      <p:cxnSp>
        <p:nvCxnSpPr>
          <p:cNvPr id="29" name="Connector 28"/>
          <p:cNvCxnSpPr/>
          <p:nvPr/>
        </p:nvCxnSpPr>
        <p:spPr>
          <a:xfrm>
            <a:off x="7479792" y="4645152"/>
            <a:ext cx="0" cy="237744"/>
          </a:xfrm>
          <a:prstGeom prst="line">
            <a:avLst/>
          </a:prstGeom>
          <a:ln w="17145">
            <a:solidFill>
              <a:srgbClr val="5B4CA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736592" y="4919472"/>
            <a:ext cx="1572768" cy="530352"/>
          </a:xfrm>
          <a:prstGeom prst="roundRect">
            <a:avLst/>
          </a:prstGeom>
          <a:solidFill>
            <a:srgbClr val="EDF7F1"/>
          </a:solidFill>
          <a:ln w="13970">
            <a:solidFill>
              <a:srgbClr val="377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77E5C"/>
                </a:solidFill>
                <a:latin typeface="Aptos"/>
              </a:defRPr>
            </a:pPr>
            <a:r>
              <a:t>CONTINUE</a:t>
            </a:r>
          </a:p>
          <a:p>
            <a:pPr algn="ctr">
              <a:defRPr sz="800">
                <a:solidFill>
                  <a:srgbClr val="5C6774"/>
                </a:solidFill>
                <a:latin typeface="Aptos"/>
              </a:defRPr>
            </a:pPr>
            <a:r>
              <a:t>keep Subtask 1</a:t>
            </a:r>
          </a:p>
        </p:txBody>
      </p:sp>
      <p:sp>
        <p:nvSpPr>
          <p:cNvPr id="31" name="Rounded Rectangle 30"/>
          <p:cNvSpPr/>
          <p:nvPr/>
        </p:nvSpPr>
        <p:spPr>
          <a:xfrm>
            <a:off x="6675120" y="4919472"/>
            <a:ext cx="1572768" cy="530352"/>
          </a:xfrm>
          <a:prstGeom prst="roundRect">
            <a:avLst/>
          </a:prstGeom>
          <a:solidFill>
            <a:srgbClr val="EEF2F7"/>
          </a:solidFill>
          <a:ln w="1397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84C7A"/>
                </a:solidFill>
                <a:latin typeface="Aptos"/>
              </a:defRPr>
            </a:pPr>
            <a:r>
              <a:t>DONE</a:t>
            </a:r>
          </a:p>
          <a:p>
            <a:pPr algn="ctr">
              <a:defRPr sz="800">
                <a:solidFill>
                  <a:srgbClr val="5C6774"/>
                </a:solidFill>
                <a:latin typeface="Aptos"/>
              </a:defRPr>
            </a:pPr>
            <a:r>
              <a:t>→ Subtask 2</a:t>
            </a:r>
          </a:p>
        </p:txBody>
      </p:sp>
      <p:sp>
        <p:nvSpPr>
          <p:cNvPr id="32" name="Rounded Rectangle 31"/>
          <p:cNvSpPr/>
          <p:nvPr/>
        </p:nvSpPr>
        <p:spPr>
          <a:xfrm>
            <a:off x="8613648" y="4919472"/>
            <a:ext cx="1572768" cy="530352"/>
          </a:xfrm>
          <a:prstGeom prst="roundRect">
            <a:avLst/>
          </a:prstGeom>
          <a:solidFill>
            <a:srgbClr val="F9EFEF"/>
          </a:solidFill>
          <a:ln w="13970">
            <a:solidFill>
              <a:srgbClr val="A4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A44848"/>
                </a:solidFill>
                <a:latin typeface="Aptos"/>
              </a:defRPr>
            </a:pPr>
            <a:r>
              <a:t>ERROR</a:t>
            </a:r>
          </a:p>
          <a:p>
            <a:pPr algn="ctr">
              <a:defRPr sz="800">
                <a:solidFill>
                  <a:srgbClr val="5C6774"/>
                </a:solidFill>
                <a:latin typeface="Aptos"/>
              </a:defRPr>
            </a:pPr>
            <a:r>
              <a:t>fallback / re-plan</a:t>
            </a:r>
          </a:p>
        </p:txBody>
      </p:sp>
      <p:cxnSp>
        <p:nvCxnSpPr>
          <p:cNvPr id="33" name="Connector 32"/>
          <p:cNvCxnSpPr/>
          <p:nvPr/>
        </p:nvCxnSpPr>
        <p:spPr>
          <a:xfrm flipH="1">
            <a:off x="5522976" y="4645152"/>
            <a:ext cx="1536192" cy="274320"/>
          </a:xfrm>
          <a:prstGeom prst="line">
            <a:avLst/>
          </a:prstGeom>
          <a:ln w="17145">
            <a:solidFill>
              <a:srgbClr val="377E5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461504" y="4645152"/>
            <a:ext cx="18288" cy="274320"/>
          </a:xfrm>
          <a:prstGeom prst="line">
            <a:avLst/>
          </a:prstGeom>
          <a:ln w="17145">
            <a:solidFill>
              <a:srgbClr val="284C7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900416" y="4645152"/>
            <a:ext cx="1499616" cy="274320"/>
          </a:xfrm>
          <a:prstGeom prst="line">
            <a:avLst/>
          </a:prstGeom>
          <a:ln w="17145">
            <a:solidFill>
              <a:srgbClr val="A44848"/>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892040" y="5742432"/>
            <a:ext cx="5669280" cy="530352"/>
          </a:xfrm>
          <a:prstGeom prst="roundRect">
            <a:avLst/>
          </a:prstGeom>
          <a:solidFill>
            <a:srgbClr val="F5F3FC"/>
          </a:solidFill>
          <a:ln>
            <a:solidFill>
              <a:srgbClr val="DCD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5B4CA0"/>
                </a:solidFill>
                <a:latin typeface="Aptos"/>
              </a:defRPr>
            </a:pPr>
            <a:r>
              <a:t>ERROR + Re-plan  →  [ New Subtask 1, New Subtask 2, ... ]  →  execute New Subtask 1</a:t>
            </a:r>
          </a:p>
        </p:txBody>
      </p:sp>
      <p:sp>
        <p:nvSpPr>
          <p:cNvPr id="37" name="TextBox 36"/>
          <p:cNvSpPr txBox="1"/>
          <p:nvPr/>
        </p:nvSpPr>
        <p:spPr>
          <a:xfrm>
            <a:off x="10835640" y="6473952"/>
            <a:ext cx="411480" cy="182880"/>
          </a:xfrm>
          <a:prstGeom prst="rect">
            <a:avLst/>
          </a:prstGeom>
          <a:noFill/>
        </p:spPr>
        <p:txBody>
          <a:bodyPr wrap="none">
            <a:spAutoFit/>
          </a:bodyPr>
          <a:lstStyle/>
          <a:p>
            <a:pPr algn="r">
              <a:defRPr sz="1000">
                <a:solidFill>
                  <a:srgbClr val="969CA5"/>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11480"/>
            <a:ext cx="4572000" cy="274320"/>
          </a:xfrm>
          <a:prstGeom prst="rect">
            <a:avLst/>
          </a:prstGeom>
          <a:noFill/>
        </p:spPr>
        <p:txBody>
          <a:bodyPr wrap="none">
            <a:spAutoFit/>
          </a:bodyPr>
          <a:lstStyle/>
          <a:p>
            <a:pPr>
              <a:defRPr sz="1150" b="1">
                <a:solidFill>
                  <a:srgbClr val="536070"/>
                </a:solidFill>
                <a:latin typeface="Aptos"/>
              </a:defRPr>
            </a:pPr>
            <a:r>
              <a:t>PRIOR WORK · VoLo-Agent</a:t>
            </a:r>
          </a:p>
        </p:txBody>
      </p:sp>
      <p:sp>
        <p:nvSpPr>
          <p:cNvPr id="4" name="TextBox 3"/>
          <p:cNvSpPr txBox="1"/>
          <p:nvPr/>
        </p:nvSpPr>
        <p:spPr>
          <a:xfrm>
            <a:off x="804672" y="749808"/>
            <a:ext cx="7315200" cy="502920"/>
          </a:xfrm>
          <a:prstGeom prst="rect">
            <a:avLst/>
          </a:prstGeom>
          <a:noFill/>
        </p:spPr>
        <p:txBody>
          <a:bodyPr wrap="none">
            <a:spAutoFit/>
          </a:bodyPr>
          <a:lstStyle/>
          <a:p>
            <a:pPr>
              <a:defRPr sz="2600" b="1">
                <a:solidFill>
                  <a:srgbClr val="1C232D"/>
                </a:solidFill>
                <a:latin typeface="Aptos Display"/>
              </a:defRPr>
            </a:pPr>
            <a:r>
              <a:t>VoLo-Agent: Experimental Results</a:t>
            </a:r>
          </a:p>
        </p:txBody>
      </p:sp>
      <p:sp>
        <p:nvSpPr>
          <p:cNvPr id="5" name="Rounded Rectangle 4"/>
          <p:cNvSpPr/>
          <p:nvPr/>
        </p:nvSpPr>
        <p:spPr>
          <a:xfrm>
            <a:off x="822960" y="1353312"/>
            <a:ext cx="10561320" cy="640080"/>
          </a:xfrm>
          <a:prstGeom prst="roundRect">
            <a:avLst/>
          </a:prstGeom>
          <a:solidFill>
            <a:srgbClr val="EEF2F7"/>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84C7A"/>
                </a:solidFill>
                <a:latin typeface="Aptos"/>
              </a:defRPr>
            </a:pPr>
            <a:r>
              <a:t>On their custom benchmark, VoLo-Agent substantially outperforms CaP-X.</a:t>
            </a:r>
          </a:p>
        </p:txBody>
      </p:sp>
      <p:sp>
        <p:nvSpPr>
          <p:cNvPr id="6" name="Rounded Rectangle 5"/>
          <p:cNvSpPr/>
          <p:nvPr/>
        </p:nvSpPr>
        <p:spPr>
          <a:xfrm>
            <a:off x="731520" y="2212848"/>
            <a:ext cx="10744200" cy="3977639"/>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65a8820-a952-4135-89cb-dd45894a5798.png"/>
          <p:cNvPicPr>
            <a:picLocks noChangeAspect="1"/>
          </p:cNvPicPr>
          <p:nvPr/>
        </p:nvPicPr>
        <p:blipFill>
          <a:blip r:embed="rId2"/>
          <a:stretch>
            <a:fillRect/>
          </a:stretch>
        </p:blipFill>
        <p:spPr>
          <a:xfrm>
            <a:off x="3096947" y="2395728"/>
            <a:ext cx="6013344" cy="3611880"/>
          </a:xfrm>
          <a:prstGeom prst="rect">
            <a:avLst/>
          </a:prstGeom>
        </p:spPr>
      </p:pic>
      <p:sp>
        <p:nvSpPr>
          <p:cNvPr id="8" name="TextBox 7"/>
          <p:cNvSpPr txBox="1"/>
          <p:nvPr/>
        </p:nvSpPr>
        <p:spPr>
          <a:xfrm>
            <a:off x="10789920" y="6382512"/>
            <a:ext cx="457200" cy="228600"/>
          </a:xfrm>
          <a:prstGeom prst="rect">
            <a:avLst/>
          </a:prstGeom>
          <a:noFill/>
        </p:spPr>
        <p:txBody>
          <a:bodyPr wrap="none">
            <a:spAutoFit/>
          </a:bodyPr>
          <a:lstStyle/>
          <a:p>
            <a:pPr algn="r">
              <a:defRPr sz="1100">
                <a:solidFill>
                  <a:srgbClr val="969CA5"/>
                </a:solidFill>
                <a:latin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438912"/>
            <a:ext cx="4572000" cy="274320"/>
          </a:xfrm>
          <a:prstGeom prst="rect">
            <a:avLst/>
          </a:prstGeom>
          <a:noFill/>
        </p:spPr>
        <p:txBody>
          <a:bodyPr wrap="none">
            <a:spAutoFit/>
          </a:bodyPr>
          <a:lstStyle/>
          <a:p>
            <a:pPr>
              <a:defRPr sz="1150" b="1">
                <a:solidFill>
                  <a:srgbClr val="536070"/>
                </a:solidFill>
                <a:latin typeface="Aptos"/>
              </a:defRPr>
            </a:pPr>
            <a:r>
              <a:t>PRIOR WORK · COMPARISON</a:t>
            </a:r>
          </a:p>
        </p:txBody>
      </p:sp>
      <p:sp>
        <p:nvSpPr>
          <p:cNvPr id="4" name="TextBox 3"/>
          <p:cNvSpPr txBox="1"/>
          <p:nvPr/>
        </p:nvSpPr>
        <p:spPr>
          <a:xfrm>
            <a:off x="804672" y="786384"/>
            <a:ext cx="7315200" cy="502920"/>
          </a:xfrm>
          <a:prstGeom prst="rect">
            <a:avLst/>
          </a:prstGeom>
          <a:noFill/>
        </p:spPr>
        <p:txBody>
          <a:bodyPr wrap="none">
            <a:spAutoFit/>
          </a:bodyPr>
          <a:lstStyle/>
          <a:p>
            <a:pPr>
              <a:defRPr sz="2700" b="1">
                <a:solidFill>
                  <a:srgbClr val="1C232D"/>
                </a:solidFill>
                <a:latin typeface="Aptos Display"/>
              </a:defRPr>
            </a:pPr>
            <a:r>
              <a:t>CaP-X vs. VoLo-Agent</a:t>
            </a:r>
          </a:p>
        </p:txBody>
      </p:sp>
      <p:sp>
        <p:nvSpPr>
          <p:cNvPr id="5" name="TextBox 4"/>
          <p:cNvSpPr txBox="1"/>
          <p:nvPr/>
        </p:nvSpPr>
        <p:spPr>
          <a:xfrm>
            <a:off x="822960" y="1261872"/>
            <a:ext cx="9144000" cy="320040"/>
          </a:xfrm>
          <a:prstGeom prst="rect">
            <a:avLst/>
          </a:prstGeom>
          <a:noFill/>
        </p:spPr>
        <p:txBody>
          <a:bodyPr wrap="none">
            <a:spAutoFit/>
          </a:bodyPr>
          <a:lstStyle/>
          <a:p>
            <a:pPr>
              <a:defRPr sz="1250">
                <a:solidFill>
                  <a:srgbClr val="5C6774"/>
                </a:solidFill>
                <a:latin typeface="Aptos"/>
              </a:defRPr>
            </a:pPr>
            <a:r>
              <a:t>The key difference is when the agent observes failure and modifies its behavior.</a:t>
            </a:r>
          </a:p>
        </p:txBody>
      </p:sp>
      <p:sp>
        <p:nvSpPr>
          <p:cNvPr id="6" name="Rounded Rectangle 5"/>
          <p:cNvSpPr/>
          <p:nvPr/>
        </p:nvSpPr>
        <p:spPr>
          <a:xfrm>
            <a:off x="822960" y="1874519"/>
            <a:ext cx="5166360" cy="3429000"/>
          </a:xfrm>
          <a:prstGeom prst="roundRect">
            <a:avLst/>
          </a:prstGeom>
          <a:solidFill>
            <a:srgbClr val="FFFFFF"/>
          </a:solidFill>
          <a:ln w="1524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78992" y="2148840"/>
            <a:ext cx="4654296" cy="749808"/>
          </a:xfrm>
          <a:prstGeom prst="roundRect">
            <a:avLst/>
          </a:prstGeom>
          <a:solidFill>
            <a:srgbClr val="F0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284C7A"/>
                </a:solidFill>
                <a:latin typeface="Aptos"/>
              </a:defRPr>
            </a:pPr>
            <a:r>
              <a:t>CaP-X</a:t>
            </a:r>
          </a:p>
          <a:p>
            <a:pPr algn="ctr">
              <a:defRPr sz="1050" b="1">
                <a:solidFill>
                  <a:srgbClr val="5C6774"/>
                </a:solidFill>
                <a:latin typeface="Aptos"/>
              </a:defRPr>
            </a:pPr>
            <a:r>
              <a:t>Episode-level Reflection</a:t>
            </a:r>
          </a:p>
        </p:txBody>
      </p:sp>
      <p:sp>
        <p:nvSpPr>
          <p:cNvPr id="8" name="Oval 7"/>
          <p:cNvSpPr/>
          <p:nvPr/>
        </p:nvSpPr>
        <p:spPr>
          <a:xfrm>
            <a:off x="1207008" y="3246120"/>
            <a:ext cx="292608" cy="29260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1</a:t>
            </a:r>
          </a:p>
        </p:txBody>
      </p:sp>
      <p:sp>
        <p:nvSpPr>
          <p:cNvPr id="9" name="TextBox 8"/>
          <p:cNvSpPr txBox="1"/>
          <p:nvPr/>
        </p:nvSpPr>
        <p:spPr>
          <a:xfrm>
            <a:off x="1645920" y="3236976"/>
            <a:ext cx="3840480" cy="320040"/>
          </a:xfrm>
          <a:prstGeom prst="rect">
            <a:avLst/>
          </a:prstGeom>
          <a:noFill/>
        </p:spPr>
        <p:txBody>
          <a:bodyPr wrap="none">
            <a:spAutoFit/>
          </a:bodyPr>
          <a:lstStyle/>
          <a:p>
            <a:pPr>
              <a:defRPr sz="1100" b="1">
                <a:solidFill>
                  <a:srgbClr val="284C7A"/>
                </a:solidFill>
                <a:latin typeface="Aptos"/>
              </a:defRPr>
            </a:pPr>
            <a:r>
              <a:t>Execute the entire episode first</a:t>
            </a:r>
          </a:p>
        </p:txBody>
      </p:sp>
      <p:sp>
        <p:nvSpPr>
          <p:cNvPr id="10" name="Oval 9"/>
          <p:cNvSpPr/>
          <p:nvPr/>
        </p:nvSpPr>
        <p:spPr>
          <a:xfrm>
            <a:off x="1207008" y="3721608"/>
            <a:ext cx="292608" cy="29260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2</a:t>
            </a:r>
          </a:p>
        </p:txBody>
      </p:sp>
      <p:sp>
        <p:nvSpPr>
          <p:cNvPr id="11" name="TextBox 10"/>
          <p:cNvSpPr txBox="1"/>
          <p:nvPr/>
        </p:nvSpPr>
        <p:spPr>
          <a:xfrm>
            <a:off x="1645920" y="3712464"/>
            <a:ext cx="3840480" cy="320040"/>
          </a:xfrm>
          <a:prstGeom prst="rect">
            <a:avLst/>
          </a:prstGeom>
          <a:noFill/>
        </p:spPr>
        <p:txBody>
          <a:bodyPr wrap="none">
            <a:spAutoFit/>
          </a:bodyPr>
          <a:lstStyle/>
          <a:p>
            <a:pPr>
              <a:defRPr sz="1100">
                <a:solidFill>
                  <a:srgbClr val="1C232D"/>
                </a:solidFill>
                <a:latin typeface="Aptos"/>
              </a:defRPr>
            </a:pPr>
            <a:r>
              <a:t>Observe the result after execution</a:t>
            </a:r>
          </a:p>
        </p:txBody>
      </p:sp>
      <p:sp>
        <p:nvSpPr>
          <p:cNvPr id="12" name="Oval 11"/>
          <p:cNvSpPr/>
          <p:nvPr/>
        </p:nvSpPr>
        <p:spPr>
          <a:xfrm>
            <a:off x="1207008" y="4197096"/>
            <a:ext cx="292608" cy="29260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3</a:t>
            </a:r>
          </a:p>
        </p:txBody>
      </p:sp>
      <p:sp>
        <p:nvSpPr>
          <p:cNvPr id="13" name="TextBox 12"/>
          <p:cNvSpPr txBox="1"/>
          <p:nvPr/>
        </p:nvSpPr>
        <p:spPr>
          <a:xfrm>
            <a:off x="1645920" y="4187952"/>
            <a:ext cx="3840480" cy="320040"/>
          </a:xfrm>
          <a:prstGeom prst="rect">
            <a:avLst/>
          </a:prstGeom>
          <a:noFill/>
        </p:spPr>
        <p:txBody>
          <a:bodyPr wrap="none">
            <a:spAutoFit/>
          </a:bodyPr>
          <a:lstStyle/>
          <a:p>
            <a:pPr>
              <a:defRPr sz="1100" b="1">
                <a:solidFill>
                  <a:srgbClr val="284C7A"/>
                </a:solidFill>
                <a:latin typeface="Aptos"/>
              </a:defRPr>
            </a:pPr>
            <a:r>
              <a:t>Reflect / modify the code</a:t>
            </a:r>
          </a:p>
        </p:txBody>
      </p:sp>
      <p:sp>
        <p:nvSpPr>
          <p:cNvPr id="14" name="Oval 13"/>
          <p:cNvSpPr/>
          <p:nvPr/>
        </p:nvSpPr>
        <p:spPr>
          <a:xfrm>
            <a:off x="1207008" y="4672583"/>
            <a:ext cx="292608" cy="292608"/>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4</a:t>
            </a:r>
          </a:p>
        </p:txBody>
      </p:sp>
      <p:sp>
        <p:nvSpPr>
          <p:cNvPr id="15" name="TextBox 14"/>
          <p:cNvSpPr txBox="1"/>
          <p:nvPr/>
        </p:nvSpPr>
        <p:spPr>
          <a:xfrm>
            <a:off x="1645920" y="4663440"/>
            <a:ext cx="3840480" cy="320040"/>
          </a:xfrm>
          <a:prstGeom prst="rect">
            <a:avLst/>
          </a:prstGeom>
          <a:noFill/>
        </p:spPr>
        <p:txBody>
          <a:bodyPr wrap="none">
            <a:spAutoFit/>
          </a:bodyPr>
          <a:lstStyle/>
          <a:p>
            <a:pPr>
              <a:defRPr sz="1100">
                <a:solidFill>
                  <a:srgbClr val="1C232D"/>
                </a:solidFill>
                <a:latin typeface="Aptos"/>
              </a:defRPr>
            </a:pPr>
            <a:r>
              <a:t>Retry with a new episode</a:t>
            </a:r>
          </a:p>
        </p:txBody>
      </p:sp>
      <p:sp>
        <p:nvSpPr>
          <p:cNvPr id="16" name="Rounded Rectangle 15"/>
          <p:cNvSpPr/>
          <p:nvPr/>
        </p:nvSpPr>
        <p:spPr>
          <a:xfrm>
            <a:off x="6172200" y="1874519"/>
            <a:ext cx="5166360" cy="3429000"/>
          </a:xfrm>
          <a:prstGeom prst="roundRect">
            <a:avLst/>
          </a:prstGeom>
          <a:solidFill>
            <a:srgbClr val="FFFFFF"/>
          </a:solidFill>
          <a:ln w="1524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28232" y="2148840"/>
            <a:ext cx="4654296" cy="749808"/>
          </a:xfrm>
          <a:prstGeom prst="roundRect">
            <a:avLst/>
          </a:prstGeom>
          <a:solidFill>
            <a:srgbClr val="F2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900" b="1">
                <a:solidFill>
                  <a:srgbClr val="5B4CA0"/>
                </a:solidFill>
                <a:latin typeface="Aptos"/>
              </a:defRPr>
            </a:pPr>
            <a:r>
              <a:t>VoLo-Agent</a:t>
            </a:r>
          </a:p>
          <a:p>
            <a:pPr algn="ctr">
              <a:defRPr sz="1050" b="1">
                <a:solidFill>
                  <a:srgbClr val="5C6774"/>
                </a:solidFill>
                <a:latin typeface="Aptos"/>
              </a:defRPr>
            </a:pPr>
            <a:r>
              <a:t>Intra-episode Reflection</a:t>
            </a:r>
          </a:p>
        </p:txBody>
      </p:sp>
      <p:sp>
        <p:nvSpPr>
          <p:cNvPr id="18" name="Oval 17"/>
          <p:cNvSpPr/>
          <p:nvPr/>
        </p:nvSpPr>
        <p:spPr>
          <a:xfrm>
            <a:off x="6556248" y="3246120"/>
            <a:ext cx="292608" cy="292608"/>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1</a:t>
            </a:r>
          </a:p>
        </p:txBody>
      </p:sp>
      <p:sp>
        <p:nvSpPr>
          <p:cNvPr id="19" name="TextBox 18"/>
          <p:cNvSpPr txBox="1"/>
          <p:nvPr/>
        </p:nvSpPr>
        <p:spPr>
          <a:xfrm>
            <a:off x="6995160" y="3236976"/>
            <a:ext cx="3840480" cy="320040"/>
          </a:xfrm>
          <a:prstGeom prst="rect">
            <a:avLst/>
          </a:prstGeom>
          <a:noFill/>
        </p:spPr>
        <p:txBody>
          <a:bodyPr wrap="none">
            <a:spAutoFit/>
          </a:bodyPr>
          <a:lstStyle/>
          <a:p>
            <a:pPr>
              <a:defRPr sz="1100">
                <a:solidFill>
                  <a:srgbClr val="1C232D"/>
                </a:solidFill>
                <a:latin typeface="Aptos"/>
              </a:defRPr>
            </a:pPr>
            <a:r>
              <a:t>Execute the current subtask</a:t>
            </a:r>
          </a:p>
        </p:txBody>
      </p:sp>
      <p:sp>
        <p:nvSpPr>
          <p:cNvPr id="20" name="Oval 19"/>
          <p:cNvSpPr/>
          <p:nvPr/>
        </p:nvSpPr>
        <p:spPr>
          <a:xfrm>
            <a:off x="6556248" y="3721608"/>
            <a:ext cx="292608" cy="292608"/>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2</a:t>
            </a:r>
          </a:p>
        </p:txBody>
      </p:sp>
      <p:sp>
        <p:nvSpPr>
          <p:cNvPr id="21" name="TextBox 20"/>
          <p:cNvSpPr txBox="1"/>
          <p:nvPr/>
        </p:nvSpPr>
        <p:spPr>
          <a:xfrm>
            <a:off x="6995160" y="3712464"/>
            <a:ext cx="3840480" cy="320040"/>
          </a:xfrm>
          <a:prstGeom prst="rect">
            <a:avLst/>
          </a:prstGeom>
          <a:noFill/>
        </p:spPr>
        <p:txBody>
          <a:bodyPr wrap="none">
            <a:spAutoFit/>
          </a:bodyPr>
          <a:lstStyle/>
          <a:p>
            <a:pPr>
              <a:defRPr sz="1100" b="1">
                <a:solidFill>
                  <a:srgbClr val="5B4CA0"/>
                </a:solidFill>
                <a:latin typeface="Aptos"/>
              </a:defRPr>
            </a:pPr>
            <a:r>
              <a:t>Continuously monitor within the episode</a:t>
            </a:r>
          </a:p>
        </p:txBody>
      </p:sp>
      <p:sp>
        <p:nvSpPr>
          <p:cNvPr id="22" name="Oval 21"/>
          <p:cNvSpPr/>
          <p:nvPr/>
        </p:nvSpPr>
        <p:spPr>
          <a:xfrm>
            <a:off x="6556248" y="4197096"/>
            <a:ext cx="292608" cy="292608"/>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3</a:t>
            </a:r>
          </a:p>
        </p:txBody>
      </p:sp>
      <p:sp>
        <p:nvSpPr>
          <p:cNvPr id="23" name="TextBox 22"/>
          <p:cNvSpPr txBox="1"/>
          <p:nvPr/>
        </p:nvSpPr>
        <p:spPr>
          <a:xfrm>
            <a:off x="6995160" y="4187952"/>
            <a:ext cx="3840480" cy="320040"/>
          </a:xfrm>
          <a:prstGeom prst="rect">
            <a:avLst/>
          </a:prstGeom>
          <a:noFill/>
        </p:spPr>
        <p:txBody>
          <a:bodyPr wrap="none">
            <a:spAutoFit/>
          </a:bodyPr>
          <a:lstStyle/>
          <a:p>
            <a:pPr>
              <a:defRPr sz="1100">
                <a:solidFill>
                  <a:srgbClr val="1C232D"/>
                </a:solidFill>
                <a:latin typeface="Aptos"/>
              </a:defRPr>
            </a:pPr>
            <a:r>
              <a:t>Detect Done / Error during execution</a:t>
            </a:r>
          </a:p>
        </p:txBody>
      </p:sp>
      <p:sp>
        <p:nvSpPr>
          <p:cNvPr id="24" name="Oval 23"/>
          <p:cNvSpPr/>
          <p:nvPr/>
        </p:nvSpPr>
        <p:spPr>
          <a:xfrm>
            <a:off x="6556248" y="4672583"/>
            <a:ext cx="292608" cy="292608"/>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4</a:t>
            </a:r>
          </a:p>
        </p:txBody>
      </p:sp>
      <p:sp>
        <p:nvSpPr>
          <p:cNvPr id="25" name="TextBox 24"/>
          <p:cNvSpPr txBox="1"/>
          <p:nvPr/>
        </p:nvSpPr>
        <p:spPr>
          <a:xfrm>
            <a:off x="6995160" y="4663440"/>
            <a:ext cx="3840480" cy="320040"/>
          </a:xfrm>
          <a:prstGeom prst="rect">
            <a:avLst/>
          </a:prstGeom>
          <a:noFill/>
        </p:spPr>
        <p:txBody>
          <a:bodyPr wrap="none">
            <a:spAutoFit/>
          </a:bodyPr>
          <a:lstStyle/>
          <a:p>
            <a:pPr>
              <a:defRPr sz="1100" b="1">
                <a:solidFill>
                  <a:srgbClr val="5B4CA0"/>
                </a:solidFill>
                <a:latin typeface="Aptos"/>
              </a:defRPr>
            </a:pPr>
            <a:r>
              <a:t>Modify behavior without waiting for episode end</a:t>
            </a:r>
          </a:p>
        </p:txBody>
      </p:sp>
      <p:sp>
        <p:nvSpPr>
          <p:cNvPr id="26" name="Rounded Rectangle 25"/>
          <p:cNvSpPr/>
          <p:nvPr/>
        </p:nvSpPr>
        <p:spPr>
          <a:xfrm>
            <a:off x="1600200" y="5650992"/>
            <a:ext cx="9006840" cy="658368"/>
          </a:xfrm>
          <a:prstGeom prst="roundRect">
            <a:avLst/>
          </a:prstGeom>
          <a:solidFill>
            <a:srgbClr val="EEF2F7"/>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84C7A"/>
                </a:solidFill>
                <a:latin typeface="Aptos"/>
              </a:defRPr>
            </a:pPr>
            <a:r>
              <a:t>CaP-X: reflect after an episode   vs.   VoLo-Agent: monitor &amp; reflect inside an episode</a:t>
            </a:r>
          </a:p>
        </p:txBody>
      </p:sp>
      <p:sp>
        <p:nvSpPr>
          <p:cNvPr id="27" name="TextBox 26"/>
          <p:cNvSpPr txBox="1"/>
          <p:nvPr/>
        </p:nvSpPr>
        <p:spPr>
          <a:xfrm>
            <a:off x="10789920" y="6428232"/>
            <a:ext cx="457200" cy="201168"/>
          </a:xfrm>
          <a:prstGeom prst="rect">
            <a:avLst/>
          </a:prstGeom>
          <a:noFill/>
        </p:spPr>
        <p:txBody>
          <a:bodyPr wrap="none">
            <a:spAutoFit/>
          </a:bodyPr>
          <a:lstStyle/>
          <a:p>
            <a:pPr algn="r">
              <a:defRPr sz="1050">
                <a:solidFill>
                  <a:srgbClr val="969CA5"/>
                </a:solidFill>
                <a:latin typeface="Aptos"/>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65760"/>
            <a:ext cx="4754880" cy="256032"/>
          </a:xfrm>
          <a:prstGeom prst="rect">
            <a:avLst/>
          </a:prstGeom>
          <a:noFill/>
        </p:spPr>
        <p:txBody>
          <a:bodyPr wrap="none">
            <a:spAutoFit/>
          </a:bodyPr>
          <a:lstStyle/>
          <a:p>
            <a:pPr>
              <a:defRPr sz="1100" b="1">
                <a:solidFill>
                  <a:srgbClr val="536070"/>
                </a:solidFill>
                <a:latin typeface="Aptos"/>
              </a:defRPr>
            </a:pPr>
            <a:r>
              <a:t>CODE STRUCTURE · CaP-X</a:t>
            </a:r>
          </a:p>
        </p:txBody>
      </p:sp>
      <p:sp>
        <p:nvSpPr>
          <p:cNvPr id="4" name="TextBox 3"/>
          <p:cNvSpPr txBox="1"/>
          <p:nvPr/>
        </p:nvSpPr>
        <p:spPr>
          <a:xfrm>
            <a:off x="640080" y="694944"/>
            <a:ext cx="6858000" cy="457200"/>
          </a:xfrm>
          <a:prstGeom prst="rect">
            <a:avLst/>
          </a:prstGeom>
          <a:noFill/>
        </p:spPr>
        <p:txBody>
          <a:bodyPr wrap="none">
            <a:spAutoFit/>
          </a:bodyPr>
          <a:lstStyle/>
          <a:p>
            <a:pPr>
              <a:defRPr sz="2500" b="1">
                <a:solidFill>
                  <a:srgbClr val="1C232D"/>
                </a:solidFill>
                <a:latin typeface="Aptos Display"/>
              </a:defRPr>
            </a:pPr>
            <a:r>
              <a:t>CaP-X Code Execution Flow</a:t>
            </a:r>
          </a:p>
        </p:txBody>
      </p:sp>
      <p:sp>
        <p:nvSpPr>
          <p:cNvPr id="5" name="TextBox 4"/>
          <p:cNvSpPr txBox="1"/>
          <p:nvPr/>
        </p:nvSpPr>
        <p:spPr>
          <a:xfrm>
            <a:off x="658368" y="1353312"/>
            <a:ext cx="3246120" cy="320040"/>
          </a:xfrm>
          <a:prstGeom prst="rect">
            <a:avLst/>
          </a:prstGeom>
          <a:noFill/>
        </p:spPr>
        <p:txBody>
          <a:bodyPr wrap="none">
            <a:spAutoFit/>
          </a:bodyPr>
          <a:lstStyle/>
          <a:p>
            <a:pPr>
              <a:defRPr sz="1600" b="1">
                <a:solidFill>
                  <a:srgbClr val="1C232D"/>
                </a:solidFill>
                <a:latin typeface="Aptos"/>
              </a:defRPr>
            </a:pPr>
            <a:r>
              <a:t>Code Structure</a:t>
            </a:r>
          </a:p>
        </p:txBody>
      </p:sp>
      <p:sp>
        <p:nvSpPr>
          <p:cNvPr id="6" name="Oval 5"/>
          <p:cNvSpPr/>
          <p:nvPr/>
        </p:nvSpPr>
        <p:spPr>
          <a:xfrm>
            <a:off x="658368" y="1874519"/>
            <a:ext cx="393192" cy="393192"/>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01</a:t>
            </a:r>
          </a:p>
        </p:txBody>
      </p:sp>
      <p:sp>
        <p:nvSpPr>
          <p:cNvPr id="7" name="TextBox 6"/>
          <p:cNvSpPr txBox="1"/>
          <p:nvPr/>
        </p:nvSpPr>
        <p:spPr>
          <a:xfrm>
            <a:off x="1188719" y="1856231"/>
            <a:ext cx="2697480" cy="274320"/>
          </a:xfrm>
          <a:prstGeom prst="rect">
            <a:avLst/>
          </a:prstGeom>
          <a:noFill/>
        </p:spPr>
        <p:txBody>
          <a:bodyPr wrap="none">
            <a:spAutoFit/>
          </a:bodyPr>
          <a:lstStyle/>
          <a:p>
            <a:pPr>
              <a:defRPr sz="1220" b="1">
                <a:solidFill>
                  <a:srgbClr val="284C7A"/>
                </a:solidFill>
                <a:latin typeface="Aptos"/>
              </a:defRPr>
            </a:pPr>
            <a:r>
              <a:t>trial.py</a:t>
            </a:r>
          </a:p>
        </p:txBody>
      </p:sp>
      <p:sp>
        <p:nvSpPr>
          <p:cNvPr id="8" name="TextBox 7"/>
          <p:cNvSpPr txBox="1"/>
          <p:nvPr/>
        </p:nvSpPr>
        <p:spPr>
          <a:xfrm>
            <a:off x="1188719" y="2194560"/>
            <a:ext cx="2697480" cy="786384"/>
          </a:xfrm>
          <a:prstGeom prst="rect">
            <a:avLst/>
          </a:prstGeom>
          <a:noFill/>
        </p:spPr>
        <p:txBody>
          <a:bodyPr wrap="square">
            <a:spAutoFit/>
          </a:bodyPr>
          <a:lstStyle/>
          <a:p>
            <a:pPr>
              <a:defRPr sz="1019">
                <a:solidFill>
                  <a:srgbClr val="525E6C"/>
                </a:solidFill>
                <a:latin typeface="Aptos"/>
              </a:defRPr>
            </a:pPr>
            <a:r>
              <a:t>Task를 LLM agent에게 넣어 Python code를 만들고,</a:t>
            </a:r>
            <a:br/>
            <a:r>
              <a:t>env.step(code_string)을 실행</a:t>
            </a:r>
          </a:p>
        </p:txBody>
      </p:sp>
      <p:sp>
        <p:nvSpPr>
          <p:cNvPr id="9" name="Oval 8"/>
          <p:cNvSpPr/>
          <p:nvPr/>
        </p:nvSpPr>
        <p:spPr>
          <a:xfrm>
            <a:off x="658368" y="3154680"/>
            <a:ext cx="393192" cy="393192"/>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02</a:t>
            </a:r>
          </a:p>
        </p:txBody>
      </p:sp>
      <p:sp>
        <p:nvSpPr>
          <p:cNvPr id="10" name="TextBox 9"/>
          <p:cNvSpPr txBox="1"/>
          <p:nvPr/>
        </p:nvSpPr>
        <p:spPr>
          <a:xfrm>
            <a:off x="1188719" y="3136392"/>
            <a:ext cx="2697480" cy="274320"/>
          </a:xfrm>
          <a:prstGeom prst="rect">
            <a:avLst/>
          </a:prstGeom>
          <a:noFill/>
        </p:spPr>
        <p:txBody>
          <a:bodyPr wrap="none">
            <a:spAutoFit/>
          </a:bodyPr>
          <a:lstStyle/>
          <a:p>
            <a:pPr>
              <a:defRPr sz="1220" b="1">
                <a:solidFill>
                  <a:srgbClr val="284C7A"/>
                </a:solidFill>
                <a:latin typeface="Aptos"/>
              </a:defRPr>
            </a:pPr>
            <a:r>
              <a:t>tasks/base.py</a:t>
            </a:r>
          </a:p>
        </p:txBody>
      </p:sp>
      <p:sp>
        <p:nvSpPr>
          <p:cNvPr id="11" name="TextBox 10"/>
          <p:cNvSpPr txBox="1"/>
          <p:nvPr/>
        </p:nvSpPr>
        <p:spPr>
          <a:xfrm>
            <a:off x="1188719" y="3474720"/>
            <a:ext cx="2697480" cy="786384"/>
          </a:xfrm>
          <a:prstGeom prst="rect">
            <a:avLst/>
          </a:prstGeom>
          <a:noFill/>
        </p:spPr>
        <p:txBody>
          <a:bodyPr wrap="square">
            <a:spAutoFit/>
          </a:bodyPr>
          <a:lstStyle/>
          <a:p>
            <a:pPr>
              <a:defRPr sz="1019">
                <a:solidFill>
                  <a:srgbClr val="525E6C"/>
                </a:solidFill>
                <a:latin typeface="Aptos"/>
              </a:defRPr>
            </a:pPr>
            <a:r>
              <a:t>생성된 code를 API 함수들과 bind한 뒤,</a:t>
            </a:r>
            <a:br/>
            <a:r>
              <a:t>exec(code_string, api functions) 실행</a:t>
            </a:r>
          </a:p>
        </p:txBody>
      </p:sp>
      <p:sp>
        <p:nvSpPr>
          <p:cNvPr id="12" name="Oval 11"/>
          <p:cNvSpPr/>
          <p:nvPr/>
        </p:nvSpPr>
        <p:spPr>
          <a:xfrm>
            <a:off x="658368" y="4434840"/>
            <a:ext cx="393192" cy="393192"/>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latin typeface="Aptos"/>
              </a:defRPr>
            </a:pPr>
            <a:r>
              <a:t>03</a:t>
            </a:r>
          </a:p>
        </p:txBody>
      </p:sp>
      <p:sp>
        <p:nvSpPr>
          <p:cNvPr id="13" name="TextBox 12"/>
          <p:cNvSpPr txBox="1"/>
          <p:nvPr/>
        </p:nvSpPr>
        <p:spPr>
          <a:xfrm>
            <a:off x="1188719" y="4416552"/>
            <a:ext cx="2697480" cy="274320"/>
          </a:xfrm>
          <a:prstGeom prst="rect">
            <a:avLst/>
          </a:prstGeom>
          <a:noFill/>
        </p:spPr>
        <p:txBody>
          <a:bodyPr wrap="none">
            <a:spAutoFit/>
          </a:bodyPr>
          <a:lstStyle/>
          <a:p>
            <a:pPr>
              <a:defRPr sz="1220" b="1">
                <a:solidFill>
                  <a:srgbClr val="284C7A"/>
                </a:solidFill>
                <a:latin typeface="Aptos"/>
              </a:defRPr>
            </a:pPr>
            <a:r>
              <a:t>integrations/franka/control.py</a:t>
            </a:r>
          </a:p>
        </p:txBody>
      </p:sp>
      <p:sp>
        <p:nvSpPr>
          <p:cNvPr id="14" name="TextBox 13"/>
          <p:cNvSpPr txBox="1"/>
          <p:nvPr/>
        </p:nvSpPr>
        <p:spPr>
          <a:xfrm>
            <a:off x="1188719" y="4754879"/>
            <a:ext cx="2697480" cy="786384"/>
          </a:xfrm>
          <a:prstGeom prst="rect">
            <a:avLst/>
          </a:prstGeom>
          <a:noFill/>
        </p:spPr>
        <p:txBody>
          <a:bodyPr wrap="square">
            <a:spAutoFit/>
          </a:bodyPr>
          <a:lstStyle/>
          <a:p>
            <a:pPr>
              <a:defRPr sz="1019">
                <a:solidFill>
                  <a:srgbClr val="525E6C"/>
                </a:solidFill>
                <a:latin typeface="Aptos"/>
              </a:defRPr>
            </a:pPr>
            <a:r>
              <a:t>API function들과 code가 실제 Python으로 실행되고,</a:t>
            </a:r>
            <a:br/>
            <a:r>
              <a:t>API 내부에서 최종적으로 env.step(joint action)이 호출됨</a:t>
            </a:r>
          </a:p>
        </p:txBody>
      </p:sp>
      <p:sp>
        <p:nvSpPr>
          <p:cNvPr id="15" name="Rectangle 14"/>
          <p:cNvSpPr/>
          <p:nvPr/>
        </p:nvSpPr>
        <p:spPr>
          <a:xfrm>
            <a:off x="4069080" y="1298448"/>
            <a:ext cx="10972" cy="5166360"/>
          </a:xfrm>
          <a:prstGeom prst="rect">
            <a:avLst/>
          </a:prstGeom>
          <a:solidFill>
            <a:srgbClr val="DE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27080" y="6601968"/>
            <a:ext cx="320040" cy="146304"/>
          </a:xfrm>
          <a:prstGeom prst="rect">
            <a:avLst/>
          </a:prstGeom>
          <a:noFill/>
        </p:spPr>
        <p:txBody>
          <a:bodyPr wrap="none">
            <a:spAutoFit/>
          </a:bodyPr>
          <a:lstStyle/>
          <a:p>
            <a:pPr algn="r">
              <a:defRPr sz="900">
                <a:solidFill>
                  <a:srgbClr val="969CA5"/>
                </a:solidFill>
                <a:latin typeface="Aptos"/>
              </a:defRPr>
            </a:pPr>
            <a:r>
              <a:t>10</a:t>
            </a:r>
          </a:p>
        </p:txBody>
      </p:sp>
      <p:pic>
        <p:nvPicPr>
          <p:cNvPr id="27" name="Picture 26" descr="image.png"/>
          <p:cNvPicPr>
            <a:picLocks noChangeAspect="1"/>
          </p:cNvPicPr>
          <p:nvPr/>
        </p:nvPicPr>
        <p:blipFill>
          <a:blip r:embed="rId2"/>
          <a:stretch>
            <a:fillRect/>
          </a:stretch>
        </p:blipFill>
        <p:spPr>
          <a:xfrm>
            <a:off x="4315968" y="1487702"/>
            <a:ext cx="2834640" cy="1267411"/>
          </a:xfrm>
          <a:prstGeom prst="rect">
            <a:avLst/>
          </a:prstGeom>
        </p:spPr>
      </p:pic>
      <p:pic>
        <p:nvPicPr>
          <p:cNvPr id="28" name="Picture 27" descr="image.png"/>
          <p:cNvPicPr>
            <a:picLocks noChangeAspect="1"/>
          </p:cNvPicPr>
          <p:nvPr/>
        </p:nvPicPr>
        <p:blipFill>
          <a:blip r:embed="rId3"/>
          <a:stretch>
            <a:fillRect/>
          </a:stretch>
        </p:blipFill>
        <p:spPr>
          <a:xfrm>
            <a:off x="8366760" y="1352215"/>
            <a:ext cx="2971800" cy="1885856"/>
          </a:xfrm>
          <a:prstGeom prst="rect">
            <a:avLst/>
          </a:prstGeom>
        </p:spPr>
      </p:pic>
      <p:pic>
        <p:nvPicPr>
          <p:cNvPr id="29" name="Picture 28" descr="image.png"/>
          <p:cNvPicPr>
            <a:picLocks noChangeAspect="1"/>
          </p:cNvPicPr>
          <p:nvPr/>
        </p:nvPicPr>
        <p:blipFill>
          <a:blip r:embed="rId4"/>
          <a:stretch>
            <a:fillRect/>
          </a:stretch>
        </p:blipFill>
        <p:spPr>
          <a:xfrm>
            <a:off x="4315968" y="3801880"/>
            <a:ext cx="2834640" cy="2509503"/>
          </a:xfrm>
          <a:prstGeom prst="rect">
            <a:avLst/>
          </a:prstGeom>
        </p:spPr>
      </p:pic>
      <p:pic>
        <p:nvPicPr>
          <p:cNvPr id="30" name="Picture 29" descr="image.png"/>
          <p:cNvPicPr>
            <a:picLocks noChangeAspect="1"/>
          </p:cNvPicPr>
          <p:nvPr/>
        </p:nvPicPr>
        <p:blipFill>
          <a:blip r:embed="rId5"/>
          <a:stretch>
            <a:fillRect/>
          </a:stretch>
        </p:blipFill>
        <p:spPr>
          <a:xfrm>
            <a:off x="8366760" y="4691148"/>
            <a:ext cx="2971800" cy="1115015"/>
          </a:xfrm>
          <a:prstGeom prst="rect">
            <a:avLst/>
          </a:prstGeom>
        </p:spPr>
      </p:pic>
      <p:cxnSp>
        <p:nvCxnSpPr>
          <p:cNvPr id="31" name="Connector 30"/>
          <p:cNvCxnSpPr/>
          <p:nvPr/>
        </p:nvCxnSpPr>
        <p:spPr>
          <a:xfrm>
            <a:off x="7196328" y="2121408"/>
            <a:ext cx="1124712" cy="0"/>
          </a:xfrm>
          <a:prstGeom prst="line">
            <a:avLst/>
          </a:prstGeom>
          <a:ln w="17145">
            <a:solidFill>
              <a:srgbClr val="284C7A"/>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123176" y="1792224"/>
            <a:ext cx="1234440" cy="237744"/>
          </a:xfrm>
          <a:prstGeom prst="roundRect">
            <a:avLst/>
          </a:prstGeom>
          <a:solidFill>
            <a:srgbClr val="F8F9FB"/>
          </a:solidFill>
          <a:ln w="3810">
            <a:solidFill>
              <a:srgbClr val="DCE2EA"/>
            </a:solidFill>
          </a:ln>
        </p:spPr>
        <p:style>
          <a:lnRef idx="1">
            <a:schemeClr val="accent1"/>
          </a:lnRef>
          <a:fillRef idx="3">
            <a:schemeClr val="accent1"/>
          </a:fillRef>
          <a:effectRef idx="2">
            <a:schemeClr val="accent1"/>
          </a:effectRef>
          <a:fontRef idx="minor">
            <a:schemeClr val="lt1"/>
          </a:fontRef>
        </p:style>
        <p:txBody>
          <a:bodyPr lIns="27432" tIns="9144" rIns="27432" bIns="9144" rtlCol="0" anchor="ctr"/>
          <a:lstStyle/>
          <a:p>
            <a:pPr algn="ctr">
              <a:defRPr sz="660" b="1">
                <a:solidFill>
                  <a:srgbClr val="284C7A"/>
                </a:solidFill>
                <a:latin typeface="Aptos"/>
              </a:defRPr>
            </a:pPr>
            <a:r>
              <a:t>env.step(code_string)</a:t>
            </a:r>
          </a:p>
        </p:txBody>
      </p:sp>
      <p:cxnSp>
        <p:nvCxnSpPr>
          <p:cNvPr id="33" name="Connector 32"/>
          <p:cNvCxnSpPr/>
          <p:nvPr/>
        </p:nvCxnSpPr>
        <p:spPr>
          <a:xfrm>
            <a:off x="9852660" y="3274648"/>
            <a:ext cx="0" cy="245328"/>
          </a:xfrm>
          <a:prstGeom prst="line">
            <a:avLst/>
          </a:prstGeom>
          <a:ln w="14604">
            <a:solidFill>
              <a:srgbClr val="284C7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5733288" y="3519976"/>
            <a:ext cx="4119372" cy="0"/>
          </a:xfrm>
          <a:prstGeom prst="line">
            <a:avLst/>
          </a:prstGeom>
          <a:ln w="14604">
            <a:solidFill>
              <a:srgbClr val="284C7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33288" y="3519976"/>
            <a:ext cx="0" cy="245328"/>
          </a:xfrm>
          <a:prstGeom prst="line">
            <a:avLst/>
          </a:prstGeom>
          <a:ln w="14604">
            <a:solidFill>
              <a:srgbClr val="284C7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912864" y="3373672"/>
            <a:ext cx="1783080" cy="274320"/>
          </a:xfrm>
          <a:prstGeom prst="roundRect">
            <a:avLst/>
          </a:prstGeom>
          <a:solidFill>
            <a:srgbClr val="F8F9FB"/>
          </a:solidFill>
          <a:ln w="3810">
            <a:solidFill>
              <a:srgbClr val="DCE2EA"/>
            </a:solidFill>
          </a:ln>
        </p:spPr>
        <p:style>
          <a:lnRef idx="1">
            <a:schemeClr val="accent1"/>
          </a:lnRef>
          <a:fillRef idx="3">
            <a:schemeClr val="accent1"/>
          </a:fillRef>
          <a:effectRef idx="2">
            <a:schemeClr val="accent1"/>
          </a:effectRef>
          <a:fontRef idx="minor">
            <a:schemeClr val="lt1"/>
          </a:fontRef>
        </p:style>
        <p:txBody>
          <a:bodyPr lIns="27432" tIns="9144" rIns="27432" bIns="9144" rtlCol="0" anchor="ctr"/>
          <a:lstStyle/>
          <a:p>
            <a:pPr algn="ctr">
              <a:defRPr sz="600" b="1">
                <a:solidFill>
                  <a:srgbClr val="284C7A"/>
                </a:solidFill>
                <a:latin typeface="Aptos"/>
              </a:defRPr>
            </a:pPr>
            <a:r>
              <a:t>exec() 내부에서</a:t>
            </a:r>
            <a:br/>
            <a:r>
              <a:t>API 함수 호출</a:t>
            </a:r>
          </a:p>
        </p:txBody>
      </p:sp>
      <p:cxnSp>
        <p:nvCxnSpPr>
          <p:cNvPr id="37" name="Connector 36"/>
          <p:cNvCxnSpPr/>
          <p:nvPr/>
        </p:nvCxnSpPr>
        <p:spPr>
          <a:xfrm>
            <a:off x="7196328" y="5056632"/>
            <a:ext cx="1124712" cy="0"/>
          </a:xfrm>
          <a:prstGeom prst="line">
            <a:avLst/>
          </a:prstGeom>
          <a:ln w="17145">
            <a:solidFill>
              <a:srgbClr val="284C7A"/>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223759" y="4645152"/>
            <a:ext cx="1069847" cy="384048"/>
          </a:xfrm>
          <a:prstGeom prst="roundRect">
            <a:avLst/>
          </a:prstGeom>
          <a:solidFill>
            <a:srgbClr val="F8F9FB"/>
          </a:solidFill>
          <a:ln w="3810">
            <a:solidFill>
              <a:srgbClr val="DCE2EA"/>
            </a:solidFill>
          </a:ln>
        </p:spPr>
        <p:style>
          <a:lnRef idx="1">
            <a:schemeClr val="accent1"/>
          </a:lnRef>
          <a:fillRef idx="3">
            <a:schemeClr val="accent1"/>
          </a:fillRef>
          <a:effectRef idx="2">
            <a:schemeClr val="accent1"/>
          </a:effectRef>
          <a:fontRef idx="minor">
            <a:schemeClr val="lt1"/>
          </a:fontRef>
        </p:style>
        <p:txBody>
          <a:bodyPr lIns="27432" tIns="9144" rIns="27432" bIns="9144" rtlCol="0" anchor="ctr"/>
          <a:lstStyle/>
          <a:p>
            <a:pPr algn="ctr">
              <a:defRPr sz="540" b="1">
                <a:solidFill>
                  <a:srgbClr val="284C7A"/>
                </a:solidFill>
                <a:latin typeface="Aptos"/>
              </a:defRPr>
            </a:pPr>
            <a:r>
              <a:t>move_to_joints_blocking /</a:t>
            </a:r>
            <a:br/>
            <a:r>
              <a:t>_step_once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65760"/>
            <a:ext cx="5029200" cy="256032"/>
          </a:xfrm>
          <a:prstGeom prst="rect">
            <a:avLst/>
          </a:prstGeom>
          <a:noFill/>
        </p:spPr>
        <p:txBody>
          <a:bodyPr wrap="none">
            <a:spAutoFit/>
          </a:bodyPr>
          <a:lstStyle/>
          <a:p>
            <a:pPr>
              <a:defRPr sz="1100" b="1">
                <a:solidFill>
                  <a:srgbClr val="536070"/>
                </a:solidFill>
                <a:latin typeface="Aptos"/>
              </a:defRPr>
            </a:pPr>
            <a:r>
              <a:t>CODE STRUCTURE · VoLo-Agent</a:t>
            </a:r>
          </a:p>
        </p:txBody>
      </p:sp>
      <p:sp>
        <p:nvSpPr>
          <p:cNvPr id="4" name="TextBox 3"/>
          <p:cNvSpPr txBox="1"/>
          <p:nvPr/>
        </p:nvSpPr>
        <p:spPr>
          <a:xfrm>
            <a:off x="640080" y="694944"/>
            <a:ext cx="7315200" cy="457200"/>
          </a:xfrm>
          <a:prstGeom prst="rect">
            <a:avLst/>
          </a:prstGeom>
          <a:noFill/>
        </p:spPr>
        <p:txBody>
          <a:bodyPr wrap="none">
            <a:spAutoFit/>
          </a:bodyPr>
          <a:lstStyle/>
          <a:p>
            <a:pPr>
              <a:defRPr sz="2500" b="1">
                <a:solidFill>
                  <a:srgbClr val="1C232D"/>
                </a:solidFill>
                <a:latin typeface="Aptos Display"/>
              </a:defRPr>
            </a:pPr>
            <a:r>
              <a:t>VoLo-Agent Code Structure</a:t>
            </a:r>
          </a:p>
        </p:txBody>
      </p:sp>
      <p:sp>
        <p:nvSpPr>
          <p:cNvPr id="19" name="Rectangle 18"/>
          <p:cNvSpPr/>
          <p:nvPr/>
        </p:nvSpPr>
        <p:spPr>
          <a:xfrm>
            <a:off x="4590288" y="1261872"/>
            <a:ext cx="10972" cy="5349240"/>
          </a:xfrm>
          <a:prstGeom prst="rect">
            <a:avLst/>
          </a:prstGeom>
          <a:solidFill>
            <a:srgbClr val="DEE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054e2926-d0c2-42cf-9b05-1609bdcbb46d.png"/>
          <p:cNvPicPr>
            <a:picLocks noChangeAspect="1"/>
          </p:cNvPicPr>
          <p:nvPr/>
        </p:nvPicPr>
        <p:blipFill>
          <a:blip r:embed="rId2"/>
          <a:stretch>
            <a:fillRect/>
          </a:stretch>
        </p:blipFill>
        <p:spPr>
          <a:xfrm>
            <a:off x="4683705" y="761722"/>
            <a:ext cx="3791819" cy="3287615"/>
          </a:xfrm>
          <a:prstGeom prst="rect">
            <a:avLst/>
          </a:prstGeom>
        </p:spPr>
      </p:pic>
      <p:pic>
        <p:nvPicPr>
          <p:cNvPr id="23" name="Picture 22" descr="31e6e652-d042-4f6e-b536-10d23cc8a19b.png"/>
          <p:cNvPicPr>
            <a:picLocks noChangeAspect="1"/>
          </p:cNvPicPr>
          <p:nvPr/>
        </p:nvPicPr>
        <p:blipFill>
          <a:blip r:embed="rId3"/>
          <a:stretch>
            <a:fillRect/>
          </a:stretch>
        </p:blipFill>
        <p:spPr>
          <a:xfrm>
            <a:off x="7632859" y="4142162"/>
            <a:ext cx="4554175" cy="2690541"/>
          </a:xfrm>
          <a:prstGeom prst="rect">
            <a:avLst/>
          </a:prstGeom>
        </p:spPr>
      </p:pic>
      <p:sp>
        <p:nvSpPr>
          <p:cNvPr id="24" name="TextBox 23"/>
          <p:cNvSpPr txBox="1"/>
          <p:nvPr/>
        </p:nvSpPr>
        <p:spPr>
          <a:xfrm>
            <a:off x="10927080" y="6601968"/>
            <a:ext cx="320040" cy="146304"/>
          </a:xfrm>
          <a:prstGeom prst="rect">
            <a:avLst/>
          </a:prstGeom>
          <a:noFill/>
        </p:spPr>
        <p:txBody>
          <a:bodyPr wrap="none">
            <a:spAutoFit/>
          </a:bodyPr>
          <a:lstStyle/>
          <a:p>
            <a:pPr algn="r">
              <a:defRPr sz="900">
                <a:solidFill>
                  <a:srgbClr val="969CA5"/>
                </a:solidFill>
                <a:latin typeface="Aptos"/>
              </a:defRPr>
            </a:pPr>
            <a:r>
              <a:t>11</a:t>
            </a:r>
          </a:p>
        </p:txBody>
      </p:sp>
      <p:sp>
        <p:nvSpPr>
          <p:cNvPr id="26" name="TextBox 25"/>
          <p:cNvSpPr txBox="1"/>
          <p:nvPr/>
        </p:nvSpPr>
        <p:spPr>
          <a:xfrm>
            <a:off x="4865372" y="475215"/>
            <a:ext cx="3278124" cy="210312"/>
          </a:xfrm>
          <a:prstGeom prst="rect">
            <a:avLst/>
          </a:prstGeom>
          <a:noFill/>
        </p:spPr>
        <p:txBody>
          <a:bodyPr wrap="none">
            <a:spAutoFit/>
          </a:bodyPr>
          <a:lstStyle/>
          <a:p>
            <a:pPr algn="ctr">
              <a:defRPr sz="950" b="1">
                <a:solidFill>
                  <a:srgbClr val="284C7A"/>
                </a:solidFill>
                <a:latin typeface="Aptos"/>
              </a:defRPr>
            </a:pPr>
            <a:r>
              <a:rPr dirty="0"/>
              <a:t>Overall Runtime Flow</a:t>
            </a:r>
          </a:p>
        </p:txBody>
      </p:sp>
      <p:sp>
        <p:nvSpPr>
          <p:cNvPr id="27" name="TextBox 26"/>
          <p:cNvSpPr txBox="1"/>
          <p:nvPr/>
        </p:nvSpPr>
        <p:spPr>
          <a:xfrm>
            <a:off x="8475524" y="3840247"/>
            <a:ext cx="3278124" cy="210312"/>
          </a:xfrm>
          <a:prstGeom prst="rect">
            <a:avLst/>
          </a:prstGeom>
          <a:noFill/>
        </p:spPr>
        <p:txBody>
          <a:bodyPr wrap="none">
            <a:spAutoFit/>
          </a:bodyPr>
          <a:lstStyle/>
          <a:p>
            <a:pPr algn="ctr">
              <a:defRPr sz="950" b="1">
                <a:solidFill>
                  <a:srgbClr val="5B4CA0"/>
                </a:solidFill>
                <a:latin typeface="Aptos"/>
              </a:defRPr>
            </a:pPr>
            <a:r>
              <a:t>Strategy.process() Internal Logic</a:t>
            </a:r>
          </a:p>
        </p:txBody>
      </p:sp>
      <p:sp>
        <p:nvSpPr>
          <p:cNvPr id="28" name="TextBox 27"/>
          <p:cNvSpPr txBox="1"/>
          <p:nvPr/>
        </p:nvSpPr>
        <p:spPr>
          <a:xfrm>
            <a:off x="658368" y="1261872"/>
            <a:ext cx="3703320" cy="274320"/>
          </a:xfrm>
          <a:prstGeom prst="rect">
            <a:avLst/>
          </a:prstGeom>
          <a:noFill/>
        </p:spPr>
        <p:txBody>
          <a:bodyPr wrap="none">
            <a:spAutoFit/>
          </a:bodyPr>
          <a:lstStyle/>
          <a:p>
            <a:pPr>
              <a:defRPr sz="1450" b="1">
                <a:solidFill>
                  <a:srgbClr val="1C232D"/>
                </a:solidFill>
                <a:latin typeface="Aptos"/>
              </a:defRPr>
            </a:pPr>
            <a:r>
              <a:t>How the system works</a:t>
            </a:r>
          </a:p>
        </p:txBody>
      </p:sp>
      <p:sp>
        <p:nvSpPr>
          <p:cNvPr id="29" name="Rounded Rectangle 28"/>
          <p:cNvSpPr/>
          <p:nvPr/>
        </p:nvSpPr>
        <p:spPr>
          <a:xfrm>
            <a:off x="658368" y="1627632"/>
            <a:ext cx="3703320" cy="786384"/>
          </a:xfrm>
          <a:prstGeom prst="roundRect">
            <a:avLst/>
          </a:prstGeom>
          <a:solidFill>
            <a:srgbClr val="EEF4FA"/>
          </a:solidFill>
          <a:ln w="1143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95528" y="1719072"/>
            <a:ext cx="365760" cy="265176"/>
          </a:xfrm>
          <a:prstGeom prst="round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20" b="1">
                <a:solidFill>
                  <a:srgbClr val="FFFFFF"/>
                </a:solidFill>
                <a:latin typeface="Aptos"/>
              </a:defRPr>
            </a:pPr>
            <a:r>
              <a:t>01</a:t>
            </a:r>
          </a:p>
        </p:txBody>
      </p:sp>
      <p:sp>
        <p:nvSpPr>
          <p:cNvPr id="31" name="TextBox 30"/>
          <p:cNvSpPr txBox="1"/>
          <p:nvPr/>
        </p:nvSpPr>
        <p:spPr>
          <a:xfrm>
            <a:off x="1271016" y="1700784"/>
            <a:ext cx="2880360" cy="256032"/>
          </a:xfrm>
          <a:prstGeom prst="rect">
            <a:avLst/>
          </a:prstGeom>
          <a:noFill/>
        </p:spPr>
        <p:txBody>
          <a:bodyPr wrap="none" anchor="ctr">
            <a:spAutoFit/>
          </a:bodyPr>
          <a:lstStyle/>
          <a:p>
            <a:pPr>
              <a:defRPr sz="1019" b="1">
                <a:solidFill>
                  <a:srgbClr val="284C7A"/>
                </a:solidFill>
                <a:latin typeface="Aptos"/>
              </a:defRPr>
            </a:pPr>
            <a:r>
              <a:t>Core Components</a:t>
            </a:r>
          </a:p>
        </p:txBody>
      </p:sp>
      <p:sp>
        <p:nvSpPr>
          <p:cNvPr id="32" name="TextBox 31"/>
          <p:cNvSpPr txBox="1"/>
          <p:nvPr/>
        </p:nvSpPr>
        <p:spPr>
          <a:xfrm>
            <a:off x="804672" y="2043684"/>
            <a:ext cx="3346704" cy="251460"/>
          </a:xfrm>
          <a:prstGeom prst="rect">
            <a:avLst/>
          </a:prstGeom>
          <a:noFill/>
        </p:spPr>
        <p:txBody>
          <a:bodyPr wrap="square" lIns="9144" tIns="0" rIns="9144" bIns="0" anchor="t">
            <a:spAutoFit/>
          </a:bodyPr>
          <a:lstStyle/>
          <a:p>
            <a:pPr algn="l">
              <a:lnSpc>
                <a:spcPct val="90000"/>
              </a:lnSpc>
              <a:spcBef>
                <a:spcPts val="0"/>
              </a:spcBef>
              <a:spcAft>
                <a:spcPts val="0"/>
              </a:spcAft>
              <a:defRPr sz="735">
                <a:solidFill>
                  <a:srgbClr val="525E6C"/>
                </a:solidFill>
                <a:latin typeface="Aptos"/>
              </a:defRPr>
            </a:pPr>
            <a:r>
              <a:t>이 시스템에는 크게 4개의 중요한 요소가 있어. Eval Client / OrchestratorProxy / Strategy.process() / VLA Server야</a:t>
            </a:r>
          </a:p>
        </p:txBody>
      </p:sp>
      <p:sp>
        <p:nvSpPr>
          <p:cNvPr id="33" name="Rounded Rectangle 32"/>
          <p:cNvSpPr/>
          <p:nvPr/>
        </p:nvSpPr>
        <p:spPr>
          <a:xfrm>
            <a:off x="658368" y="2514600"/>
            <a:ext cx="3703320" cy="909828"/>
          </a:xfrm>
          <a:prstGeom prst="roundRect">
            <a:avLst/>
          </a:prstGeom>
          <a:solidFill>
            <a:srgbClr val="FFFFFF"/>
          </a:solidFill>
          <a:ln w="1143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95528" y="2606040"/>
            <a:ext cx="365760" cy="265176"/>
          </a:xfrm>
          <a:prstGeom prst="round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20" b="1">
                <a:solidFill>
                  <a:srgbClr val="FFFFFF"/>
                </a:solidFill>
                <a:latin typeface="Aptos"/>
              </a:defRPr>
            </a:pPr>
            <a:r>
              <a:t>02</a:t>
            </a:r>
          </a:p>
        </p:txBody>
      </p:sp>
      <p:sp>
        <p:nvSpPr>
          <p:cNvPr id="35" name="TextBox 34"/>
          <p:cNvSpPr txBox="1"/>
          <p:nvPr/>
        </p:nvSpPr>
        <p:spPr>
          <a:xfrm>
            <a:off x="1271016" y="2587752"/>
            <a:ext cx="2880360" cy="256032"/>
          </a:xfrm>
          <a:prstGeom prst="rect">
            <a:avLst/>
          </a:prstGeom>
          <a:noFill/>
        </p:spPr>
        <p:txBody>
          <a:bodyPr wrap="none" anchor="ctr">
            <a:spAutoFit/>
          </a:bodyPr>
          <a:lstStyle/>
          <a:p>
            <a:pPr>
              <a:defRPr sz="1019" b="1">
                <a:solidFill>
                  <a:srgbClr val="284C7A"/>
                </a:solidFill>
                <a:latin typeface="Aptos"/>
              </a:defRPr>
            </a:pPr>
            <a:r>
              <a:t>Eval Client</a:t>
            </a:r>
          </a:p>
        </p:txBody>
      </p:sp>
      <p:sp>
        <p:nvSpPr>
          <p:cNvPr id="36" name="TextBox 35"/>
          <p:cNvSpPr txBox="1"/>
          <p:nvPr/>
        </p:nvSpPr>
        <p:spPr>
          <a:xfrm>
            <a:off x="804672" y="2930652"/>
            <a:ext cx="3346704" cy="374904"/>
          </a:xfrm>
          <a:prstGeom prst="rect">
            <a:avLst/>
          </a:prstGeom>
          <a:noFill/>
        </p:spPr>
        <p:txBody>
          <a:bodyPr wrap="square" lIns="9144" tIns="0" rIns="9144" bIns="0" anchor="t">
            <a:spAutoFit/>
          </a:bodyPr>
          <a:lstStyle/>
          <a:p>
            <a:pPr algn="l">
              <a:lnSpc>
                <a:spcPct val="90000"/>
              </a:lnSpc>
              <a:spcBef>
                <a:spcPts val="0"/>
              </a:spcBef>
              <a:spcAft>
                <a:spcPts val="0"/>
              </a:spcAft>
              <a:defRPr sz="735">
                <a:solidFill>
                  <a:srgbClr val="525E6C"/>
                </a:solidFill>
                <a:latin typeface="Aptos"/>
              </a:defRPr>
            </a:pPr>
            <a:r>
              <a:t>기본적으로 Eval Client는 env.step()을 통해서 환경을 rollout할 수 있어. Eval Client는 action을 달라고 Proxy에게 요청하고, Proxy에게 N개의 action chunk를 받아온 다음, 1 action씩 env.step()을 진행해서, N번 실행하고 나면, 다시 Proxy에게 요청하는 구조야</a:t>
            </a:r>
          </a:p>
        </p:txBody>
      </p:sp>
      <p:sp>
        <p:nvSpPr>
          <p:cNvPr id="37" name="Rounded Rectangle 36"/>
          <p:cNvSpPr/>
          <p:nvPr/>
        </p:nvSpPr>
        <p:spPr>
          <a:xfrm>
            <a:off x="658368" y="3525012"/>
            <a:ext cx="3703320" cy="909828"/>
          </a:xfrm>
          <a:prstGeom prst="roundRect">
            <a:avLst/>
          </a:prstGeom>
          <a:solidFill>
            <a:srgbClr val="FFFFFF"/>
          </a:solidFill>
          <a:ln w="1143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795528" y="3616452"/>
            <a:ext cx="365760" cy="265176"/>
          </a:xfrm>
          <a:prstGeom prst="round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20" b="1">
                <a:solidFill>
                  <a:srgbClr val="FFFFFF"/>
                </a:solidFill>
                <a:latin typeface="Aptos"/>
              </a:defRPr>
            </a:pPr>
            <a:r>
              <a:t>03</a:t>
            </a:r>
          </a:p>
        </p:txBody>
      </p:sp>
      <p:sp>
        <p:nvSpPr>
          <p:cNvPr id="39" name="TextBox 38"/>
          <p:cNvSpPr txBox="1"/>
          <p:nvPr/>
        </p:nvSpPr>
        <p:spPr>
          <a:xfrm>
            <a:off x="1271016" y="3598164"/>
            <a:ext cx="2880360" cy="256032"/>
          </a:xfrm>
          <a:prstGeom prst="rect">
            <a:avLst/>
          </a:prstGeom>
          <a:noFill/>
        </p:spPr>
        <p:txBody>
          <a:bodyPr wrap="none" anchor="ctr">
            <a:spAutoFit/>
          </a:bodyPr>
          <a:lstStyle/>
          <a:p>
            <a:pPr>
              <a:defRPr sz="1019" b="1">
                <a:solidFill>
                  <a:srgbClr val="284C7A"/>
                </a:solidFill>
                <a:latin typeface="Aptos"/>
              </a:defRPr>
            </a:pPr>
            <a:r>
              <a:t>OrchestratorProxy</a:t>
            </a:r>
          </a:p>
        </p:txBody>
      </p:sp>
      <p:sp>
        <p:nvSpPr>
          <p:cNvPr id="40" name="TextBox 39"/>
          <p:cNvSpPr txBox="1"/>
          <p:nvPr/>
        </p:nvSpPr>
        <p:spPr>
          <a:xfrm>
            <a:off x="804672" y="3941064"/>
            <a:ext cx="3346704" cy="374904"/>
          </a:xfrm>
          <a:prstGeom prst="rect">
            <a:avLst/>
          </a:prstGeom>
          <a:noFill/>
        </p:spPr>
        <p:txBody>
          <a:bodyPr wrap="square" lIns="9144" tIns="0" rIns="9144" bIns="0" anchor="t">
            <a:spAutoFit/>
          </a:bodyPr>
          <a:lstStyle/>
          <a:p>
            <a:pPr algn="l">
              <a:lnSpc>
                <a:spcPct val="90000"/>
              </a:lnSpc>
              <a:spcBef>
                <a:spcPts val="0"/>
              </a:spcBef>
              <a:spcAft>
                <a:spcPts val="0"/>
              </a:spcAft>
              <a:defRPr sz="735">
                <a:solidFill>
                  <a:srgbClr val="525E6C"/>
                </a:solidFill>
                <a:latin typeface="Aptos"/>
              </a:defRPr>
            </a:pPr>
            <a:r>
              <a:t>Proxy는 Strategy.process()에게 현재의 (subgoal, tool)을 물어봐서, 현재 써야할 tool에서 observation과 subgoal을 줘서 action을 뽑아서 eval client에게 줘. 여기서 vla tool을 쓰게 되면, vla server에게 요청을 보내서 action을 받아와.</a:t>
            </a:r>
          </a:p>
        </p:txBody>
      </p:sp>
      <p:sp>
        <p:nvSpPr>
          <p:cNvPr id="41" name="Rounded Rectangle 40"/>
          <p:cNvSpPr/>
          <p:nvPr/>
        </p:nvSpPr>
        <p:spPr>
          <a:xfrm>
            <a:off x="658368" y="4535424"/>
            <a:ext cx="3703320" cy="1280160"/>
          </a:xfrm>
          <a:prstGeom prst="roundRect">
            <a:avLst/>
          </a:prstGeom>
          <a:solidFill>
            <a:srgbClr val="F2EFFC"/>
          </a:solidFill>
          <a:ln w="1143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95528" y="4626864"/>
            <a:ext cx="365760" cy="265176"/>
          </a:xfrm>
          <a:prstGeom prst="roundRect">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20" b="1">
                <a:solidFill>
                  <a:srgbClr val="FFFFFF"/>
                </a:solidFill>
                <a:latin typeface="Aptos"/>
              </a:defRPr>
            </a:pPr>
            <a:r>
              <a:t>04</a:t>
            </a:r>
          </a:p>
        </p:txBody>
      </p:sp>
      <p:sp>
        <p:nvSpPr>
          <p:cNvPr id="43" name="TextBox 42"/>
          <p:cNvSpPr txBox="1"/>
          <p:nvPr/>
        </p:nvSpPr>
        <p:spPr>
          <a:xfrm>
            <a:off x="1271016" y="4608576"/>
            <a:ext cx="2880360" cy="256032"/>
          </a:xfrm>
          <a:prstGeom prst="rect">
            <a:avLst/>
          </a:prstGeom>
          <a:noFill/>
        </p:spPr>
        <p:txBody>
          <a:bodyPr wrap="none" anchor="ctr">
            <a:spAutoFit/>
          </a:bodyPr>
          <a:lstStyle/>
          <a:p>
            <a:pPr>
              <a:defRPr sz="1019" b="1">
                <a:solidFill>
                  <a:srgbClr val="5B4CA0"/>
                </a:solidFill>
                <a:latin typeface="Aptos"/>
              </a:defRPr>
            </a:pPr>
            <a:r>
              <a:t>Strategy.process()</a:t>
            </a:r>
          </a:p>
        </p:txBody>
      </p:sp>
      <p:sp>
        <p:nvSpPr>
          <p:cNvPr id="44" name="TextBox 43"/>
          <p:cNvSpPr txBox="1"/>
          <p:nvPr/>
        </p:nvSpPr>
        <p:spPr>
          <a:xfrm>
            <a:off x="804672" y="4951476"/>
            <a:ext cx="3346704" cy="745236"/>
          </a:xfrm>
          <a:prstGeom prst="rect">
            <a:avLst/>
          </a:prstGeom>
          <a:noFill/>
        </p:spPr>
        <p:txBody>
          <a:bodyPr wrap="square" lIns="9144" tIns="0" rIns="9144" bIns="0" anchor="t">
            <a:spAutoFit/>
          </a:bodyPr>
          <a:lstStyle/>
          <a:p>
            <a:pPr algn="l">
              <a:lnSpc>
                <a:spcPct val="90000"/>
              </a:lnSpc>
              <a:spcBef>
                <a:spcPts val="0"/>
              </a:spcBef>
              <a:spcAft>
                <a:spcPts val="0"/>
              </a:spcAft>
              <a:defRPr sz="735">
                <a:solidFill>
                  <a:srgbClr val="525E6C"/>
                </a:solidFill>
                <a:latin typeface="Aptos"/>
              </a:defRPr>
            </a:pPr>
            <a:r>
              <a:t>strategy.process()는 에피소드의 첫 call에서는 VLM을 이용해서 subgoal planning을 한 다음에 (첫번째 subgoal, VLA)를 return해 그 다음부터는 계속 똑같이 (첫번째 subgoal, VLA) return하다가 그러다가 checkinterval이 되면 VLM을 이용해서 다음 subgoal로 넘어갈건지 tool로 fallback할건지 replan을 할건지를 결정해서 적절한 action을 취하고 알맞은 (subgoal, tool)을 return해 참고로 tool 실행의 완료는 strategy.process()내에서 VLM을 실행안하고 가볍게 tool에서 검사하는 로직이 있어. tool 실행이 완료되면 VLM실행 없이도 가볍게 (현재 subgoal, VLA)로 바뀌어서 나가게 되는거지</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65760"/>
            <a:ext cx="5486400" cy="256032"/>
          </a:xfrm>
          <a:prstGeom prst="rect">
            <a:avLst/>
          </a:prstGeom>
          <a:noFill/>
        </p:spPr>
        <p:txBody>
          <a:bodyPr wrap="none">
            <a:spAutoFit/>
          </a:bodyPr>
          <a:lstStyle/>
          <a:p>
            <a:pPr>
              <a:defRPr sz="1100" b="1">
                <a:solidFill>
                  <a:srgbClr val="536070"/>
                </a:solidFill>
                <a:latin typeface="Aptos"/>
              </a:defRPr>
            </a:pPr>
            <a:r>
              <a:t>CODE STRUCTURE · ENVIRONMENT MANAGEMENT</a:t>
            </a:r>
          </a:p>
        </p:txBody>
      </p:sp>
      <p:sp>
        <p:nvSpPr>
          <p:cNvPr id="4" name="TextBox 3"/>
          <p:cNvSpPr txBox="1"/>
          <p:nvPr/>
        </p:nvSpPr>
        <p:spPr>
          <a:xfrm>
            <a:off x="640080" y="694944"/>
            <a:ext cx="8229600" cy="457200"/>
          </a:xfrm>
          <a:prstGeom prst="rect">
            <a:avLst/>
          </a:prstGeom>
          <a:noFill/>
        </p:spPr>
        <p:txBody>
          <a:bodyPr wrap="none">
            <a:spAutoFit/>
          </a:bodyPr>
          <a:lstStyle/>
          <a:p>
            <a:pPr>
              <a:defRPr sz="2500" b="1">
                <a:solidFill>
                  <a:srgbClr val="1C232D"/>
                </a:solidFill>
                <a:latin typeface="Aptos Display"/>
              </a:defRPr>
            </a:pPr>
            <a:r>
              <a:t>Repository &amp; Environment Management</a:t>
            </a:r>
          </a:p>
        </p:txBody>
      </p:sp>
      <p:sp>
        <p:nvSpPr>
          <p:cNvPr id="5" name="Rounded Rectangle 4"/>
          <p:cNvSpPr/>
          <p:nvPr/>
        </p:nvSpPr>
        <p:spPr>
          <a:xfrm>
            <a:off x="658368" y="1389888"/>
            <a:ext cx="5257800" cy="1993392"/>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4672" y="1517904"/>
            <a:ext cx="4965192" cy="438912"/>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284C7A"/>
                </a:solidFill>
                <a:latin typeface="Aptos"/>
              </a:defRPr>
            </a:pPr>
            <a:r>
              <a:t>CaP-X</a:t>
            </a:r>
          </a:p>
        </p:txBody>
      </p:sp>
      <p:sp>
        <p:nvSpPr>
          <p:cNvPr id="7" name="TextBox 6"/>
          <p:cNvSpPr txBox="1"/>
          <p:nvPr/>
        </p:nvSpPr>
        <p:spPr>
          <a:xfrm>
            <a:off x="932688" y="2103120"/>
            <a:ext cx="4709160" cy="1152144"/>
          </a:xfrm>
          <a:prstGeom prst="rect">
            <a:avLst/>
          </a:prstGeom>
          <a:noFill/>
        </p:spPr>
        <p:txBody>
          <a:bodyPr wrap="square">
            <a:spAutoFit/>
          </a:bodyPr>
          <a:lstStyle/>
          <a:p>
            <a:pPr>
              <a:defRPr sz="1050" b="1">
                <a:solidFill>
                  <a:srgbClr val="1C232D"/>
                </a:solidFill>
                <a:latin typeface="Aptos"/>
              </a:defRPr>
            </a:pPr>
            <a:r>
              <a:t>cap-x_main/</a:t>
            </a:r>
          </a:p>
          <a:p>
            <a:pPr>
              <a:spcBef>
                <a:spcPts val="400"/>
              </a:spcBef>
              <a:defRPr sz="910" b="1">
                <a:solidFill>
                  <a:srgbClr val="284C7A"/>
                </a:solidFill>
                <a:latin typeface="Aptos"/>
              </a:defRPr>
            </a:pPr>
            <a:r>
              <a:t>   ├─ cap-x/   — CODE · replace via GitHub</a:t>
            </a:r>
          </a:p>
          <a:p>
            <a:pPr>
              <a:spcBef>
                <a:spcPts val="400"/>
              </a:spcBef>
              <a:defRPr sz="910">
                <a:solidFill>
                  <a:srgbClr val="525E6C"/>
                </a:solidFill>
                <a:latin typeface="Aptos"/>
              </a:defRPr>
            </a:pPr>
            <a:r>
              <a:t>   ├─ datasets/   — dataset assets</a:t>
            </a:r>
          </a:p>
          <a:p>
            <a:pPr>
              <a:spcBef>
                <a:spcPts val="400"/>
              </a:spcBef>
              <a:defRPr sz="910">
                <a:solidFill>
                  <a:srgbClr val="525E6C"/>
                </a:solidFill>
                <a:latin typeface="Aptos"/>
              </a:defRPr>
            </a:pPr>
            <a:r>
              <a:t>   ├─ docker/   — environment / images</a:t>
            </a:r>
          </a:p>
          <a:p>
            <a:pPr>
              <a:spcBef>
                <a:spcPts val="400"/>
              </a:spcBef>
              <a:defRPr sz="910">
                <a:solidFill>
                  <a:srgbClr val="525E6C"/>
                </a:solidFill>
                <a:latin typeface="Aptos"/>
              </a:defRPr>
            </a:pPr>
            <a:r>
              <a:t>   ├─ vlms/   — VLM-related assets</a:t>
            </a:r>
          </a:p>
        </p:txBody>
      </p:sp>
      <p:sp>
        <p:nvSpPr>
          <p:cNvPr id="8" name="Rounded Rectangle 7"/>
          <p:cNvSpPr/>
          <p:nvPr/>
        </p:nvSpPr>
        <p:spPr>
          <a:xfrm>
            <a:off x="658368" y="3547872"/>
            <a:ext cx="5257800" cy="1993392"/>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 y="3675887"/>
            <a:ext cx="4965192" cy="438912"/>
          </a:xfrm>
          <a:prstGeom prst="roundRect">
            <a:avLst/>
          </a:prstGeom>
          <a:solidFill>
            <a:srgbClr val="F2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B4CA0"/>
                </a:solidFill>
                <a:latin typeface="Aptos"/>
              </a:defRPr>
            </a:pPr>
            <a:r>
              <a:t>VoLo-Agent</a:t>
            </a:r>
          </a:p>
        </p:txBody>
      </p:sp>
      <p:sp>
        <p:nvSpPr>
          <p:cNvPr id="10" name="TextBox 9"/>
          <p:cNvSpPr txBox="1"/>
          <p:nvPr/>
        </p:nvSpPr>
        <p:spPr>
          <a:xfrm>
            <a:off x="932688" y="4261104"/>
            <a:ext cx="4709160" cy="1152144"/>
          </a:xfrm>
          <a:prstGeom prst="rect">
            <a:avLst/>
          </a:prstGeom>
          <a:noFill/>
        </p:spPr>
        <p:txBody>
          <a:bodyPr wrap="square">
            <a:spAutoFit/>
          </a:bodyPr>
          <a:lstStyle/>
          <a:p>
            <a:pPr>
              <a:defRPr sz="1050" b="1">
                <a:solidFill>
                  <a:srgbClr val="1C232D"/>
                </a:solidFill>
                <a:latin typeface="Aptos"/>
              </a:defRPr>
            </a:pPr>
            <a:r>
              <a:t>VoLo workspace/</a:t>
            </a:r>
          </a:p>
          <a:p>
            <a:pPr>
              <a:spcBef>
                <a:spcPts val="400"/>
              </a:spcBef>
              <a:defRPr sz="910" b="1">
                <a:solidFill>
                  <a:srgbClr val="5B4CA0"/>
                </a:solidFill>
                <a:latin typeface="Aptos"/>
              </a:defRPr>
            </a:pPr>
            <a:r>
              <a:t>   ├─ volo-main/   — CODE · replace via GitHub</a:t>
            </a:r>
          </a:p>
          <a:p>
            <a:pPr>
              <a:spcBef>
                <a:spcPts val="400"/>
              </a:spcBef>
              <a:defRPr sz="910">
                <a:solidFill>
                  <a:srgbClr val="525E6C"/>
                </a:solidFill>
                <a:latin typeface="Aptos"/>
              </a:defRPr>
            </a:pPr>
            <a:r>
              <a:t>   ├─ checkpoints/   — model checkpoints</a:t>
            </a:r>
          </a:p>
          <a:p>
            <a:pPr>
              <a:spcBef>
                <a:spcPts val="400"/>
              </a:spcBef>
              <a:defRPr sz="910">
                <a:solidFill>
                  <a:srgbClr val="525E6C"/>
                </a:solidFill>
                <a:latin typeface="Aptos"/>
              </a:defRPr>
            </a:pPr>
            <a:r>
              <a:t>   ├─ vlabench-assets/   — benchmark assets</a:t>
            </a:r>
          </a:p>
          <a:p>
            <a:pPr>
              <a:spcBef>
                <a:spcPts val="400"/>
              </a:spcBef>
              <a:defRPr sz="910">
                <a:solidFill>
                  <a:srgbClr val="525E6C"/>
                </a:solidFill>
                <a:latin typeface="Aptos"/>
              </a:defRPr>
            </a:pPr>
            <a:r>
              <a:t>   ├─ ...   — other large / environment assets</a:t>
            </a:r>
          </a:p>
        </p:txBody>
      </p:sp>
      <p:sp>
        <p:nvSpPr>
          <p:cNvPr id="11" name="TextBox 10"/>
          <p:cNvSpPr txBox="1"/>
          <p:nvPr/>
        </p:nvSpPr>
        <p:spPr>
          <a:xfrm>
            <a:off x="7890374" y="878178"/>
            <a:ext cx="2250681" cy="338554"/>
          </a:xfrm>
          <a:prstGeom prst="rect">
            <a:avLst/>
          </a:prstGeom>
          <a:noFill/>
        </p:spPr>
        <p:txBody>
          <a:bodyPr wrap="none">
            <a:spAutoFit/>
          </a:bodyPr>
          <a:lstStyle/>
          <a:p>
            <a:pPr algn="ctr">
              <a:defRPr sz="1600" b="1">
                <a:solidFill>
                  <a:srgbClr val="1C232D"/>
                </a:solidFill>
                <a:latin typeface="Aptos"/>
              </a:defRPr>
            </a:pPr>
            <a:r>
              <a:rPr dirty="0"/>
              <a:t>Working Rules (for now)</a:t>
            </a:r>
          </a:p>
        </p:txBody>
      </p:sp>
      <p:sp>
        <p:nvSpPr>
          <p:cNvPr id="12" name="Rounded Rectangle 11"/>
          <p:cNvSpPr/>
          <p:nvPr/>
        </p:nvSpPr>
        <p:spPr>
          <a:xfrm>
            <a:off x="6478255" y="1335378"/>
            <a:ext cx="5074920" cy="91440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642847" y="1472538"/>
            <a:ext cx="384048" cy="283464"/>
          </a:xfrm>
          <a:prstGeom prst="round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01</a:t>
            </a:r>
          </a:p>
        </p:txBody>
      </p:sp>
      <p:sp>
        <p:nvSpPr>
          <p:cNvPr id="14" name="TextBox 13"/>
          <p:cNvSpPr txBox="1"/>
          <p:nvPr/>
        </p:nvSpPr>
        <p:spPr>
          <a:xfrm>
            <a:off x="7154911" y="1426818"/>
            <a:ext cx="4160520" cy="256032"/>
          </a:xfrm>
          <a:prstGeom prst="rect">
            <a:avLst/>
          </a:prstGeom>
          <a:noFill/>
        </p:spPr>
        <p:txBody>
          <a:bodyPr wrap="none">
            <a:spAutoFit/>
          </a:bodyPr>
          <a:lstStyle/>
          <a:p>
            <a:pPr>
              <a:defRPr sz="1070" b="1">
                <a:solidFill>
                  <a:srgbClr val="284C7A"/>
                </a:solidFill>
                <a:latin typeface="Aptos"/>
              </a:defRPr>
            </a:pPr>
            <a:r>
              <a:t>Code only is replaceable</a:t>
            </a:r>
          </a:p>
        </p:txBody>
      </p:sp>
      <p:sp>
        <p:nvSpPr>
          <p:cNvPr id="15" name="TextBox 14"/>
          <p:cNvSpPr txBox="1"/>
          <p:nvPr/>
        </p:nvSpPr>
        <p:spPr>
          <a:xfrm>
            <a:off x="6661135" y="1774290"/>
            <a:ext cx="4617720" cy="411479"/>
          </a:xfrm>
          <a:prstGeom prst="rect">
            <a:avLst/>
          </a:prstGeom>
          <a:noFill/>
        </p:spPr>
        <p:txBody>
          <a:bodyPr wrap="square">
            <a:spAutoFit/>
          </a:bodyPr>
          <a:lstStyle/>
          <a:p>
            <a:pPr>
              <a:defRPr sz="840">
                <a:solidFill>
                  <a:srgbClr val="525E6C"/>
                </a:solidFill>
                <a:latin typeface="Aptos"/>
              </a:defRPr>
            </a:pPr>
            <a:r>
              <a:t>연구소 환경에는 전체 구조를 그대로 들고 가고, datasets / docker / checkpoints / assets 등은 유지. 코드 폴더만 GitHub를 이용해 갈아끼우는 방식.</a:t>
            </a:r>
          </a:p>
        </p:txBody>
      </p:sp>
      <p:sp>
        <p:nvSpPr>
          <p:cNvPr id="16" name="Rounded Rectangle 15"/>
          <p:cNvSpPr/>
          <p:nvPr/>
        </p:nvSpPr>
        <p:spPr>
          <a:xfrm>
            <a:off x="6478255" y="2386938"/>
            <a:ext cx="5074920" cy="91440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642847" y="2524098"/>
            <a:ext cx="384048" cy="283464"/>
          </a:xfrm>
          <a:prstGeom prst="roundRect">
            <a:avLst/>
          </a:prstGeom>
          <a:solidFill>
            <a:srgbClr val="AE7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02</a:t>
            </a:r>
          </a:p>
        </p:txBody>
      </p:sp>
      <p:sp>
        <p:nvSpPr>
          <p:cNvPr id="18" name="TextBox 17"/>
          <p:cNvSpPr txBox="1"/>
          <p:nvPr/>
        </p:nvSpPr>
        <p:spPr>
          <a:xfrm>
            <a:off x="7154911" y="2478378"/>
            <a:ext cx="4160520" cy="256032"/>
          </a:xfrm>
          <a:prstGeom prst="rect">
            <a:avLst/>
          </a:prstGeom>
          <a:noFill/>
        </p:spPr>
        <p:txBody>
          <a:bodyPr wrap="none">
            <a:spAutoFit/>
          </a:bodyPr>
          <a:lstStyle/>
          <a:p>
            <a:pPr>
              <a:defRPr sz="1070" b="1">
                <a:solidFill>
                  <a:srgbClr val="AE7325"/>
                </a:solidFill>
                <a:latin typeface="Aptos"/>
              </a:defRPr>
            </a:pPr>
            <a:r>
              <a:t>Do not change folder structure yet</a:t>
            </a:r>
          </a:p>
        </p:txBody>
      </p:sp>
      <p:sp>
        <p:nvSpPr>
          <p:cNvPr id="19" name="TextBox 18"/>
          <p:cNvSpPr txBox="1"/>
          <p:nvPr/>
        </p:nvSpPr>
        <p:spPr>
          <a:xfrm>
            <a:off x="6661135" y="2825850"/>
            <a:ext cx="4617720" cy="411479"/>
          </a:xfrm>
          <a:prstGeom prst="rect">
            <a:avLst/>
          </a:prstGeom>
          <a:noFill/>
        </p:spPr>
        <p:txBody>
          <a:bodyPr wrap="square">
            <a:spAutoFit/>
          </a:bodyPr>
          <a:lstStyle/>
          <a:p>
            <a:pPr>
              <a:defRPr sz="840">
                <a:solidFill>
                  <a:srgbClr val="525E6C"/>
                </a:solidFill>
                <a:latin typeface="Aptos"/>
              </a:defRPr>
            </a:pPr>
            <a:r>
              <a:t>환경설정이 완전히 끝나기 전까지는 폴더 / 디렉토리 구조를 수정하지 않기. 당분간 현재 구조를 그대로 유지.</a:t>
            </a:r>
          </a:p>
        </p:txBody>
      </p:sp>
      <p:sp>
        <p:nvSpPr>
          <p:cNvPr id="20" name="Rounded Rectangle 19"/>
          <p:cNvSpPr/>
          <p:nvPr/>
        </p:nvSpPr>
        <p:spPr>
          <a:xfrm>
            <a:off x="6478255" y="3456786"/>
            <a:ext cx="5074920" cy="91440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642847" y="3593946"/>
            <a:ext cx="384048" cy="283464"/>
          </a:xfrm>
          <a:prstGeom prst="roundRect">
            <a:avLst/>
          </a:prstGeom>
          <a:solidFill>
            <a:srgbClr val="AE73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03</a:t>
            </a:r>
          </a:p>
        </p:txBody>
      </p:sp>
      <p:sp>
        <p:nvSpPr>
          <p:cNvPr id="22" name="TextBox 21"/>
          <p:cNvSpPr txBox="1"/>
          <p:nvPr/>
        </p:nvSpPr>
        <p:spPr>
          <a:xfrm>
            <a:off x="7154911" y="3548225"/>
            <a:ext cx="4160520" cy="256032"/>
          </a:xfrm>
          <a:prstGeom prst="rect">
            <a:avLst/>
          </a:prstGeom>
          <a:noFill/>
        </p:spPr>
        <p:txBody>
          <a:bodyPr wrap="none">
            <a:spAutoFit/>
          </a:bodyPr>
          <a:lstStyle/>
          <a:p>
            <a:pPr>
              <a:defRPr sz="1070" b="1">
                <a:solidFill>
                  <a:srgbClr val="AE7325"/>
                </a:solidFill>
                <a:latin typeface="Aptos"/>
              </a:defRPr>
            </a:pPr>
            <a:r>
              <a:t>Leave a diff after modifications</a:t>
            </a:r>
          </a:p>
        </p:txBody>
      </p:sp>
      <p:sp>
        <p:nvSpPr>
          <p:cNvPr id="23" name="TextBox 22"/>
          <p:cNvSpPr txBox="1"/>
          <p:nvPr/>
        </p:nvSpPr>
        <p:spPr>
          <a:xfrm>
            <a:off x="6661135" y="3895697"/>
            <a:ext cx="4617720" cy="411479"/>
          </a:xfrm>
          <a:prstGeom prst="rect">
            <a:avLst/>
          </a:prstGeom>
          <a:noFill/>
        </p:spPr>
        <p:txBody>
          <a:bodyPr wrap="square">
            <a:spAutoFit/>
          </a:bodyPr>
          <a:lstStyle/>
          <a:p>
            <a:pPr>
              <a:defRPr sz="840">
                <a:solidFill>
                  <a:srgbClr val="525E6C"/>
                </a:solidFill>
                <a:latin typeface="Aptos"/>
              </a:defRPr>
            </a:pPr>
            <a:r>
              <a:t>파일을 수정했다면 git diff를 이용해 diff 파일을 만들어 놓고, 어떤 파일을 수정했는지 알려주기.</a:t>
            </a:r>
          </a:p>
        </p:txBody>
      </p:sp>
      <p:sp>
        <p:nvSpPr>
          <p:cNvPr id="24" name="Rounded Rectangle 23"/>
          <p:cNvSpPr/>
          <p:nvPr/>
        </p:nvSpPr>
        <p:spPr>
          <a:xfrm>
            <a:off x="6478255" y="4526634"/>
            <a:ext cx="5074920" cy="1024128"/>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642847" y="4663794"/>
            <a:ext cx="384048" cy="283464"/>
          </a:xfrm>
          <a:prstGeom prst="round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04</a:t>
            </a:r>
          </a:p>
        </p:txBody>
      </p:sp>
      <p:sp>
        <p:nvSpPr>
          <p:cNvPr id="26" name="TextBox 25"/>
          <p:cNvSpPr txBox="1"/>
          <p:nvPr/>
        </p:nvSpPr>
        <p:spPr>
          <a:xfrm>
            <a:off x="7154911" y="4618073"/>
            <a:ext cx="4160520" cy="256032"/>
          </a:xfrm>
          <a:prstGeom prst="rect">
            <a:avLst/>
          </a:prstGeom>
          <a:noFill/>
        </p:spPr>
        <p:txBody>
          <a:bodyPr wrap="none">
            <a:spAutoFit/>
          </a:bodyPr>
          <a:lstStyle/>
          <a:p>
            <a:pPr>
              <a:defRPr sz="1070" b="1">
                <a:solidFill>
                  <a:srgbClr val="284C7A"/>
                </a:solidFill>
                <a:latin typeface="Aptos"/>
              </a:defRPr>
            </a:pPr>
            <a:r>
              <a:t>Single source of truth</a:t>
            </a:r>
          </a:p>
        </p:txBody>
      </p:sp>
      <p:sp>
        <p:nvSpPr>
          <p:cNvPr id="27" name="TextBox 26"/>
          <p:cNvSpPr txBox="1"/>
          <p:nvPr/>
        </p:nvSpPr>
        <p:spPr>
          <a:xfrm>
            <a:off x="6661135" y="4965545"/>
            <a:ext cx="4617720" cy="521208"/>
          </a:xfrm>
          <a:prstGeom prst="rect">
            <a:avLst/>
          </a:prstGeom>
          <a:noFill/>
        </p:spPr>
        <p:txBody>
          <a:bodyPr wrap="square">
            <a:spAutoFit/>
          </a:bodyPr>
          <a:lstStyle/>
          <a:p>
            <a:pPr>
              <a:defRPr sz="840">
                <a:solidFill>
                  <a:srgbClr val="525E6C"/>
                </a:solidFill>
                <a:latin typeface="Aptos"/>
              </a:defRPr>
            </a:pPr>
            <a:r>
              <a:t>코드, 디렉토리 구조, 환경설정 등 필요한 내용은 모두 maincode/seokmins/add_env_settings.md 참고.</a:t>
            </a:r>
          </a:p>
        </p:txBody>
      </p:sp>
      <p:sp>
        <p:nvSpPr>
          <p:cNvPr id="28" name="Rounded Rectangle 27"/>
          <p:cNvSpPr/>
          <p:nvPr/>
        </p:nvSpPr>
        <p:spPr>
          <a:xfrm>
            <a:off x="658368" y="5925312"/>
            <a:ext cx="10652760" cy="530352"/>
          </a:xfrm>
          <a:prstGeom prst="roundRect">
            <a:avLst/>
          </a:prstGeom>
          <a:solidFill>
            <a:srgbClr val="F9F4EB"/>
          </a:solidFill>
          <a:ln>
            <a:solidFill>
              <a:srgbClr val="E8DCC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AE7325"/>
                </a:solidFill>
                <a:latin typeface="Aptos"/>
              </a:defRPr>
            </a:pPr>
            <a:r>
              <a:t>Principle: Keep the environment/assets fixed → swap only the code → record every change with git diff.</a:t>
            </a:r>
          </a:p>
        </p:txBody>
      </p:sp>
      <p:sp>
        <p:nvSpPr>
          <p:cNvPr id="29" name="TextBox 28"/>
          <p:cNvSpPr txBox="1"/>
          <p:nvPr/>
        </p:nvSpPr>
        <p:spPr>
          <a:xfrm>
            <a:off x="10927080" y="6601968"/>
            <a:ext cx="320040" cy="146304"/>
          </a:xfrm>
          <a:prstGeom prst="rect">
            <a:avLst/>
          </a:prstGeom>
          <a:noFill/>
        </p:spPr>
        <p:txBody>
          <a:bodyPr wrap="none">
            <a:spAutoFit/>
          </a:bodyPr>
          <a:lstStyle/>
          <a:p>
            <a:pPr algn="r">
              <a:defRPr sz="900">
                <a:solidFill>
                  <a:srgbClr val="969CA5"/>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65760"/>
            <a:ext cx="5486400" cy="256032"/>
          </a:xfrm>
          <a:prstGeom prst="rect">
            <a:avLst/>
          </a:prstGeom>
          <a:noFill/>
        </p:spPr>
        <p:txBody>
          <a:bodyPr wrap="none">
            <a:spAutoFit/>
          </a:bodyPr>
          <a:lstStyle/>
          <a:p>
            <a:pPr>
              <a:defRPr sz="1100" b="1">
                <a:solidFill>
                  <a:srgbClr val="536070"/>
                </a:solidFill>
                <a:latin typeface="Aptos"/>
              </a:defRPr>
            </a:pPr>
            <a:r>
              <a:t>CURRENT STATUS · ENVIRONMENT SETUP</a:t>
            </a:r>
          </a:p>
        </p:txBody>
      </p:sp>
      <p:sp>
        <p:nvSpPr>
          <p:cNvPr id="4" name="TextBox 3"/>
          <p:cNvSpPr txBox="1"/>
          <p:nvPr/>
        </p:nvSpPr>
        <p:spPr>
          <a:xfrm>
            <a:off x="640080" y="694944"/>
            <a:ext cx="7772400" cy="457200"/>
          </a:xfrm>
          <a:prstGeom prst="rect">
            <a:avLst/>
          </a:prstGeom>
          <a:noFill/>
        </p:spPr>
        <p:txBody>
          <a:bodyPr wrap="none">
            <a:spAutoFit/>
          </a:bodyPr>
          <a:lstStyle/>
          <a:p>
            <a:pPr>
              <a:defRPr sz="2500" b="1">
                <a:solidFill>
                  <a:srgbClr val="1C232D"/>
                </a:solidFill>
                <a:latin typeface="Aptos Display"/>
              </a:defRPr>
            </a:pPr>
            <a:r>
              <a:t>Current Code &amp; Environment Setup</a:t>
            </a:r>
          </a:p>
        </p:txBody>
      </p:sp>
      <p:sp>
        <p:nvSpPr>
          <p:cNvPr id="5" name="Rounded Rectangle 4"/>
          <p:cNvSpPr/>
          <p:nvPr/>
        </p:nvSpPr>
        <p:spPr>
          <a:xfrm>
            <a:off x="658368" y="1353312"/>
            <a:ext cx="5230368" cy="5010912"/>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22959" y="1768559"/>
            <a:ext cx="4901183" cy="530352"/>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84C7A"/>
                </a:solidFill>
                <a:latin typeface="Aptos"/>
              </a:defRPr>
            </a:pPr>
            <a:r>
              <a:t>Home PC</a:t>
            </a:r>
          </a:p>
          <a:p>
            <a:pPr>
              <a:defRPr sz="830">
                <a:solidFill>
                  <a:srgbClr val="525E6C"/>
                </a:solidFill>
                <a:latin typeface="Aptos"/>
              </a:defRPr>
            </a:pPr>
            <a:r>
              <a:t>Broad compatibility testing completed</a:t>
            </a:r>
          </a:p>
        </p:txBody>
      </p:sp>
      <p:sp>
        <p:nvSpPr>
          <p:cNvPr id="7" name="Rounded Rectangle 6"/>
          <p:cNvSpPr/>
          <p:nvPr/>
        </p:nvSpPr>
        <p:spPr>
          <a:xfrm>
            <a:off x="6108192" y="1353312"/>
            <a:ext cx="5230368" cy="5010912"/>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72783" y="1768559"/>
            <a:ext cx="4901183" cy="530352"/>
          </a:xfrm>
          <a:prstGeom prst="roundRect">
            <a:avLst/>
          </a:prstGeom>
          <a:solidFill>
            <a:srgbClr val="F2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5B4CA0"/>
                </a:solidFill>
                <a:latin typeface="Aptos"/>
              </a:defRPr>
            </a:pPr>
            <a:r>
              <a:t>Lab Environment</a:t>
            </a:r>
          </a:p>
          <a:p>
            <a:pPr>
              <a:defRPr sz="830">
                <a:solidFill>
                  <a:srgbClr val="525E6C"/>
                </a:solidFill>
                <a:latin typeface="Aptos"/>
              </a:defRPr>
            </a:pPr>
            <a:r>
              <a:t>Migration &amp; serving status</a:t>
            </a:r>
          </a:p>
        </p:txBody>
      </p:sp>
      <p:sp>
        <p:nvSpPr>
          <p:cNvPr id="9" name="TextBox 8"/>
          <p:cNvSpPr txBox="1"/>
          <p:nvPr/>
        </p:nvSpPr>
        <p:spPr>
          <a:xfrm>
            <a:off x="914400" y="2417783"/>
            <a:ext cx="4709160" cy="256032"/>
          </a:xfrm>
          <a:prstGeom prst="rect">
            <a:avLst/>
          </a:prstGeom>
          <a:noFill/>
        </p:spPr>
        <p:txBody>
          <a:bodyPr wrap="none">
            <a:spAutoFit/>
          </a:bodyPr>
          <a:lstStyle/>
          <a:p>
            <a:pPr>
              <a:defRPr sz="1150" b="1">
                <a:solidFill>
                  <a:srgbClr val="1C232D"/>
                </a:solidFill>
                <a:latin typeface="Aptos"/>
              </a:defRPr>
            </a:pPr>
            <a:r>
              <a:t>Immediately usable benchmarks</a:t>
            </a:r>
          </a:p>
        </p:txBody>
      </p:sp>
      <p:sp>
        <p:nvSpPr>
          <p:cNvPr id="10" name="Rounded Rectangle 9"/>
          <p:cNvSpPr/>
          <p:nvPr/>
        </p:nvSpPr>
        <p:spPr>
          <a:xfrm>
            <a:off x="914400" y="2756111"/>
            <a:ext cx="4681728" cy="420624"/>
          </a:xfrm>
          <a:prstGeom prst="roundRect">
            <a:avLst/>
          </a:prstGeom>
          <a:solidFill>
            <a:srgbClr val="F8FAFC"/>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0704" y="2829263"/>
            <a:ext cx="960120" cy="228600"/>
          </a:xfrm>
          <a:prstGeom prst="rect">
            <a:avLst/>
          </a:prstGeom>
          <a:noFill/>
        </p:spPr>
        <p:txBody>
          <a:bodyPr wrap="none">
            <a:spAutoFit/>
          </a:bodyPr>
          <a:lstStyle/>
          <a:p>
            <a:pPr>
              <a:defRPr sz="980" b="1">
                <a:solidFill>
                  <a:srgbClr val="284C7A"/>
                </a:solidFill>
                <a:latin typeface="Aptos"/>
              </a:defRPr>
            </a:pPr>
            <a:r>
              <a:t>CaP-X</a:t>
            </a:r>
          </a:p>
        </p:txBody>
      </p:sp>
      <p:sp>
        <p:nvSpPr>
          <p:cNvPr id="12" name="TextBox 11"/>
          <p:cNvSpPr txBox="1"/>
          <p:nvPr/>
        </p:nvSpPr>
        <p:spPr>
          <a:xfrm>
            <a:off x="2057400" y="2829263"/>
            <a:ext cx="3337560" cy="228600"/>
          </a:xfrm>
          <a:prstGeom prst="rect">
            <a:avLst/>
          </a:prstGeom>
          <a:noFill/>
        </p:spPr>
        <p:txBody>
          <a:bodyPr wrap="none">
            <a:spAutoFit/>
          </a:bodyPr>
          <a:lstStyle/>
          <a:p>
            <a:pPr>
              <a:defRPr sz="919">
                <a:solidFill>
                  <a:srgbClr val="1C232D"/>
                </a:solidFill>
                <a:latin typeface="Aptos"/>
              </a:defRPr>
            </a:pPr>
            <a:r>
              <a:t>Robosuite · LIBERO-PRO · BEHAVIOR-1K</a:t>
            </a:r>
          </a:p>
        </p:txBody>
      </p:sp>
      <p:sp>
        <p:nvSpPr>
          <p:cNvPr id="13" name="Rounded Rectangle 12"/>
          <p:cNvSpPr/>
          <p:nvPr/>
        </p:nvSpPr>
        <p:spPr>
          <a:xfrm>
            <a:off x="914400" y="3268175"/>
            <a:ext cx="4681728" cy="420624"/>
          </a:xfrm>
          <a:prstGeom prst="roundRect">
            <a:avLst/>
          </a:prstGeom>
          <a:solidFill>
            <a:srgbClr val="F8FAFC"/>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0704" y="3341327"/>
            <a:ext cx="960120" cy="228600"/>
          </a:xfrm>
          <a:prstGeom prst="rect">
            <a:avLst/>
          </a:prstGeom>
          <a:noFill/>
        </p:spPr>
        <p:txBody>
          <a:bodyPr wrap="none">
            <a:spAutoFit/>
          </a:bodyPr>
          <a:lstStyle/>
          <a:p>
            <a:pPr>
              <a:defRPr sz="980" b="1">
                <a:solidFill>
                  <a:srgbClr val="284C7A"/>
                </a:solidFill>
                <a:latin typeface="Aptos"/>
              </a:defRPr>
            </a:pPr>
            <a:r>
              <a:t>VoLoAgent</a:t>
            </a:r>
          </a:p>
        </p:txBody>
      </p:sp>
      <p:sp>
        <p:nvSpPr>
          <p:cNvPr id="15" name="TextBox 14"/>
          <p:cNvSpPr txBox="1"/>
          <p:nvPr/>
        </p:nvSpPr>
        <p:spPr>
          <a:xfrm>
            <a:off x="2057400" y="3341327"/>
            <a:ext cx="3337560" cy="228600"/>
          </a:xfrm>
          <a:prstGeom prst="rect">
            <a:avLst/>
          </a:prstGeom>
          <a:noFill/>
        </p:spPr>
        <p:txBody>
          <a:bodyPr wrap="none">
            <a:spAutoFit/>
          </a:bodyPr>
          <a:lstStyle/>
          <a:p>
            <a:pPr>
              <a:defRPr sz="919">
                <a:solidFill>
                  <a:srgbClr val="1C232D"/>
                </a:solidFill>
                <a:latin typeface="Aptos"/>
              </a:defRPr>
            </a:pPr>
            <a:r>
              <a:t>LIBERO (all suites) · VLABench</a:t>
            </a:r>
          </a:p>
        </p:txBody>
      </p:sp>
      <p:sp>
        <p:nvSpPr>
          <p:cNvPr id="16" name="TextBox 15"/>
          <p:cNvSpPr txBox="1"/>
          <p:nvPr/>
        </p:nvSpPr>
        <p:spPr>
          <a:xfrm>
            <a:off x="932688" y="3944830"/>
            <a:ext cx="960120" cy="210312"/>
          </a:xfrm>
          <a:prstGeom prst="rect">
            <a:avLst/>
          </a:prstGeom>
          <a:noFill/>
        </p:spPr>
        <p:txBody>
          <a:bodyPr wrap="none">
            <a:spAutoFit/>
          </a:bodyPr>
          <a:lstStyle/>
          <a:p>
            <a:pPr>
              <a:defRPr sz="869" b="1">
                <a:solidFill>
                  <a:srgbClr val="284C7A"/>
                </a:solidFill>
                <a:latin typeface="Aptos"/>
              </a:defRPr>
            </a:pPr>
            <a:r>
              <a:t>Test coverage</a:t>
            </a:r>
          </a:p>
        </p:txBody>
      </p:sp>
      <p:sp>
        <p:nvSpPr>
          <p:cNvPr id="17" name="TextBox 16"/>
          <p:cNvSpPr txBox="1"/>
          <p:nvPr/>
        </p:nvSpPr>
        <p:spPr>
          <a:xfrm>
            <a:off x="1901952" y="3944830"/>
            <a:ext cx="3639312" cy="457200"/>
          </a:xfrm>
          <a:prstGeom prst="rect">
            <a:avLst/>
          </a:prstGeom>
          <a:noFill/>
        </p:spPr>
        <p:txBody>
          <a:bodyPr wrap="square">
            <a:spAutoFit/>
          </a:bodyPr>
          <a:lstStyle/>
          <a:p>
            <a:pPr>
              <a:defRPr sz="815">
                <a:solidFill>
                  <a:srgbClr val="525E6C"/>
                </a:solidFill>
                <a:latin typeface="Aptos"/>
              </a:defRPr>
            </a:pPr>
            <a:r>
              <a:t>흰컴에서 가능한 많은 테스트를 진행. 위 benchmark들은 코드만 조금 수정하면 바로 실행 가능할 것으로 예상.</a:t>
            </a:r>
          </a:p>
        </p:txBody>
      </p:sp>
      <p:sp>
        <p:nvSpPr>
          <p:cNvPr id="18" name="TextBox 17"/>
          <p:cNvSpPr txBox="1"/>
          <p:nvPr/>
        </p:nvSpPr>
        <p:spPr>
          <a:xfrm>
            <a:off x="932688" y="4493470"/>
            <a:ext cx="960120" cy="210312"/>
          </a:xfrm>
          <a:prstGeom prst="rect">
            <a:avLst/>
          </a:prstGeom>
          <a:noFill/>
        </p:spPr>
        <p:txBody>
          <a:bodyPr wrap="none">
            <a:spAutoFit/>
          </a:bodyPr>
          <a:lstStyle/>
          <a:p>
            <a:pPr>
              <a:defRPr sz="869" b="1">
                <a:solidFill>
                  <a:srgbClr val="284C7A"/>
                </a:solidFill>
                <a:latin typeface="Aptos"/>
              </a:defRPr>
            </a:pPr>
            <a:r>
              <a:t>Docker</a:t>
            </a:r>
          </a:p>
        </p:txBody>
      </p:sp>
      <p:sp>
        <p:nvSpPr>
          <p:cNvPr id="19" name="TextBox 18"/>
          <p:cNvSpPr txBox="1"/>
          <p:nvPr/>
        </p:nvSpPr>
        <p:spPr>
          <a:xfrm>
            <a:off x="1901952" y="4493470"/>
            <a:ext cx="3639312" cy="457200"/>
          </a:xfrm>
          <a:prstGeom prst="rect">
            <a:avLst/>
          </a:prstGeom>
          <a:noFill/>
        </p:spPr>
        <p:txBody>
          <a:bodyPr wrap="square">
            <a:spAutoFit/>
          </a:bodyPr>
          <a:lstStyle/>
          <a:p>
            <a:pPr>
              <a:defRPr sz="815">
                <a:solidFill>
                  <a:srgbClr val="525E6C"/>
                </a:solidFill>
                <a:latin typeface="Aptos"/>
              </a:defRPr>
            </a:pPr>
            <a:r>
              <a:t>현재 확인 범위에서는 Docker 자체에는 큰 문제 없을 것으로 예상.</a:t>
            </a:r>
          </a:p>
        </p:txBody>
      </p:sp>
      <p:sp>
        <p:nvSpPr>
          <p:cNvPr id="20" name="TextBox 19"/>
          <p:cNvSpPr txBox="1"/>
          <p:nvPr/>
        </p:nvSpPr>
        <p:spPr>
          <a:xfrm>
            <a:off x="932688" y="5042110"/>
            <a:ext cx="960120" cy="210312"/>
          </a:xfrm>
          <a:prstGeom prst="rect">
            <a:avLst/>
          </a:prstGeom>
          <a:noFill/>
        </p:spPr>
        <p:txBody>
          <a:bodyPr wrap="none">
            <a:spAutoFit/>
          </a:bodyPr>
          <a:lstStyle/>
          <a:p>
            <a:pPr>
              <a:defRPr sz="869" b="1">
                <a:solidFill>
                  <a:srgbClr val="284C7A"/>
                </a:solidFill>
                <a:latin typeface="Aptos"/>
              </a:defRPr>
            </a:pPr>
            <a:r>
              <a:t>Run commands</a:t>
            </a:r>
          </a:p>
        </p:txBody>
      </p:sp>
      <p:sp>
        <p:nvSpPr>
          <p:cNvPr id="21" name="TextBox 20"/>
          <p:cNvSpPr txBox="1"/>
          <p:nvPr/>
        </p:nvSpPr>
        <p:spPr>
          <a:xfrm>
            <a:off x="1901952" y="5042110"/>
            <a:ext cx="3639312" cy="457200"/>
          </a:xfrm>
          <a:prstGeom prst="rect">
            <a:avLst/>
          </a:prstGeom>
          <a:noFill/>
        </p:spPr>
        <p:txBody>
          <a:bodyPr wrap="square">
            <a:spAutoFit/>
          </a:bodyPr>
          <a:lstStyle/>
          <a:p>
            <a:pPr>
              <a:defRPr sz="815">
                <a:solidFill>
                  <a:srgbClr val="525E6C"/>
                </a:solidFill>
                <a:latin typeface="Aptos"/>
              </a:defRPr>
            </a:pPr>
            <a:r>
              <a:t>실행 command는 seokmins/add_env_settings.md 참고.</a:t>
            </a:r>
          </a:p>
        </p:txBody>
      </p:sp>
      <p:sp>
        <p:nvSpPr>
          <p:cNvPr id="22" name="TextBox 21"/>
          <p:cNvSpPr txBox="1"/>
          <p:nvPr/>
        </p:nvSpPr>
        <p:spPr>
          <a:xfrm>
            <a:off x="932688" y="5590750"/>
            <a:ext cx="960120" cy="210312"/>
          </a:xfrm>
          <a:prstGeom prst="rect">
            <a:avLst/>
          </a:prstGeom>
          <a:noFill/>
        </p:spPr>
        <p:txBody>
          <a:bodyPr wrap="none">
            <a:spAutoFit/>
          </a:bodyPr>
          <a:lstStyle/>
          <a:p>
            <a:pPr>
              <a:defRPr sz="869" b="1">
                <a:solidFill>
                  <a:srgbClr val="284C7A"/>
                </a:solidFill>
                <a:latin typeface="Aptos"/>
              </a:defRPr>
            </a:pPr>
            <a:r>
              <a:t>Current VLM</a:t>
            </a:r>
          </a:p>
        </p:txBody>
      </p:sp>
      <p:sp>
        <p:nvSpPr>
          <p:cNvPr id="23" name="TextBox 22"/>
          <p:cNvSpPr txBox="1"/>
          <p:nvPr/>
        </p:nvSpPr>
        <p:spPr>
          <a:xfrm>
            <a:off x="1901952" y="5590750"/>
            <a:ext cx="3639312" cy="457200"/>
          </a:xfrm>
          <a:prstGeom prst="rect">
            <a:avLst/>
          </a:prstGeom>
          <a:noFill/>
        </p:spPr>
        <p:txBody>
          <a:bodyPr wrap="square">
            <a:spAutoFit/>
          </a:bodyPr>
          <a:lstStyle/>
          <a:p>
            <a:pPr>
              <a:defRPr sz="815">
                <a:solidFill>
                  <a:srgbClr val="525E6C"/>
                </a:solidFill>
                <a:latin typeface="Aptos"/>
              </a:defRPr>
            </a:pPr>
            <a:r>
              <a:t>현재는 Qwen2.5-VL-7B-Instruct만 지원.</a:t>
            </a:r>
          </a:p>
        </p:txBody>
      </p:sp>
      <p:sp>
        <p:nvSpPr>
          <p:cNvPr id="24" name="TextBox 23"/>
          <p:cNvSpPr txBox="1"/>
          <p:nvPr/>
        </p:nvSpPr>
        <p:spPr>
          <a:xfrm>
            <a:off x="6382512" y="2417783"/>
            <a:ext cx="4663440" cy="256032"/>
          </a:xfrm>
          <a:prstGeom prst="rect">
            <a:avLst/>
          </a:prstGeom>
          <a:noFill/>
        </p:spPr>
        <p:txBody>
          <a:bodyPr wrap="none">
            <a:spAutoFit/>
          </a:bodyPr>
          <a:lstStyle/>
          <a:p>
            <a:pPr>
              <a:defRPr sz="1150" b="1">
                <a:solidFill>
                  <a:srgbClr val="1C232D"/>
                </a:solidFill>
                <a:latin typeface="Aptos"/>
              </a:defRPr>
            </a:pPr>
            <a:r>
              <a:t>Code / Docker migration</a:t>
            </a:r>
          </a:p>
        </p:txBody>
      </p:sp>
      <p:sp>
        <p:nvSpPr>
          <p:cNvPr id="25" name="Rounded Rectangle 24"/>
          <p:cNvSpPr/>
          <p:nvPr/>
        </p:nvSpPr>
        <p:spPr>
          <a:xfrm>
            <a:off x="6382512" y="2756111"/>
            <a:ext cx="4663440" cy="521207"/>
          </a:xfrm>
          <a:prstGeom prst="roundRect">
            <a:avLst/>
          </a:prstGeom>
          <a:solidFill>
            <a:srgbClr val="F9EFEF"/>
          </a:solidFill>
          <a:ln>
            <a:solidFill>
              <a:srgbClr val="A448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28816" y="2829263"/>
            <a:ext cx="777240" cy="201168"/>
          </a:xfrm>
          <a:prstGeom prst="rect">
            <a:avLst/>
          </a:prstGeom>
          <a:noFill/>
        </p:spPr>
        <p:txBody>
          <a:bodyPr wrap="none">
            <a:spAutoFit/>
          </a:bodyPr>
          <a:lstStyle/>
          <a:p>
            <a:pPr>
              <a:defRPr sz="940" b="1">
                <a:solidFill>
                  <a:srgbClr val="A44848"/>
                </a:solidFill>
                <a:latin typeface="Aptos"/>
              </a:defRPr>
            </a:pPr>
            <a:r>
              <a:t>CaP-X</a:t>
            </a:r>
          </a:p>
        </p:txBody>
      </p:sp>
      <p:sp>
        <p:nvSpPr>
          <p:cNvPr id="27" name="TextBox 26"/>
          <p:cNvSpPr txBox="1"/>
          <p:nvPr/>
        </p:nvSpPr>
        <p:spPr>
          <a:xfrm>
            <a:off x="7315200" y="2829263"/>
            <a:ext cx="658368" cy="201168"/>
          </a:xfrm>
          <a:prstGeom prst="rect">
            <a:avLst/>
          </a:prstGeom>
          <a:noFill/>
        </p:spPr>
        <p:txBody>
          <a:bodyPr wrap="none">
            <a:spAutoFit/>
          </a:bodyPr>
          <a:lstStyle/>
          <a:p>
            <a:pPr>
              <a:defRPr sz="800" b="1">
                <a:solidFill>
                  <a:srgbClr val="A44848"/>
                </a:solidFill>
                <a:latin typeface="Aptos"/>
              </a:defRPr>
            </a:pPr>
            <a:r>
              <a:t>NOT YET</a:t>
            </a:r>
          </a:p>
        </p:txBody>
      </p:sp>
      <p:sp>
        <p:nvSpPr>
          <p:cNvPr id="28" name="TextBox 27"/>
          <p:cNvSpPr txBox="1"/>
          <p:nvPr/>
        </p:nvSpPr>
        <p:spPr>
          <a:xfrm>
            <a:off x="8028431" y="2820119"/>
            <a:ext cx="2788920" cy="347472"/>
          </a:xfrm>
          <a:prstGeom prst="rect">
            <a:avLst/>
          </a:prstGeom>
          <a:noFill/>
        </p:spPr>
        <p:txBody>
          <a:bodyPr wrap="square">
            <a:spAutoFit/>
          </a:bodyPr>
          <a:lstStyle/>
          <a:p>
            <a:pPr>
              <a:defRPr sz="770">
                <a:solidFill>
                  <a:srgbClr val="525E6C"/>
                </a:solidFill>
                <a:latin typeface="Aptos"/>
              </a:defRPr>
            </a:pPr>
            <a:r>
              <a:t>Docker migration pending — tar file was unexpectedly corrupted.</a:t>
            </a:r>
          </a:p>
        </p:txBody>
      </p:sp>
      <p:sp>
        <p:nvSpPr>
          <p:cNvPr id="29" name="Rounded Rectangle 28"/>
          <p:cNvSpPr/>
          <p:nvPr/>
        </p:nvSpPr>
        <p:spPr>
          <a:xfrm>
            <a:off x="6382512" y="3377903"/>
            <a:ext cx="4663440" cy="521207"/>
          </a:xfrm>
          <a:prstGeom prst="roundRect">
            <a:avLst/>
          </a:prstGeom>
          <a:solidFill>
            <a:srgbClr val="EEF7F2"/>
          </a:solidFill>
          <a:ln>
            <a:solidFill>
              <a:srgbClr val="377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28816" y="3451055"/>
            <a:ext cx="777240" cy="201168"/>
          </a:xfrm>
          <a:prstGeom prst="rect">
            <a:avLst/>
          </a:prstGeom>
          <a:noFill/>
        </p:spPr>
        <p:txBody>
          <a:bodyPr wrap="none">
            <a:spAutoFit/>
          </a:bodyPr>
          <a:lstStyle/>
          <a:p>
            <a:pPr>
              <a:defRPr sz="940" b="1">
                <a:solidFill>
                  <a:srgbClr val="377E5C"/>
                </a:solidFill>
                <a:latin typeface="Aptos"/>
              </a:defRPr>
            </a:pPr>
            <a:r>
              <a:t>VoLoAgent</a:t>
            </a:r>
          </a:p>
        </p:txBody>
      </p:sp>
      <p:sp>
        <p:nvSpPr>
          <p:cNvPr id="31" name="TextBox 30"/>
          <p:cNvSpPr txBox="1"/>
          <p:nvPr/>
        </p:nvSpPr>
        <p:spPr>
          <a:xfrm>
            <a:off x="7315200" y="3451055"/>
            <a:ext cx="658368" cy="201168"/>
          </a:xfrm>
          <a:prstGeom prst="rect">
            <a:avLst/>
          </a:prstGeom>
          <a:noFill/>
        </p:spPr>
        <p:txBody>
          <a:bodyPr wrap="none">
            <a:spAutoFit/>
          </a:bodyPr>
          <a:lstStyle/>
          <a:p>
            <a:pPr>
              <a:defRPr sz="800" b="1">
                <a:solidFill>
                  <a:srgbClr val="377E5C"/>
                </a:solidFill>
                <a:latin typeface="Aptos"/>
              </a:defRPr>
            </a:pPr>
            <a:r>
              <a:t>READY</a:t>
            </a:r>
          </a:p>
        </p:txBody>
      </p:sp>
      <p:sp>
        <p:nvSpPr>
          <p:cNvPr id="32" name="TextBox 31"/>
          <p:cNvSpPr txBox="1"/>
          <p:nvPr/>
        </p:nvSpPr>
        <p:spPr>
          <a:xfrm>
            <a:off x="8028431" y="3441911"/>
            <a:ext cx="2788920" cy="347472"/>
          </a:xfrm>
          <a:prstGeom prst="rect">
            <a:avLst/>
          </a:prstGeom>
          <a:noFill/>
        </p:spPr>
        <p:txBody>
          <a:bodyPr wrap="square">
            <a:spAutoFit/>
          </a:bodyPr>
          <a:lstStyle/>
          <a:p>
            <a:pPr>
              <a:defRPr sz="770">
                <a:solidFill>
                  <a:srgbClr val="525E6C"/>
                </a:solidFill>
                <a:latin typeface="Aptos"/>
              </a:defRPr>
            </a:pPr>
            <a:r>
              <a:t>Migration completed; LIBERO run succeeded yesterday.</a:t>
            </a:r>
          </a:p>
        </p:txBody>
      </p:sp>
      <p:sp>
        <p:nvSpPr>
          <p:cNvPr id="33" name="TextBox 32"/>
          <p:cNvSpPr txBox="1"/>
          <p:nvPr/>
        </p:nvSpPr>
        <p:spPr>
          <a:xfrm>
            <a:off x="6382512" y="4109423"/>
            <a:ext cx="4663440" cy="256032"/>
          </a:xfrm>
          <a:prstGeom prst="rect">
            <a:avLst/>
          </a:prstGeom>
          <a:noFill/>
        </p:spPr>
        <p:txBody>
          <a:bodyPr wrap="none">
            <a:spAutoFit/>
          </a:bodyPr>
          <a:lstStyle/>
          <a:p>
            <a:pPr>
              <a:defRPr sz="1150" b="1">
                <a:solidFill>
                  <a:srgbClr val="1C232D"/>
                </a:solidFill>
                <a:latin typeface="Aptos"/>
              </a:defRPr>
            </a:pPr>
            <a:r>
              <a:t>VLMs currently served in the lab</a:t>
            </a:r>
          </a:p>
        </p:txBody>
      </p:sp>
      <p:sp>
        <p:nvSpPr>
          <p:cNvPr id="34" name="Oval 33"/>
          <p:cNvSpPr/>
          <p:nvPr/>
        </p:nvSpPr>
        <p:spPr>
          <a:xfrm>
            <a:off x="6419088" y="456662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79" y="4493471"/>
            <a:ext cx="2084831" cy="292608"/>
          </a:xfrm>
          <a:prstGeom prst="rect">
            <a:avLst/>
          </a:prstGeom>
          <a:noFill/>
        </p:spPr>
        <p:txBody>
          <a:bodyPr wrap="none">
            <a:spAutoFit/>
          </a:bodyPr>
          <a:lstStyle/>
          <a:p>
            <a:pPr>
              <a:defRPr sz="815">
                <a:solidFill>
                  <a:srgbClr val="1C232D"/>
                </a:solidFill>
                <a:latin typeface="Aptos"/>
              </a:defRPr>
            </a:pPr>
            <a:r>
              <a:t>Qwen2.5-VL-3B-Instruct</a:t>
            </a:r>
          </a:p>
        </p:txBody>
      </p:sp>
      <p:sp>
        <p:nvSpPr>
          <p:cNvPr id="36" name="Oval 35"/>
          <p:cNvSpPr/>
          <p:nvPr/>
        </p:nvSpPr>
        <p:spPr>
          <a:xfrm>
            <a:off x="6419088" y="497810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79" y="4904951"/>
            <a:ext cx="2084831" cy="292608"/>
          </a:xfrm>
          <a:prstGeom prst="rect">
            <a:avLst/>
          </a:prstGeom>
          <a:noFill/>
        </p:spPr>
        <p:txBody>
          <a:bodyPr wrap="none">
            <a:spAutoFit/>
          </a:bodyPr>
          <a:lstStyle/>
          <a:p>
            <a:pPr>
              <a:defRPr sz="815">
                <a:solidFill>
                  <a:srgbClr val="1C232D"/>
                </a:solidFill>
                <a:latin typeface="Aptos"/>
              </a:defRPr>
            </a:pPr>
            <a:r>
              <a:t>Qwen2.5-VL-7B-Instruct</a:t>
            </a:r>
          </a:p>
        </p:txBody>
      </p:sp>
      <p:sp>
        <p:nvSpPr>
          <p:cNvPr id="38" name="Oval 37"/>
          <p:cNvSpPr/>
          <p:nvPr/>
        </p:nvSpPr>
        <p:spPr>
          <a:xfrm>
            <a:off x="6419088" y="538958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79" y="5316431"/>
            <a:ext cx="2084831" cy="292608"/>
          </a:xfrm>
          <a:prstGeom prst="rect">
            <a:avLst/>
          </a:prstGeom>
          <a:noFill/>
        </p:spPr>
        <p:txBody>
          <a:bodyPr wrap="none">
            <a:spAutoFit/>
          </a:bodyPr>
          <a:lstStyle/>
          <a:p>
            <a:pPr>
              <a:defRPr sz="815">
                <a:solidFill>
                  <a:srgbClr val="1C232D"/>
                </a:solidFill>
                <a:latin typeface="Aptos"/>
              </a:defRPr>
            </a:pPr>
            <a:r>
              <a:t>Qwen2.5-VL-32B-Instruct</a:t>
            </a:r>
          </a:p>
        </p:txBody>
      </p:sp>
      <p:sp>
        <p:nvSpPr>
          <p:cNvPr id="40" name="Oval 39"/>
          <p:cNvSpPr/>
          <p:nvPr/>
        </p:nvSpPr>
        <p:spPr>
          <a:xfrm>
            <a:off x="6419088" y="580106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83679" y="5727911"/>
            <a:ext cx="2084831" cy="292608"/>
          </a:xfrm>
          <a:prstGeom prst="rect">
            <a:avLst/>
          </a:prstGeom>
          <a:noFill/>
        </p:spPr>
        <p:txBody>
          <a:bodyPr wrap="none">
            <a:spAutoFit/>
          </a:bodyPr>
          <a:lstStyle/>
          <a:p>
            <a:pPr>
              <a:defRPr sz="815">
                <a:solidFill>
                  <a:srgbClr val="1C232D"/>
                </a:solidFill>
                <a:latin typeface="Aptos"/>
              </a:defRPr>
            </a:pPr>
            <a:r>
              <a:t>InternVL2_5-8B</a:t>
            </a:r>
          </a:p>
        </p:txBody>
      </p:sp>
      <p:sp>
        <p:nvSpPr>
          <p:cNvPr id="42" name="Oval 41"/>
          <p:cNvSpPr/>
          <p:nvPr/>
        </p:nvSpPr>
        <p:spPr>
          <a:xfrm>
            <a:off x="8732519" y="456662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897111" y="4493471"/>
            <a:ext cx="2084831" cy="292608"/>
          </a:xfrm>
          <a:prstGeom prst="rect">
            <a:avLst/>
          </a:prstGeom>
          <a:noFill/>
        </p:spPr>
        <p:txBody>
          <a:bodyPr wrap="none">
            <a:spAutoFit/>
          </a:bodyPr>
          <a:lstStyle/>
          <a:p>
            <a:pPr>
              <a:defRPr sz="815">
                <a:solidFill>
                  <a:srgbClr val="1C232D"/>
                </a:solidFill>
                <a:latin typeface="Aptos"/>
              </a:defRPr>
            </a:pPr>
            <a:r>
              <a:t>InternVL2_5-38B</a:t>
            </a:r>
          </a:p>
        </p:txBody>
      </p:sp>
      <p:sp>
        <p:nvSpPr>
          <p:cNvPr id="44" name="Oval 43"/>
          <p:cNvSpPr/>
          <p:nvPr/>
        </p:nvSpPr>
        <p:spPr>
          <a:xfrm>
            <a:off x="8732519" y="497810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897111" y="4904951"/>
            <a:ext cx="2084831" cy="292608"/>
          </a:xfrm>
          <a:prstGeom prst="rect">
            <a:avLst/>
          </a:prstGeom>
          <a:noFill/>
        </p:spPr>
        <p:txBody>
          <a:bodyPr wrap="none">
            <a:spAutoFit/>
          </a:bodyPr>
          <a:lstStyle/>
          <a:p>
            <a:pPr>
              <a:defRPr sz="815">
                <a:solidFill>
                  <a:srgbClr val="1C232D"/>
                </a:solidFill>
                <a:latin typeface="Aptos"/>
              </a:defRPr>
            </a:pPr>
            <a:r>
              <a:t>DeepSeek-VL2 (27B MoE)</a:t>
            </a:r>
          </a:p>
        </p:txBody>
      </p:sp>
      <p:sp>
        <p:nvSpPr>
          <p:cNvPr id="46" name="Oval 45"/>
          <p:cNvSpPr/>
          <p:nvPr/>
        </p:nvSpPr>
        <p:spPr>
          <a:xfrm>
            <a:off x="8732519" y="5389583"/>
            <a:ext cx="91440" cy="91440"/>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897111" y="5316431"/>
            <a:ext cx="2084831" cy="292608"/>
          </a:xfrm>
          <a:prstGeom prst="rect">
            <a:avLst/>
          </a:prstGeom>
          <a:noFill/>
        </p:spPr>
        <p:txBody>
          <a:bodyPr wrap="none">
            <a:spAutoFit/>
          </a:bodyPr>
          <a:lstStyle/>
          <a:p>
            <a:pPr>
              <a:defRPr sz="815">
                <a:solidFill>
                  <a:srgbClr val="1C232D"/>
                </a:solidFill>
                <a:latin typeface="Aptos"/>
              </a:defRPr>
            </a:pPr>
            <a:r>
              <a:t>Phi-4-multimodal-instruct (14B)</a:t>
            </a:r>
          </a:p>
        </p:txBody>
      </p:sp>
      <p:sp>
        <p:nvSpPr>
          <p:cNvPr id="48" name="Rounded Rectangle 47"/>
          <p:cNvSpPr/>
          <p:nvPr/>
        </p:nvSpPr>
        <p:spPr>
          <a:xfrm>
            <a:off x="658368" y="6473952"/>
            <a:ext cx="10680192" cy="228600"/>
          </a:xfrm>
          <a:prstGeom prst="roundRect">
            <a:avLst/>
          </a:prstGeom>
          <a:solidFill>
            <a:srgbClr val="F9F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80" b="1">
                <a:solidFill>
                  <a:srgbClr val="AE7325"/>
                </a:solidFill>
                <a:latin typeface="Aptos"/>
              </a:defRPr>
            </a:pPr>
            <a:r>
              <a:t>Home: benchmark compatibility largely verified   |   Lab: VoLo ready, CaP-X Docker migration remains</a:t>
            </a:r>
          </a:p>
        </p:txBody>
      </p:sp>
      <p:sp>
        <p:nvSpPr>
          <p:cNvPr id="49" name="TextBox 48"/>
          <p:cNvSpPr txBox="1"/>
          <p:nvPr/>
        </p:nvSpPr>
        <p:spPr>
          <a:xfrm>
            <a:off x="10991088" y="6656832"/>
            <a:ext cx="256032" cy="109728"/>
          </a:xfrm>
          <a:prstGeom prst="rect">
            <a:avLst/>
          </a:prstGeom>
          <a:noFill/>
        </p:spPr>
        <p:txBody>
          <a:bodyPr wrap="none">
            <a:spAutoFit/>
          </a:bodyPr>
          <a:lstStyle/>
          <a:p>
            <a:pPr algn="r">
              <a:defRPr sz="850">
                <a:solidFill>
                  <a:srgbClr val="969CA5"/>
                </a:solidFill>
                <a:latin typeface="Aptos"/>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65760"/>
            <a:ext cx="5486400" cy="256032"/>
          </a:xfrm>
          <a:prstGeom prst="rect">
            <a:avLst/>
          </a:prstGeom>
          <a:noFill/>
        </p:spPr>
        <p:txBody>
          <a:bodyPr wrap="none">
            <a:spAutoFit/>
          </a:bodyPr>
          <a:lstStyle/>
          <a:p>
            <a:pPr>
              <a:defRPr sz="1100" b="1">
                <a:solidFill>
                  <a:srgbClr val="536070"/>
                </a:solidFill>
                <a:latin typeface="Aptos"/>
              </a:defRPr>
            </a:pPr>
            <a:r>
              <a:t>ROAD MAP · PROBLEM SETTING</a:t>
            </a:r>
          </a:p>
        </p:txBody>
      </p:sp>
      <p:sp>
        <p:nvSpPr>
          <p:cNvPr id="4" name="TextBox 3"/>
          <p:cNvSpPr txBox="1"/>
          <p:nvPr/>
        </p:nvSpPr>
        <p:spPr>
          <a:xfrm>
            <a:off x="640080" y="694944"/>
            <a:ext cx="8229600" cy="475488"/>
          </a:xfrm>
          <a:prstGeom prst="rect">
            <a:avLst/>
          </a:prstGeom>
          <a:noFill/>
        </p:spPr>
        <p:txBody>
          <a:bodyPr wrap="none">
            <a:spAutoFit/>
          </a:bodyPr>
          <a:lstStyle/>
          <a:p>
            <a:pPr>
              <a:defRPr sz="2600" b="1">
                <a:solidFill>
                  <a:srgbClr val="1C232D"/>
                </a:solidFill>
                <a:latin typeface="Aptos Display"/>
              </a:defRPr>
            </a:pPr>
            <a:r>
              <a:t>What Problem Should We Focus On?</a:t>
            </a:r>
          </a:p>
        </p:txBody>
      </p:sp>
      <p:sp>
        <p:nvSpPr>
          <p:cNvPr id="5" name="TextBox 4"/>
          <p:cNvSpPr txBox="1"/>
          <p:nvPr/>
        </p:nvSpPr>
        <p:spPr>
          <a:xfrm>
            <a:off x="658368" y="1197864"/>
            <a:ext cx="9601200" cy="274320"/>
          </a:xfrm>
          <a:prstGeom prst="rect">
            <a:avLst/>
          </a:prstGeom>
          <a:noFill/>
        </p:spPr>
        <p:txBody>
          <a:bodyPr wrap="none">
            <a:spAutoFit/>
          </a:bodyPr>
          <a:lstStyle/>
          <a:p>
            <a:pPr>
              <a:defRPr sz="1200">
                <a:solidFill>
                  <a:srgbClr val="525E6C"/>
                </a:solidFill>
                <a:latin typeface="Aptos"/>
              </a:defRPr>
            </a:pPr>
            <a:r>
              <a:t>First decision: specialize in long-horizon manipulation, or target broad generalist improvement?</a:t>
            </a:r>
          </a:p>
        </p:txBody>
      </p:sp>
      <p:sp>
        <p:nvSpPr>
          <p:cNvPr id="6" name="Rounded Rectangle 5"/>
          <p:cNvSpPr/>
          <p:nvPr/>
        </p:nvSpPr>
        <p:spPr>
          <a:xfrm>
            <a:off x="658368" y="1700784"/>
            <a:ext cx="5166360" cy="3246120"/>
          </a:xfrm>
          <a:prstGeom prst="roundRect">
            <a:avLst/>
          </a:prstGeom>
          <a:solidFill>
            <a:srgbClr val="FFFFFF"/>
          </a:solidFill>
          <a:ln w="19050">
            <a:solidFill>
              <a:srgbClr val="284C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9536" y="1883664"/>
            <a:ext cx="4764024" cy="658368"/>
          </a:xfrm>
          <a:prstGeom prst="round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284C7A"/>
                </a:solidFill>
                <a:latin typeface="Aptos"/>
              </a:defRPr>
            </a:pPr>
            <a:r>
              <a:t>Long-Horizon Manipulation</a:t>
            </a:r>
          </a:p>
          <a:p>
            <a:pPr algn="ctr">
              <a:defRPr sz="900">
                <a:solidFill>
                  <a:srgbClr val="525E6C"/>
                </a:solidFill>
                <a:latin typeface="Aptos"/>
              </a:defRPr>
            </a:pPr>
            <a:r>
              <a:t>Specialized strength</a:t>
            </a:r>
          </a:p>
        </p:txBody>
      </p:sp>
      <p:sp>
        <p:nvSpPr>
          <p:cNvPr id="8" name="Rounded Rectangle 7"/>
          <p:cNvSpPr/>
          <p:nvPr/>
        </p:nvSpPr>
        <p:spPr>
          <a:xfrm>
            <a:off x="4654296" y="1581912"/>
            <a:ext cx="960120" cy="292608"/>
          </a:xfrm>
          <a:prstGeom prst="round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FFFFFF"/>
                </a:solidFill>
                <a:latin typeface="Aptos"/>
              </a:defRPr>
            </a:pPr>
            <a:r>
              <a:t>MY PICK</a:t>
            </a:r>
          </a:p>
        </p:txBody>
      </p:sp>
      <p:sp>
        <p:nvSpPr>
          <p:cNvPr id="9" name="TextBox 8"/>
          <p:cNvSpPr txBox="1"/>
          <p:nvPr/>
        </p:nvSpPr>
        <p:spPr>
          <a:xfrm>
            <a:off x="1005840" y="2779776"/>
            <a:ext cx="4471416" cy="566928"/>
          </a:xfrm>
          <a:prstGeom prst="rect">
            <a:avLst/>
          </a:prstGeom>
          <a:noFill/>
        </p:spPr>
        <p:txBody>
          <a:bodyPr wrap="square">
            <a:spAutoFit/>
          </a:bodyPr>
          <a:lstStyle/>
          <a:p>
            <a:pPr algn="ctr">
              <a:defRPr sz="1100" b="1">
                <a:solidFill>
                  <a:srgbClr val="1C232D"/>
                </a:solidFill>
                <a:latin typeface="Aptos"/>
              </a:defRPr>
            </a:pPr>
            <a:r>
              <a:t>Be substantially better on long-horizon tasks while remaining comparable on other tasks.</a:t>
            </a:r>
          </a:p>
        </p:txBody>
      </p:sp>
      <p:sp>
        <p:nvSpPr>
          <p:cNvPr id="10" name="Oval 9"/>
          <p:cNvSpPr/>
          <p:nvPr/>
        </p:nvSpPr>
        <p:spPr>
          <a:xfrm>
            <a:off x="1133856" y="3602736"/>
            <a:ext cx="100584" cy="100584"/>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53312" y="3529584"/>
            <a:ext cx="4114800" cy="384048"/>
          </a:xfrm>
          <a:prstGeom prst="rect">
            <a:avLst/>
          </a:prstGeom>
          <a:noFill/>
        </p:spPr>
        <p:txBody>
          <a:bodyPr wrap="square">
            <a:spAutoFit/>
          </a:bodyPr>
          <a:lstStyle/>
          <a:p>
            <a:pPr>
              <a:defRPr sz="930">
                <a:solidFill>
                  <a:srgbClr val="525E6C"/>
                </a:solidFill>
                <a:latin typeface="Aptos"/>
              </a:defRPr>
            </a:pPr>
            <a:r>
              <a:t>Clear target failure modes across long execution sequences</a:t>
            </a:r>
          </a:p>
        </p:txBody>
      </p:sp>
      <p:sp>
        <p:nvSpPr>
          <p:cNvPr id="12" name="Oval 11"/>
          <p:cNvSpPr/>
          <p:nvPr/>
        </p:nvSpPr>
        <p:spPr>
          <a:xfrm>
            <a:off x="1133856" y="4114800"/>
            <a:ext cx="100584" cy="100584"/>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3312" y="4041648"/>
            <a:ext cx="4114800" cy="384048"/>
          </a:xfrm>
          <a:prstGeom prst="rect">
            <a:avLst/>
          </a:prstGeom>
          <a:noFill/>
        </p:spPr>
        <p:txBody>
          <a:bodyPr wrap="square">
            <a:spAutoFit/>
          </a:bodyPr>
          <a:lstStyle/>
          <a:p>
            <a:pPr>
              <a:defRPr sz="930">
                <a:solidFill>
                  <a:srgbClr val="525E6C"/>
                </a:solidFill>
                <a:latin typeface="Aptos"/>
              </a:defRPr>
            </a:pPr>
            <a:r>
              <a:t>Easier to isolate where current agents fail: planning, monitoring, recovery, memory</a:t>
            </a:r>
          </a:p>
        </p:txBody>
      </p:sp>
      <p:sp>
        <p:nvSpPr>
          <p:cNvPr id="14" name="Oval 13"/>
          <p:cNvSpPr/>
          <p:nvPr/>
        </p:nvSpPr>
        <p:spPr>
          <a:xfrm>
            <a:off x="1133856" y="4626864"/>
            <a:ext cx="100584" cy="100584"/>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53312" y="4553712"/>
            <a:ext cx="4114800" cy="384048"/>
          </a:xfrm>
          <a:prstGeom prst="rect">
            <a:avLst/>
          </a:prstGeom>
          <a:noFill/>
        </p:spPr>
        <p:txBody>
          <a:bodyPr wrap="square">
            <a:spAutoFit/>
          </a:bodyPr>
          <a:lstStyle/>
          <a:p>
            <a:pPr>
              <a:defRPr sz="930">
                <a:solidFill>
                  <a:srgbClr val="525E6C"/>
                </a:solidFill>
                <a:latin typeface="Aptos"/>
              </a:defRPr>
            </a:pPr>
            <a:r>
              <a:t>Benchmark selection can directly emphasize long-horizon capability</a:t>
            </a:r>
          </a:p>
        </p:txBody>
      </p:sp>
      <p:sp>
        <p:nvSpPr>
          <p:cNvPr id="16" name="Rounded Rectangle 15"/>
          <p:cNvSpPr/>
          <p:nvPr/>
        </p:nvSpPr>
        <p:spPr>
          <a:xfrm>
            <a:off x="6108192" y="1700784"/>
            <a:ext cx="5166360" cy="3246120"/>
          </a:xfrm>
          <a:prstGeom prst="roundRect">
            <a:avLst/>
          </a:prstGeom>
          <a:solidFill>
            <a:srgbClr val="FFFFFF"/>
          </a:solidFill>
          <a:ln w="1270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9359" y="1883664"/>
            <a:ext cx="4764024" cy="658368"/>
          </a:xfrm>
          <a:prstGeom prst="roundRect">
            <a:avLst/>
          </a:prstGeom>
          <a:solidFill>
            <a:srgbClr val="F2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5B4CA0"/>
                </a:solidFill>
                <a:latin typeface="Aptos"/>
              </a:defRPr>
            </a:pPr>
            <a:r>
              <a:t>Generalist</a:t>
            </a:r>
          </a:p>
          <a:p>
            <a:pPr algn="ctr">
              <a:defRPr sz="900">
                <a:solidFill>
                  <a:srgbClr val="525E6C"/>
                </a:solidFill>
                <a:latin typeface="Aptos"/>
              </a:defRPr>
            </a:pPr>
            <a:r>
              <a:t>Broad improvement</a:t>
            </a:r>
          </a:p>
        </p:txBody>
      </p:sp>
      <p:sp>
        <p:nvSpPr>
          <p:cNvPr id="18" name="TextBox 17"/>
          <p:cNvSpPr txBox="1"/>
          <p:nvPr/>
        </p:nvSpPr>
        <p:spPr>
          <a:xfrm>
            <a:off x="6455664" y="2779776"/>
            <a:ext cx="4471416" cy="566928"/>
          </a:xfrm>
          <a:prstGeom prst="rect">
            <a:avLst/>
          </a:prstGeom>
          <a:noFill/>
        </p:spPr>
        <p:txBody>
          <a:bodyPr wrap="square">
            <a:spAutoFit/>
          </a:bodyPr>
          <a:lstStyle/>
          <a:p>
            <a:pPr algn="ctr">
              <a:defRPr sz="1100" b="1">
                <a:solidFill>
                  <a:srgbClr val="1C232D"/>
                </a:solidFill>
                <a:latin typeface="Aptos"/>
              </a:defRPr>
            </a:pPr>
            <a:r>
              <a:t>Achieve meaningful gains across many different task types and capabilities.</a:t>
            </a:r>
          </a:p>
        </p:txBody>
      </p:sp>
      <p:sp>
        <p:nvSpPr>
          <p:cNvPr id="19" name="Oval 18"/>
          <p:cNvSpPr/>
          <p:nvPr/>
        </p:nvSpPr>
        <p:spPr>
          <a:xfrm>
            <a:off x="6583679" y="3602736"/>
            <a:ext cx="100584" cy="100584"/>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03136" y="3529584"/>
            <a:ext cx="4114800" cy="384048"/>
          </a:xfrm>
          <a:prstGeom prst="rect">
            <a:avLst/>
          </a:prstGeom>
          <a:noFill/>
        </p:spPr>
        <p:txBody>
          <a:bodyPr wrap="square">
            <a:spAutoFit/>
          </a:bodyPr>
          <a:lstStyle/>
          <a:p>
            <a:pPr>
              <a:defRPr sz="930">
                <a:solidFill>
                  <a:srgbClr val="525E6C"/>
                </a:solidFill>
                <a:latin typeface="Aptos"/>
              </a:defRPr>
            </a:pPr>
            <a:r>
              <a:t>Broader and potentially stronger final claim</a:t>
            </a:r>
          </a:p>
        </p:txBody>
      </p:sp>
      <p:sp>
        <p:nvSpPr>
          <p:cNvPr id="21" name="Oval 20"/>
          <p:cNvSpPr/>
          <p:nvPr/>
        </p:nvSpPr>
        <p:spPr>
          <a:xfrm>
            <a:off x="6583679" y="4114800"/>
            <a:ext cx="100584" cy="100584"/>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03136" y="4041648"/>
            <a:ext cx="4114800" cy="384048"/>
          </a:xfrm>
          <a:prstGeom prst="rect">
            <a:avLst/>
          </a:prstGeom>
          <a:noFill/>
        </p:spPr>
        <p:txBody>
          <a:bodyPr wrap="square">
            <a:spAutoFit/>
          </a:bodyPr>
          <a:lstStyle/>
          <a:p>
            <a:pPr>
              <a:defRPr sz="930">
                <a:solidFill>
                  <a:srgbClr val="525E6C"/>
                </a:solidFill>
                <a:latin typeface="Aptos"/>
              </a:defRPr>
            </a:pPr>
            <a:r>
              <a:t>Requires improvements that transfer across heterogeneous tasks</a:t>
            </a:r>
          </a:p>
        </p:txBody>
      </p:sp>
      <p:sp>
        <p:nvSpPr>
          <p:cNvPr id="23" name="Oval 22"/>
          <p:cNvSpPr/>
          <p:nvPr/>
        </p:nvSpPr>
        <p:spPr>
          <a:xfrm>
            <a:off x="6583679" y="4626864"/>
            <a:ext cx="100584" cy="100584"/>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03136" y="4553712"/>
            <a:ext cx="4114800" cy="384048"/>
          </a:xfrm>
          <a:prstGeom prst="rect">
            <a:avLst/>
          </a:prstGeom>
          <a:noFill/>
        </p:spPr>
        <p:txBody>
          <a:bodyPr wrap="square">
            <a:spAutoFit/>
          </a:bodyPr>
          <a:lstStyle/>
          <a:p>
            <a:pPr>
              <a:defRPr sz="930">
                <a:solidFill>
                  <a:srgbClr val="525E6C"/>
                </a:solidFill>
                <a:latin typeface="Aptos"/>
              </a:defRPr>
            </a:pPr>
            <a:r>
              <a:t>Harder to identify one shared limitation that explains performance gaps</a:t>
            </a:r>
          </a:p>
        </p:txBody>
      </p:sp>
      <p:sp>
        <p:nvSpPr>
          <p:cNvPr id="25" name="Rounded Rectangle 24"/>
          <p:cNvSpPr/>
          <p:nvPr/>
        </p:nvSpPr>
        <p:spPr>
          <a:xfrm>
            <a:off x="1097280" y="5285232"/>
            <a:ext cx="10012680" cy="932688"/>
          </a:xfrm>
          <a:prstGeom prst="roundRect">
            <a:avLst/>
          </a:prstGeom>
          <a:solidFill>
            <a:srgbClr val="EEF7F2"/>
          </a:solidFill>
          <a:ln w="15240">
            <a:solidFill>
              <a:srgbClr val="377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77E5C"/>
                </a:solidFill>
                <a:latin typeface="Aptos"/>
              </a:defRPr>
            </a:pPr>
            <a:r>
              <a:t>Current Direction: Long-Horizon Manipulation</a:t>
            </a:r>
          </a:p>
          <a:p>
            <a:pPr algn="ctr">
              <a:defRPr sz="1030">
                <a:solidFill>
                  <a:srgbClr val="1C232D"/>
                </a:solidFill>
                <a:latin typeface="Aptos"/>
              </a:defRPr>
            </a:pPr>
            <a:r>
              <a:t>Long-horizon tasks seem like a better starting point because the limitations of existing agents are relatively easier to expose and analyze.</a:t>
            </a:r>
          </a:p>
        </p:txBody>
      </p:sp>
      <p:sp>
        <p:nvSpPr>
          <p:cNvPr id="26" name="TextBox 25"/>
          <p:cNvSpPr txBox="1"/>
          <p:nvPr/>
        </p:nvSpPr>
        <p:spPr>
          <a:xfrm>
            <a:off x="10927080" y="6601968"/>
            <a:ext cx="320040" cy="146304"/>
          </a:xfrm>
          <a:prstGeom prst="rect">
            <a:avLst/>
          </a:prstGeom>
          <a:noFill/>
        </p:spPr>
        <p:txBody>
          <a:bodyPr wrap="none">
            <a:spAutoFit/>
          </a:bodyPr>
          <a:lstStyle/>
          <a:p>
            <a:pPr algn="r">
              <a:defRPr sz="900">
                <a:solidFill>
                  <a:srgbClr val="969CA5"/>
                </a:solidFill>
                <a:latin typeface="Aptos"/>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65760"/>
            <a:ext cx="5486400" cy="256032"/>
          </a:xfrm>
          <a:prstGeom prst="rect">
            <a:avLst/>
          </a:prstGeom>
          <a:noFill/>
        </p:spPr>
        <p:txBody>
          <a:bodyPr wrap="none">
            <a:spAutoFit/>
          </a:bodyPr>
          <a:lstStyle/>
          <a:p>
            <a:pPr>
              <a:defRPr sz="1100" b="1">
                <a:solidFill>
                  <a:srgbClr val="536070"/>
                </a:solidFill>
                <a:latin typeface="Aptos"/>
              </a:defRPr>
            </a:pPr>
            <a:r>
              <a:t>NEXT STEP · BEFORE THE NEXT MEETING</a:t>
            </a:r>
          </a:p>
        </p:txBody>
      </p:sp>
      <p:sp>
        <p:nvSpPr>
          <p:cNvPr id="4" name="TextBox 3"/>
          <p:cNvSpPr txBox="1"/>
          <p:nvPr/>
        </p:nvSpPr>
        <p:spPr>
          <a:xfrm>
            <a:off x="640080" y="694944"/>
            <a:ext cx="7315200" cy="475488"/>
          </a:xfrm>
          <a:prstGeom prst="rect">
            <a:avLst/>
          </a:prstGeom>
          <a:noFill/>
        </p:spPr>
        <p:txBody>
          <a:bodyPr wrap="none">
            <a:spAutoFit/>
          </a:bodyPr>
          <a:lstStyle/>
          <a:p>
            <a:pPr>
              <a:defRPr sz="2700" b="1">
                <a:solidFill>
                  <a:srgbClr val="1C232D"/>
                </a:solidFill>
                <a:latin typeface="Aptos Display"/>
              </a:defRPr>
            </a:pPr>
            <a:r>
              <a:t>Next Meeting</a:t>
            </a:r>
          </a:p>
        </p:txBody>
      </p:sp>
      <p:sp>
        <p:nvSpPr>
          <p:cNvPr id="5" name="TextBox 4"/>
          <p:cNvSpPr txBox="1"/>
          <p:nvPr/>
        </p:nvSpPr>
        <p:spPr>
          <a:xfrm>
            <a:off x="658368" y="1207008"/>
            <a:ext cx="9144000" cy="274320"/>
          </a:xfrm>
          <a:prstGeom prst="rect">
            <a:avLst/>
          </a:prstGeom>
          <a:noFill/>
        </p:spPr>
        <p:txBody>
          <a:bodyPr wrap="none">
            <a:spAutoFit/>
          </a:bodyPr>
          <a:lstStyle/>
          <a:p>
            <a:pPr>
              <a:defRPr sz="1220">
                <a:solidFill>
                  <a:srgbClr val="525E6C"/>
                </a:solidFill>
                <a:latin typeface="Aptos"/>
              </a:defRPr>
            </a:pPr>
            <a:r>
              <a:t>Study the benchmark landscape first → then decide together what we should evaluate on.</a:t>
            </a:r>
          </a:p>
        </p:txBody>
      </p:sp>
      <p:sp>
        <p:nvSpPr>
          <p:cNvPr id="6" name="Rounded Rectangle 5"/>
          <p:cNvSpPr/>
          <p:nvPr/>
        </p:nvSpPr>
        <p:spPr>
          <a:xfrm>
            <a:off x="658368" y="1938528"/>
            <a:ext cx="3090672" cy="3337560"/>
          </a:xfrm>
          <a:prstGeom prst="roundRect">
            <a:avLst/>
          </a:prstGeom>
          <a:solidFill>
            <a:srgbClr val="FFFFFF"/>
          </a:solidFill>
          <a:ln w="1397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956815" y="2194560"/>
            <a:ext cx="493776" cy="493776"/>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01</a:t>
            </a:r>
          </a:p>
        </p:txBody>
      </p:sp>
      <p:sp>
        <p:nvSpPr>
          <p:cNvPr id="8" name="TextBox 7"/>
          <p:cNvSpPr txBox="1"/>
          <p:nvPr/>
        </p:nvSpPr>
        <p:spPr>
          <a:xfrm>
            <a:off x="914400" y="2834640"/>
            <a:ext cx="2578608" cy="310896"/>
          </a:xfrm>
          <a:prstGeom prst="rect">
            <a:avLst/>
          </a:prstGeom>
          <a:noFill/>
        </p:spPr>
        <p:txBody>
          <a:bodyPr wrap="none">
            <a:spAutoFit/>
          </a:bodyPr>
          <a:lstStyle/>
          <a:p>
            <a:pPr algn="ctr">
              <a:defRPr sz="1500" b="1">
                <a:solidFill>
                  <a:srgbClr val="284C7A"/>
                </a:solidFill>
                <a:latin typeface="Aptos"/>
              </a:defRPr>
            </a:pPr>
            <a:r>
              <a:t>Benchmark Study</a:t>
            </a:r>
          </a:p>
        </p:txBody>
      </p:sp>
      <p:sp>
        <p:nvSpPr>
          <p:cNvPr id="9" name="TextBox 8"/>
          <p:cNvSpPr txBox="1"/>
          <p:nvPr/>
        </p:nvSpPr>
        <p:spPr>
          <a:xfrm>
            <a:off x="932688" y="3218688"/>
            <a:ext cx="2542032" cy="585216"/>
          </a:xfrm>
          <a:prstGeom prst="rect">
            <a:avLst/>
          </a:prstGeom>
          <a:noFill/>
        </p:spPr>
        <p:txBody>
          <a:bodyPr wrap="square">
            <a:spAutoFit/>
          </a:bodyPr>
          <a:lstStyle/>
          <a:p>
            <a:pPr algn="ctr">
              <a:defRPr sz="930" b="1">
                <a:solidFill>
                  <a:srgbClr val="1C232D"/>
                </a:solidFill>
                <a:latin typeface="Aptos"/>
              </a:defRPr>
            </a:pPr>
            <a:r>
              <a:t>각 benchmark가 무엇을 측정하는지 공부</a:t>
            </a:r>
          </a:p>
        </p:txBody>
      </p:sp>
      <p:sp>
        <p:nvSpPr>
          <p:cNvPr id="10" name="Oval 9"/>
          <p:cNvSpPr/>
          <p:nvPr/>
        </p:nvSpPr>
        <p:spPr>
          <a:xfrm>
            <a:off x="978407" y="3620661"/>
            <a:ext cx="82296" cy="82296"/>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61288" y="3556474"/>
            <a:ext cx="2267712" cy="384048"/>
          </a:xfrm>
          <a:prstGeom prst="rect">
            <a:avLst/>
          </a:prstGeom>
          <a:noFill/>
        </p:spPr>
        <p:txBody>
          <a:bodyPr wrap="square">
            <a:spAutoFit/>
          </a:bodyPr>
          <a:lstStyle/>
          <a:p>
            <a:pPr>
              <a:defRPr sz="819">
                <a:solidFill>
                  <a:srgbClr val="525E6C"/>
                </a:solidFill>
                <a:latin typeface="Aptos"/>
              </a:defRPr>
            </a:pPr>
            <a:r>
              <a:t>Long-horizon capability</a:t>
            </a:r>
          </a:p>
        </p:txBody>
      </p:sp>
      <p:sp>
        <p:nvSpPr>
          <p:cNvPr id="12" name="Oval 11"/>
          <p:cNvSpPr/>
          <p:nvPr/>
        </p:nvSpPr>
        <p:spPr>
          <a:xfrm>
            <a:off x="978407" y="4004709"/>
            <a:ext cx="82296" cy="82296"/>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61288" y="3940522"/>
            <a:ext cx="2267712" cy="384048"/>
          </a:xfrm>
          <a:prstGeom prst="rect">
            <a:avLst/>
          </a:prstGeom>
          <a:noFill/>
        </p:spPr>
        <p:txBody>
          <a:bodyPr wrap="square">
            <a:spAutoFit/>
          </a:bodyPr>
          <a:lstStyle/>
          <a:p>
            <a:pPr>
              <a:defRPr sz="819">
                <a:solidFill>
                  <a:srgbClr val="525E6C"/>
                </a:solidFill>
                <a:latin typeface="Aptos"/>
              </a:defRPr>
            </a:pPr>
            <a:r>
              <a:t>Task difficulty / diversity</a:t>
            </a:r>
          </a:p>
        </p:txBody>
      </p:sp>
      <p:sp>
        <p:nvSpPr>
          <p:cNvPr id="14" name="Oval 13"/>
          <p:cNvSpPr/>
          <p:nvPr/>
        </p:nvSpPr>
        <p:spPr>
          <a:xfrm>
            <a:off x="978407" y="4388757"/>
            <a:ext cx="82296" cy="82296"/>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61288" y="4324570"/>
            <a:ext cx="2267712" cy="384048"/>
          </a:xfrm>
          <a:prstGeom prst="rect">
            <a:avLst/>
          </a:prstGeom>
          <a:noFill/>
        </p:spPr>
        <p:txBody>
          <a:bodyPr wrap="square">
            <a:spAutoFit/>
          </a:bodyPr>
          <a:lstStyle/>
          <a:p>
            <a:pPr>
              <a:defRPr sz="819">
                <a:solidFill>
                  <a:srgbClr val="525E6C"/>
                </a:solidFill>
                <a:latin typeface="Aptos"/>
              </a:defRPr>
            </a:pPr>
            <a:r>
              <a:t>Generalization / robustness</a:t>
            </a:r>
          </a:p>
        </p:txBody>
      </p:sp>
      <p:sp>
        <p:nvSpPr>
          <p:cNvPr id="16" name="Oval 15"/>
          <p:cNvSpPr/>
          <p:nvPr/>
        </p:nvSpPr>
        <p:spPr>
          <a:xfrm>
            <a:off x="978407" y="4772805"/>
            <a:ext cx="82296" cy="82296"/>
          </a:xfrm>
          <a:prstGeom prst="ellipse">
            <a:avLst/>
          </a:prstGeom>
          <a:solidFill>
            <a:srgbClr val="284C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61288" y="4708618"/>
            <a:ext cx="2267712" cy="384048"/>
          </a:xfrm>
          <a:prstGeom prst="rect">
            <a:avLst/>
          </a:prstGeom>
          <a:noFill/>
        </p:spPr>
        <p:txBody>
          <a:bodyPr wrap="square">
            <a:spAutoFit/>
          </a:bodyPr>
          <a:lstStyle/>
          <a:p>
            <a:pPr>
              <a:defRPr sz="819">
                <a:solidFill>
                  <a:srgbClr val="525E6C"/>
                </a:solidFill>
                <a:latin typeface="Aptos"/>
              </a:defRPr>
            </a:pPr>
            <a:r>
              <a:t>Suitability for our problem setting</a:t>
            </a:r>
          </a:p>
        </p:txBody>
      </p:sp>
      <p:sp>
        <p:nvSpPr>
          <p:cNvPr id="18" name="Rounded Rectangle 17"/>
          <p:cNvSpPr/>
          <p:nvPr/>
        </p:nvSpPr>
        <p:spPr>
          <a:xfrm>
            <a:off x="4096512" y="1938528"/>
            <a:ext cx="3090672" cy="3337560"/>
          </a:xfrm>
          <a:prstGeom prst="roundRect">
            <a:avLst/>
          </a:prstGeom>
          <a:solidFill>
            <a:srgbClr val="FFFFFF"/>
          </a:solidFill>
          <a:ln w="1397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394960" y="2194560"/>
            <a:ext cx="493776" cy="493776"/>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02</a:t>
            </a:r>
          </a:p>
        </p:txBody>
      </p:sp>
      <p:sp>
        <p:nvSpPr>
          <p:cNvPr id="20" name="TextBox 19"/>
          <p:cNvSpPr txBox="1"/>
          <p:nvPr/>
        </p:nvSpPr>
        <p:spPr>
          <a:xfrm>
            <a:off x="4352544" y="2834640"/>
            <a:ext cx="2578608" cy="310896"/>
          </a:xfrm>
          <a:prstGeom prst="rect">
            <a:avLst/>
          </a:prstGeom>
          <a:noFill/>
        </p:spPr>
        <p:txBody>
          <a:bodyPr wrap="none">
            <a:spAutoFit/>
          </a:bodyPr>
          <a:lstStyle/>
          <a:p>
            <a:pPr algn="ctr">
              <a:defRPr sz="1500" b="1">
                <a:solidFill>
                  <a:srgbClr val="5B4CA0"/>
                </a:solidFill>
                <a:latin typeface="Aptos"/>
              </a:defRPr>
            </a:pPr>
            <a:r>
              <a:t>Benchmark Selection</a:t>
            </a:r>
          </a:p>
        </p:txBody>
      </p:sp>
      <p:sp>
        <p:nvSpPr>
          <p:cNvPr id="21" name="TextBox 20"/>
          <p:cNvSpPr txBox="1"/>
          <p:nvPr/>
        </p:nvSpPr>
        <p:spPr>
          <a:xfrm>
            <a:off x="4370832" y="3218688"/>
            <a:ext cx="2542032" cy="585216"/>
          </a:xfrm>
          <a:prstGeom prst="rect">
            <a:avLst/>
          </a:prstGeom>
          <a:noFill/>
        </p:spPr>
        <p:txBody>
          <a:bodyPr wrap="square">
            <a:spAutoFit/>
          </a:bodyPr>
          <a:lstStyle/>
          <a:p>
            <a:pPr algn="ctr">
              <a:defRPr sz="930" b="1">
                <a:solidFill>
                  <a:srgbClr val="1C232D"/>
                </a:solidFill>
                <a:latin typeface="Aptos"/>
              </a:defRPr>
            </a:pPr>
            <a:r>
              <a:t>다음 미팅에서 같이 논의해서 최종 benchmark 선정</a:t>
            </a:r>
          </a:p>
        </p:txBody>
      </p:sp>
      <p:sp>
        <p:nvSpPr>
          <p:cNvPr id="22" name="Oval 21"/>
          <p:cNvSpPr/>
          <p:nvPr/>
        </p:nvSpPr>
        <p:spPr>
          <a:xfrm>
            <a:off x="4416552" y="3808922"/>
            <a:ext cx="82296" cy="82296"/>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9432" y="3735770"/>
            <a:ext cx="2267712" cy="384048"/>
          </a:xfrm>
          <a:prstGeom prst="rect">
            <a:avLst/>
          </a:prstGeom>
          <a:noFill/>
        </p:spPr>
        <p:txBody>
          <a:bodyPr wrap="square">
            <a:spAutoFit/>
          </a:bodyPr>
          <a:lstStyle/>
          <a:p>
            <a:pPr>
              <a:defRPr sz="819">
                <a:solidFill>
                  <a:srgbClr val="525E6C"/>
                </a:solidFill>
                <a:latin typeface="Aptos"/>
              </a:defRPr>
            </a:pPr>
            <a:r>
              <a:t>Long-horizon 성능을 잘 보여줄 수 있는가?</a:t>
            </a:r>
          </a:p>
        </p:txBody>
      </p:sp>
      <p:sp>
        <p:nvSpPr>
          <p:cNvPr id="24" name="Oval 23"/>
          <p:cNvSpPr/>
          <p:nvPr/>
        </p:nvSpPr>
        <p:spPr>
          <a:xfrm>
            <a:off x="4416552" y="4192970"/>
            <a:ext cx="82296" cy="82296"/>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99432" y="4119818"/>
            <a:ext cx="2267712" cy="384048"/>
          </a:xfrm>
          <a:prstGeom prst="rect">
            <a:avLst/>
          </a:prstGeom>
          <a:noFill/>
        </p:spPr>
        <p:txBody>
          <a:bodyPr wrap="square">
            <a:spAutoFit/>
          </a:bodyPr>
          <a:lstStyle/>
          <a:p>
            <a:pPr>
              <a:defRPr sz="819">
                <a:solidFill>
                  <a:srgbClr val="525E6C"/>
                </a:solidFill>
                <a:latin typeface="Aptos"/>
              </a:defRPr>
            </a:pPr>
            <a:r>
              <a:t>기존 agent들의 limitation을 분석하기 좋은가?</a:t>
            </a:r>
          </a:p>
        </p:txBody>
      </p:sp>
      <p:sp>
        <p:nvSpPr>
          <p:cNvPr id="26" name="Oval 25"/>
          <p:cNvSpPr/>
          <p:nvPr/>
        </p:nvSpPr>
        <p:spPr>
          <a:xfrm>
            <a:off x="4416552" y="4577018"/>
            <a:ext cx="82296" cy="82296"/>
          </a:xfrm>
          <a:prstGeom prst="ellipse">
            <a:avLst/>
          </a:prstGeom>
          <a:solidFill>
            <a:srgbClr val="5B4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99432" y="4503866"/>
            <a:ext cx="2267712" cy="384048"/>
          </a:xfrm>
          <a:prstGeom prst="rect">
            <a:avLst/>
          </a:prstGeom>
          <a:noFill/>
        </p:spPr>
        <p:txBody>
          <a:bodyPr wrap="square">
            <a:spAutoFit/>
          </a:bodyPr>
          <a:lstStyle/>
          <a:p>
            <a:pPr>
              <a:defRPr sz="819">
                <a:solidFill>
                  <a:srgbClr val="525E6C"/>
                </a:solidFill>
                <a:latin typeface="Aptos"/>
              </a:defRPr>
            </a:pPr>
            <a:r>
              <a:t>실험 규모가 현실적으로 가능한가?</a:t>
            </a:r>
          </a:p>
        </p:txBody>
      </p:sp>
      <p:sp>
        <p:nvSpPr>
          <p:cNvPr id="28" name="Rounded Rectangle 27"/>
          <p:cNvSpPr/>
          <p:nvPr/>
        </p:nvSpPr>
        <p:spPr>
          <a:xfrm>
            <a:off x="7534656" y="1938528"/>
            <a:ext cx="3090672" cy="3337560"/>
          </a:xfrm>
          <a:prstGeom prst="roundRect">
            <a:avLst/>
          </a:prstGeom>
          <a:solidFill>
            <a:srgbClr val="FFFFFF"/>
          </a:solidFill>
          <a:ln w="13970">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833104" y="2194560"/>
            <a:ext cx="493776" cy="493776"/>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Aptos"/>
              </a:defRPr>
            </a:pPr>
            <a:r>
              <a:t>03</a:t>
            </a:r>
          </a:p>
        </p:txBody>
      </p:sp>
      <p:sp>
        <p:nvSpPr>
          <p:cNvPr id="30" name="TextBox 29"/>
          <p:cNvSpPr txBox="1"/>
          <p:nvPr/>
        </p:nvSpPr>
        <p:spPr>
          <a:xfrm>
            <a:off x="7790688" y="2834640"/>
            <a:ext cx="2578608" cy="310896"/>
          </a:xfrm>
          <a:prstGeom prst="rect">
            <a:avLst/>
          </a:prstGeom>
          <a:noFill/>
        </p:spPr>
        <p:txBody>
          <a:bodyPr wrap="none">
            <a:spAutoFit/>
          </a:bodyPr>
          <a:lstStyle/>
          <a:p>
            <a:pPr algn="ctr">
              <a:defRPr sz="1500" b="1">
                <a:solidFill>
                  <a:srgbClr val="377E5C"/>
                </a:solidFill>
                <a:latin typeface="Aptos"/>
              </a:defRPr>
            </a:pPr>
            <a:r>
              <a:t>Environment Setup</a:t>
            </a:r>
          </a:p>
        </p:txBody>
      </p:sp>
      <p:sp>
        <p:nvSpPr>
          <p:cNvPr id="31" name="TextBox 30"/>
          <p:cNvSpPr txBox="1"/>
          <p:nvPr/>
        </p:nvSpPr>
        <p:spPr>
          <a:xfrm>
            <a:off x="7808976" y="3218688"/>
            <a:ext cx="2542032" cy="585216"/>
          </a:xfrm>
          <a:prstGeom prst="rect">
            <a:avLst/>
          </a:prstGeom>
          <a:noFill/>
        </p:spPr>
        <p:txBody>
          <a:bodyPr wrap="square">
            <a:spAutoFit/>
          </a:bodyPr>
          <a:lstStyle/>
          <a:p>
            <a:pPr algn="ctr">
              <a:defRPr sz="930" b="1">
                <a:solidFill>
                  <a:srgbClr val="1C232D"/>
                </a:solidFill>
                <a:latin typeface="Aptos"/>
              </a:defRPr>
            </a:pPr>
            <a:r>
              <a:t>Benchmark가 정해지면 환경설정은 내가 책임지고 마무리</a:t>
            </a:r>
          </a:p>
        </p:txBody>
      </p:sp>
      <p:sp>
        <p:nvSpPr>
          <p:cNvPr id="32" name="Oval 31"/>
          <p:cNvSpPr/>
          <p:nvPr/>
        </p:nvSpPr>
        <p:spPr>
          <a:xfrm>
            <a:off x="7854696" y="3808922"/>
            <a:ext cx="82296" cy="82296"/>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37576" y="3735770"/>
            <a:ext cx="2267712" cy="384048"/>
          </a:xfrm>
          <a:prstGeom prst="rect">
            <a:avLst/>
          </a:prstGeom>
          <a:noFill/>
        </p:spPr>
        <p:txBody>
          <a:bodyPr wrap="square">
            <a:spAutoFit/>
          </a:bodyPr>
          <a:lstStyle/>
          <a:p>
            <a:pPr>
              <a:defRPr sz="819">
                <a:solidFill>
                  <a:srgbClr val="525E6C"/>
                </a:solidFill>
                <a:latin typeface="Aptos"/>
              </a:defRPr>
            </a:pPr>
            <a:r>
              <a:t>Selected benchmarks ready to run</a:t>
            </a:r>
          </a:p>
        </p:txBody>
      </p:sp>
      <p:sp>
        <p:nvSpPr>
          <p:cNvPr id="34" name="Oval 33"/>
          <p:cNvSpPr/>
          <p:nvPr/>
        </p:nvSpPr>
        <p:spPr>
          <a:xfrm>
            <a:off x="7854696" y="4192970"/>
            <a:ext cx="82296" cy="82296"/>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37576" y="4119818"/>
            <a:ext cx="2267712" cy="384048"/>
          </a:xfrm>
          <a:prstGeom prst="rect">
            <a:avLst/>
          </a:prstGeom>
          <a:noFill/>
        </p:spPr>
        <p:txBody>
          <a:bodyPr wrap="square">
            <a:spAutoFit/>
          </a:bodyPr>
          <a:lstStyle/>
          <a:p>
            <a:pPr>
              <a:defRPr sz="819">
                <a:solidFill>
                  <a:srgbClr val="525E6C"/>
                </a:solidFill>
                <a:latin typeface="Aptos"/>
              </a:defRPr>
            </a:pPr>
            <a:r>
              <a:t>CaP-X / VoLo-Agent execution environment</a:t>
            </a:r>
          </a:p>
        </p:txBody>
      </p:sp>
      <p:sp>
        <p:nvSpPr>
          <p:cNvPr id="36" name="Oval 35"/>
          <p:cNvSpPr/>
          <p:nvPr/>
        </p:nvSpPr>
        <p:spPr>
          <a:xfrm>
            <a:off x="7854696" y="4577018"/>
            <a:ext cx="82296" cy="82296"/>
          </a:xfrm>
          <a:prstGeom prst="ellipse">
            <a:avLst/>
          </a:prstGeom>
          <a:solidFill>
            <a:srgbClr val="377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37576" y="4503866"/>
            <a:ext cx="2267712" cy="384048"/>
          </a:xfrm>
          <a:prstGeom prst="rect">
            <a:avLst/>
          </a:prstGeom>
          <a:noFill/>
        </p:spPr>
        <p:txBody>
          <a:bodyPr wrap="square">
            <a:spAutoFit/>
          </a:bodyPr>
          <a:lstStyle/>
          <a:p>
            <a:pPr>
              <a:defRPr sz="819">
                <a:solidFill>
                  <a:srgbClr val="525E6C"/>
                </a:solidFill>
                <a:latin typeface="Aptos"/>
              </a:defRPr>
            </a:pPr>
            <a:r>
              <a:t>Reproducible commands &amp; setup documentation</a:t>
            </a:r>
          </a:p>
        </p:txBody>
      </p:sp>
      <p:cxnSp>
        <p:nvCxnSpPr>
          <p:cNvPr id="38" name="Connector 37"/>
          <p:cNvCxnSpPr/>
          <p:nvPr/>
        </p:nvCxnSpPr>
        <p:spPr>
          <a:xfrm>
            <a:off x="3749039" y="3611880"/>
            <a:ext cx="274321" cy="0"/>
          </a:xfrm>
          <a:prstGeom prst="line">
            <a:avLst/>
          </a:prstGeom>
          <a:ln w="19050">
            <a:solidFill>
              <a:srgbClr val="525E6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187184" y="3611880"/>
            <a:ext cx="274320" cy="0"/>
          </a:xfrm>
          <a:prstGeom prst="line">
            <a:avLst/>
          </a:prstGeom>
          <a:ln w="19050">
            <a:solidFill>
              <a:srgbClr val="525E6C"/>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325880" y="5650992"/>
            <a:ext cx="9555480" cy="713232"/>
          </a:xfrm>
          <a:prstGeom prst="roundRect">
            <a:avLst/>
          </a:prstGeom>
          <a:solidFill>
            <a:srgbClr val="EEF7F2"/>
          </a:solidFill>
          <a:ln>
            <a:solidFill>
              <a:srgbClr val="377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77E5C"/>
                </a:solidFill>
                <a:latin typeface="Aptos"/>
              </a:defRPr>
            </a:pPr>
            <a:r>
              <a:t>Benchmark selection first. Environment setup comes immediately after.</a:t>
            </a:r>
          </a:p>
          <a:p>
            <a:pPr algn="ctr">
              <a:defRPr sz="980">
                <a:solidFill>
                  <a:srgbClr val="1C232D"/>
                </a:solidFill>
                <a:latin typeface="Aptos"/>
              </a:defRPr>
            </a:pPr>
            <a:r>
              <a:t>Once we decide the benchmarks together, I will take responsibility for completing the environment setup.</a:t>
            </a:r>
          </a:p>
        </p:txBody>
      </p:sp>
      <p:sp>
        <p:nvSpPr>
          <p:cNvPr id="41" name="TextBox 40"/>
          <p:cNvSpPr txBox="1"/>
          <p:nvPr/>
        </p:nvSpPr>
        <p:spPr>
          <a:xfrm>
            <a:off x="10927080" y="6601968"/>
            <a:ext cx="320040" cy="146304"/>
          </a:xfrm>
          <a:prstGeom prst="rect">
            <a:avLst/>
          </a:prstGeom>
          <a:noFill/>
        </p:spPr>
        <p:txBody>
          <a:bodyPr wrap="none">
            <a:spAutoFit/>
          </a:bodyPr>
          <a:lstStyle/>
          <a:p>
            <a:pPr algn="r">
              <a:defRPr sz="900">
                <a:solidFill>
                  <a:srgbClr val="969CA5"/>
                </a:solidFill>
                <a:latin typeface="Aptos"/>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EDF910-1A70-4D6D-88EB-9FB84B22DD79}"/>
              </a:ext>
            </a:extLst>
          </p:cNvPr>
          <p:cNvSpPr>
            <a:spLocks noGrp="1"/>
          </p:cNvSpPr>
          <p:nvPr>
            <p:ph type="ctrTitle"/>
          </p:nvPr>
        </p:nvSpPr>
        <p:spPr>
          <a:xfrm>
            <a:off x="1353671" y="1705068"/>
            <a:ext cx="9144000" cy="2823995"/>
          </a:xfrm>
        </p:spPr>
        <p:txBody>
          <a:bodyPr>
            <a:normAutofit/>
          </a:bodyPr>
          <a:lstStyle/>
          <a:p>
            <a:r>
              <a:rPr lang="en-US" altLang="ko-KR" sz="4000" dirty="0">
                <a:latin typeface="Arial" panose="020B0604020202020204" pitchFamily="34" charset="0"/>
                <a:cs typeface="Arial" panose="020B0604020202020204" pitchFamily="34" charset="0"/>
              </a:rPr>
              <a:t>THE END</a:t>
            </a:r>
            <a:endParaRPr lang="ko-KR" alt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5245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1685</Words>
  <Application>Microsoft Office PowerPoint</Application>
  <PresentationFormat>와이드스크린</PresentationFormat>
  <Paragraphs>280</Paragraphs>
  <Slides>16</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16</vt:i4>
      </vt:variant>
    </vt:vector>
  </HeadingPairs>
  <TitlesOfParts>
    <vt:vector size="22" baseType="lpstr">
      <vt:lpstr>Aptos</vt:lpstr>
      <vt:lpstr>Aptos Display</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THE 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이석민</cp:lastModifiedBy>
  <cp:revision>6</cp:revision>
  <dcterms:created xsi:type="dcterms:W3CDTF">2013-01-27T09:14:16Z</dcterms:created>
  <dcterms:modified xsi:type="dcterms:W3CDTF">2026-08-20T15:34:16Z</dcterms:modified>
  <cp:category/>
</cp:coreProperties>
</file>