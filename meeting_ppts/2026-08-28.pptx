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1" r:id="rId9"/>
    <p:sldId id="264" r:id="rId10"/>
    <p:sldId id="266" r:id="rId11"/>
    <p:sldId id="267" r:id="rId12"/>
    <p:sldId id="265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7" d="100"/>
          <a:sy n="107" d="100"/>
        </p:scale>
        <p:origin x="714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22960" y="1353312"/>
            <a:ext cx="118872" cy="1828800"/>
          </a:xfrm>
          <a:prstGeom prst="rect">
            <a:avLst/>
          </a:prstGeom>
          <a:solidFill>
            <a:srgbClr val="2C4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170432" y="1325880"/>
            <a:ext cx="98755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200" b="1">
                <a:solidFill>
                  <a:srgbClr val="191E28"/>
                </a:solidFill>
                <a:latin typeface="Aptos Display"/>
              </a:defRPr>
            </a:pPr>
            <a:r>
              <a:t>Robotics Agent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51460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5F6773"/>
                </a:solidFill>
                <a:latin typeface="Aptos"/>
              </a:defRPr>
            </a:pPr>
            <a:r>
              <a:t>Meeting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5257800"/>
            <a:ext cx="4572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5F6773"/>
                </a:solidFill>
                <a:latin typeface="Aptos"/>
              </a:defRPr>
            </a:pPr>
            <a:r>
              <a:t>August 28,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1188720" y="5870448"/>
            <a:ext cx="9784080" cy="22860"/>
          </a:xfrm>
          <a:prstGeom prst="rect">
            <a:avLst/>
          </a:prstGeom>
          <a:solidFill>
            <a:srgbClr val="D2D6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68680" y="594360"/>
            <a:ext cx="45720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91E28"/>
                </a:solidFill>
                <a:latin typeface="Aptos Display"/>
              </a:defRPr>
            </a:pPr>
            <a: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6968" y="1188720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646B76"/>
                </a:solidFill>
                <a:latin typeface="Aptos"/>
              </a:defRPr>
            </a:pPr>
            <a:r>
              <a:t>From benchmark exploration to a reflection-based agent idea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74519"/>
            <a:ext cx="685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C4A78"/>
                </a:solidFill>
                <a:latin typeface="Aptos Display"/>
              </a:defRPr>
            </a:pPr>
            <a:r>
              <a:t>01</a:t>
            </a:r>
          </a:p>
        </p:txBody>
      </p:sp>
      <p:sp>
        <p:nvSpPr>
          <p:cNvPr id="5" name="Rectangle 4"/>
          <p:cNvSpPr/>
          <p:nvPr/>
        </p:nvSpPr>
        <p:spPr>
          <a:xfrm>
            <a:off x="1664208" y="1901951"/>
            <a:ext cx="32004" cy="658368"/>
          </a:xfrm>
          <a:prstGeom prst="rect">
            <a:avLst/>
          </a:prstGeom>
          <a:solidFill>
            <a:srgbClr val="CDD2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920240" y="1856231"/>
            <a:ext cx="89611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1E232D"/>
                </a:solidFill>
                <a:latin typeface="Aptos"/>
              </a:defRPr>
            </a:pPr>
            <a:r>
              <a:t>Benchmark Overview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2258568"/>
            <a:ext cx="8961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66D78"/>
                </a:solidFill>
                <a:latin typeface="Aptos"/>
              </a:defRPr>
            </a:pPr>
            <a:r>
              <a:t>Representative benchmarks for robotic manipulation agents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898648"/>
            <a:ext cx="685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C4A78"/>
                </a:solidFill>
                <a:latin typeface="Aptos Display"/>
              </a:defRPr>
            </a:pPr>
            <a:r>
              <a:t>02</a:t>
            </a:r>
          </a:p>
        </p:txBody>
      </p:sp>
      <p:sp>
        <p:nvSpPr>
          <p:cNvPr id="9" name="Rectangle 8"/>
          <p:cNvSpPr/>
          <p:nvPr/>
        </p:nvSpPr>
        <p:spPr>
          <a:xfrm>
            <a:off x="1664208" y="2926079"/>
            <a:ext cx="32004" cy="658368"/>
          </a:xfrm>
          <a:prstGeom prst="rect">
            <a:avLst/>
          </a:prstGeom>
          <a:solidFill>
            <a:srgbClr val="CDD2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920240" y="2880360"/>
            <a:ext cx="89611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1E232D"/>
                </a:solidFill>
                <a:latin typeface="Aptos"/>
              </a:defRPr>
            </a:pPr>
            <a:r>
              <a:t>What We Learned from Benchmarks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20240" y="3282696"/>
            <a:ext cx="8961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66D78"/>
                </a:solidFill>
                <a:latin typeface="Aptos"/>
              </a:defRPr>
            </a:pPr>
            <a:r>
              <a:t>Even with an oracle planner, task success remains low — is the VLA the bottleneck?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922776"/>
            <a:ext cx="685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C4A78"/>
                </a:solidFill>
                <a:latin typeface="Aptos Display"/>
              </a:defRPr>
            </a:pPr>
            <a:r>
              <a:t>03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64208" y="3950208"/>
            <a:ext cx="32004" cy="658368"/>
          </a:xfrm>
          <a:prstGeom prst="rect">
            <a:avLst/>
          </a:prstGeom>
          <a:solidFill>
            <a:srgbClr val="CDD2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920240" y="3904488"/>
            <a:ext cx="89611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1E232D"/>
                </a:solidFill>
                <a:latin typeface="Aptos"/>
              </a:defRPr>
            </a:pPr>
            <a:r>
              <a:t>Naive Idea: Reflection with Working Memory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20240" y="4306824"/>
            <a:ext cx="8961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66D78"/>
                </a:solidFill>
                <a:latin typeface="Aptos"/>
              </a:defRPr>
            </a:pPr>
            <a:r>
              <a:t>Can task-progress-aware working memory enable better reflection and recovery?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946904"/>
            <a:ext cx="685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C4A78"/>
                </a:solidFill>
                <a:latin typeface="Aptos Display"/>
              </a:defRPr>
            </a:pPr>
            <a:r>
              <a:t>04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664208" y="4974336"/>
            <a:ext cx="32004" cy="658368"/>
          </a:xfrm>
          <a:prstGeom prst="rect">
            <a:avLst/>
          </a:prstGeom>
          <a:solidFill>
            <a:srgbClr val="CDD2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920240" y="4928616"/>
            <a:ext cx="89611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1E232D"/>
                </a:solidFill>
                <a:latin typeface="Aptos"/>
              </a:defRPr>
            </a:pPr>
            <a:r>
              <a:t>Benchmark Selection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20240" y="5330952"/>
            <a:ext cx="8961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66D78"/>
                </a:solidFill>
                <a:latin typeface="Aptos"/>
              </a:defRPr>
            </a:pPr>
            <a:r>
              <a:t>Choose benchmarks that expose the bottleneck and evaluate the proposed idea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68680" y="1234440"/>
            <a:ext cx="1828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 b="1">
                <a:solidFill>
                  <a:srgbClr val="2C4A78"/>
                </a:solidFill>
                <a:latin typeface="Aptos Display"/>
              </a:defRPr>
            </a:pPr>
            <a:r>
              <a:t>01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2331720"/>
            <a:ext cx="1143000" cy="50292"/>
          </a:xfrm>
          <a:prstGeom prst="rect">
            <a:avLst/>
          </a:prstGeom>
          <a:solidFill>
            <a:srgbClr val="2C4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88920" y="141732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646B76"/>
                </a:solidFill>
                <a:latin typeface="Aptos"/>
              </a:defRPr>
            </a:pPr>
            <a:r>
              <a:t>CHAPTER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1874519"/>
            <a:ext cx="804672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191E28"/>
                </a:solidFill>
                <a:latin typeface="Aptos Display"/>
              </a:defRPr>
            </a:pPr>
            <a:r>
              <a:t>Benchmark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88920" y="2971800"/>
            <a:ext cx="76809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5B636F"/>
                </a:solidFill>
                <a:latin typeface="Aptos"/>
              </a:defRPr>
            </a:pPr>
            <a:r>
              <a:t>Exploring robotic manipulation benchmarks</a:t>
            </a:r>
          </a:p>
          <a:p>
            <a:pPr>
              <a:defRPr sz="1800">
                <a:solidFill>
                  <a:srgbClr val="5B636F"/>
                </a:solidFill>
                <a:latin typeface="Aptos"/>
              </a:defRPr>
            </a:pPr>
            <a:r>
              <a:t>from simple manipulation to long-horizon tasks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88920" y="5029200"/>
            <a:ext cx="7315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878D97"/>
                </a:solidFill>
                <a:latin typeface="Aptos"/>
              </a:defRPr>
            </a:pPr>
            <a:r>
              <a:t>LIBERO  ·  RoboCasa  ·  VLABench  ·  BEHAVIOR-1K  ·  and more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457200"/>
            <a:ext cx="10698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1E28"/>
                </a:solidFill>
                <a:latin typeface="Aptos Display"/>
              </a:defRPr>
            </a:pPr>
            <a:r>
              <a:t>LIBERO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5528" y="960120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6B76"/>
                </a:solidFill>
                <a:latin typeface="Aptos"/>
              </a:defRPr>
            </a:pPr>
            <a:r>
              <a:t>Five commonly used task suites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600200"/>
            <a:ext cx="288036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E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941832" y="1755648"/>
            <a:ext cx="822960" cy="292608"/>
          </a:xfrm>
          <a:prstGeom prst="roundRect">
            <a:avLst/>
          </a:prstGeom>
          <a:solidFill>
            <a:srgbClr val="E8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2C4A78"/>
                </a:solidFill>
                <a:latin typeface="Aptos"/>
              </a:defRPr>
            </a:pPr>
            <a:r>
              <a:t>10 Tasks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" y="2130552"/>
            <a:ext cx="255117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C212B"/>
                </a:solidFill>
                <a:latin typeface="Aptos"/>
              </a:defRPr>
            </a:pPr>
            <a:r>
              <a:t>LIBERO-SPATIAL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" y="2478024"/>
            <a:ext cx="255117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4B5360"/>
                </a:solidFill>
                <a:latin typeface="Aptos"/>
              </a:defRPr>
            </a:pPr>
            <a:r>
              <a:t>Spatial relationships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63440" y="1600200"/>
            <a:ext cx="288036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E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828031" y="1755648"/>
            <a:ext cx="822960" cy="292608"/>
          </a:xfrm>
          <a:prstGeom prst="roundRect">
            <a:avLst/>
          </a:prstGeom>
          <a:solidFill>
            <a:srgbClr val="E8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2C4A78"/>
                </a:solidFill>
                <a:latin typeface="Aptos"/>
              </a:defRPr>
            </a:pPr>
            <a:r>
              <a:t>10 Tasks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28031" y="2130552"/>
            <a:ext cx="255117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C212B"/>
                </a:solidFill>
                <a:latin typeface="Aptos"/>
              </a:defRPr>
            </a:pPr>
            <a:r>
              <a:t>LIBERO-OBJECT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28031" y="2478024"/>
            <a:ext cx="255117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4B5360"/>
                </a:solidFill>
                <a:latin typeface="Aptos"/>
              </a:defRPr>
            </a:pPr>
            <a:r>
              <a:t>Object understanding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549640" y="1600200"/>
            <a:ext cx="288036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E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8714232" y="1755648"/>
            <a:ext cx="822960" cy="292608"/>
          </a:xfrm>
          <a:prstGeom prst="roundRect">
            <a:avLst/>
          </a:prstGeom>
          <a:solidFill>
            <a:srgbClr val="E8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2C4A78"/>
                </a:solidFill>
                <a:latin typeface="Aptos"/>
              </a:defRPr>
            </a:pPr>
            <a:r>
              <a:t>10 Tasks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14232" y="2130552"/>
            <a:ext cx="255117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C212B"/>
                </a:solidFill>
                <a:latin typeface="Aptos"/>
              </a:defRPr>
            </a:pPr>
            <a:r>
              <a:t>LIBERO-GOAL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14232" y="2478024"/>
            <a:ext cx="255117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4B5360"/>
                </a:solidFill>
                <a:latin typeface="Aptos"/>
              </a:defRPr>
            </a:pPr>
            <a:r>
              <a:t>Goal understanding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24912" y="3794760"/>
            <a:ext cx="288036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E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2889504" y="3950208"/>
            <a:ext cx="822960" cy="292608"/>
          </a:xfrm>
          <a:prstGeom prst="roundRect">
            <a:avLst/>
          </a:prstGeom>
          <a:solidFill>
            <a:srgbClr val="E8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2C4A78"/>
                </a:solidFill>
                <a:latin typeface="Aptos"/>
              </a:defRPr>
            </a:pPr>
            <a:r>
              <a:t>90 Tasks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89504" y="4325112"/>
            <a:ext cx="255117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C212B"/>
                </a:solidFill>
                <a:latin typeface="Aptos"/>
              </a:defRPr>
            </a:pPr>
            <a:r>
              <a:t>LIBERO-90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89504" y="4672584"/>
            <a:ext cx="255117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4B5360"/>
                </a:solidFill>
                <a:latin typeface="Aptos"/>
              </a:defRPr>
            </a:pPr>
            <a:r>
              <a:t>Broad task diversity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611112" y="3794760"/>
            <a:ext cx="288036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E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6775704" y="3950208"/>
            <a:ext cx="822960" cy="292608"/>
          </a:xfrm>
          <a:prstGeom prst="roundRect">
            <a:avLst/>
          </a:prstGeom>
          <a:solidFill>
            <a:srgbClr val="E8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2C4A78"/>
                </a:solidFill>
                <a:latin typeface="Aptos"/>
              </a:defRPr>
            </a:pPr>
            <a:r>
              <a:t>10 Tasks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75704" y="4325112"/>
            <a:ext cx="255117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C212B"/>
                </a:solidFill>
                <a:latin typeface="Aptos"/>
              </a:defRPr>
            </a:pPr>
            <a:r>
              <a:t>LIBERO-10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75704" y="4672584"/>
            <a:ext cx="255117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4B5360"/>
                </a:solidFill>
                <a:latin typeface="Aptos"/>
              </a:defRPr>
            </a:pPr>
            <a:r>
              <a:t>Longer &amp; diverse tasks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598932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5F6671"/>
                </a:solidFill>
                <a:latin typeface="Aptos"/>
              </a:defRPr>
            </a:pPr>
            <a:r>
              <a:t>LIBERO spans controlled generalization suites and broader multi-task manipulation suites.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738360" y="438912"/>
            <a:ext cx="1600200" cy="438912"/>
          </a:xfrm>
          <a:prstGeom prst="roundRect">
            <a:avLst/>
          </a:prstGeom>
          <a:solidFill>
            <a:srgbClr val="E8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2C4A78"/>
                </a:solidFill>
                <a:latin typeface="Aptos"/>
              </a:defRPr>
            </a:pPr>
            <a:r>
              <a:t>MuJoCo-based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726679" y="438912"/>
            <a:ext cx="1828800" cy="438912"/>
          </a:xfrm>
          <a:prstGeom prst="roundRect">
            <a:avLst/>
          </a:prstGeom>
          <a:solidFill>
            <a:srgbClr val="E8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2C4A78"/>
                </a:solidFill>
                <a:latin typeface="Aptos"/>
              </a:defRPr>
            </a:pPr>
            <a:r>
              <a:t>Markovian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611112" y="438912"/>
            <a:ext cx="1005840" cy="438912"/>
          </a:xfrm>
          <a:prstGeom prst="roundRect">
            <a:avLst/>
          </a:prstGeom>
          <a:solidFill>
            <a:srgbClr val="E8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80" b="1">
                <a:solidFill>
                  <a:srgbClr val="2C4A78"/>
                </a:solidFill>
                <a:latin typeface="Aptos"/>
              </a:defRPr>
            </a:pPr>
            <a:r>
              <a:t>Table-top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_clean_infographic_presentation_slide_with_a_w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8444753" y="86868"/>
            <a:ext cx="3541059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BEC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8677656" y="155448"/>
            <a:ext cx="164592" cy="164592"/>
          </a:xfrm>
          <a:prstGeom prst="ellipse">
            <a:avLst/>
          </a:prstGeom>
          <a:solidFill>
            <a:srgbClr val="144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979408" y="118872"/>
            <a:ext cx="2651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191E28"/>
                </a:solidFill>
                <a:latin typeface="Aptos"/>
              </a:defRPr>
            </a:pPr>
            <a:r>
              <a:t>MuJoCo-based simulator</a:t>
            </a:r>
          </a:p>
        </p:txBody>
      </p:sp>
      <p:sp>
        <p:nvSpPr>
          <p:cNvPr id="6" name="Oval 5"/>
          <p:cNvSpPr/>
          <p:nvPr/>
        </p:nvSpPr>
        <p:spPr>
          <a:xfrm>
            <a:off x="8677656" y="420624"/>
            <a:ext cx="164592" cy="164592"/>
          </a:xfrm>
          <a:prstGeom prst="ellipse">
            <a:avLst/>
          </a:prstGeom>
          <a:solidFill>
            <a:srgbClr val="144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979408" y="384048"/>
            <a:ext cx="2651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191E28"/>
                </a:solidFill>
                <a:latin typeface="Aptos"/>
              </a:defRPr>
            </a:pPr>
            <a:r>
              <a:rPr dirty="0"/>
              <a:t>Markovian tasks</a:t>
            </a:r>
          </a:p>
        </p:txBody>
      </p:sp>
      <p:sp>
        <p:nvSpPr>
          <p:cNvPr id="8" name="Oval 7"/>
          <p:cNvSpPr/>
          <p:nvPr/>
        </p:nvSpPr>
        <p:spPr>
          <a:xfrm>
            <a:off x="8677656" y="685799"/>
            <a:ext cx="164592" cy="164592"/>
          </a:xfrm>
          <a:prstGeom prst="ellipse">
            <a:avLst/>
          </a:prstGeom>
          <a:solidFill>
            <a:srgbClr val="144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979408" y="649224"/>
            <a:ext cx="2651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191E28"/>
                </a:solidFill>
                <a:latin typeface="Aptos"/>
              </a:defRPr>
            </a:pPr>
            <a:r>
              <a:t>4 Suites of 10 Tasks Each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20040"/>
            <a:ext cx="5943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91E28"/>
                </a:solidFill>
                <a:latin typeface="Aptos Display"/>
              </a:defRPr>
            </a:pPr>
            <a:r>
              <a:t>LIBERO-PRO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68680"/>
            <a:ext cx="77724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5F6773"/>
                </a:solidFill>
                <a:latin typeface="Aptos"/>
              </a:defRPr>
            </a:pPr>
            <a:r>
              <a:t>LIBERO + controlled perturbations for robustness evaluation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35696" y="365760"/>
            <a:ext cx="1325880" cy="384048"/>
          </a:xfrm>
          <a:prstGeom prst="roundRect">
            <a:avLst/>
          </a:prstGeom>
          <a:solidFill>
            <a:srgbClr val="E8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2C4A78"/>
                </a:solidFill>
                <a:latin typeface="Aptos"/>
              </a:defRPr>
            </a:pPr>
            <a:r>
              <a:t>MuJoCo-based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710928" y="365760"/>
            <a:ext cx="1481328" cy="384048"/>
          </a:xfrm>
          <a:prstGeom prst="roundRect">
            <a:avLst/>
          </a:prstGeom>
          <a:solidFill>
            <a:srgbClr val="E8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2C4A78"/>
                </a:solidFill>
                <a:latin typeface="Aptos"/>
              </a:defRPr>
            </a:pPr>
            <a:r>
              <a:t>5 perturbations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371600"/>
            <a:ext cx="10972800" cy="22860"/>
          </a:xfrm>
          <a:prstGeom prst="rect">
            <a:avLst/>
          </a:prstGeom>
          <a:solidFill>
            <a:srgbClr val="C8C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360920" y="1691640"/>
            <a:ext cx="4160520" cy="4224528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635240" y="1947672"/>
            <a:ext cx="356616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91E28"/>
                </a:solidFill>
                <a:latin typeface="Aptos"/>
              </a:defRPr>
            </a:pPr>
            <a:r>
              <a:t>Perturbation Types</a:t>
            </a:r>
          </a:p>
        </p:txBody>
      </p:sp>
      <p:sp>
        <p:nvSpPr>
          <p:cNvPr id="11" name="Oval 10"/>
          <p:cNvSpPr/>
          <p:nvPr/>
        </p:nvSpPr>
        <p:spPr>
          <a:xfrm>
            <a:off x="7644383" y="2505456"/>
            <a:ext cx="310896" cy="310896"/>
          </a:xfrm>
          <a:prstGeom prst="ellipse">
            <a:avLst/>
          </a:prstGeom>
          <a:solidFill>
            <a:srgbClr val="2C4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65008" y="2478024"/>
            <a:ext cx="3108960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2C4A78"/>
                </a:solidFill>
                <a:latin typeface="Aptos"/>
              </a:defRPr>
            </a:pPr>
            <a:r>
              <a:t>Object Attribute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65008" y="2724912"/>
            <a:ext cx="31089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C636F"/>
                </a:solidFill>
                <a:latin typeface="Aptos"/>
              </a:defRPr>
            </a:pPr>
            <a:r>
              <a:t>replace target object attributes</a:t>
            </a:r>
          </a:p>
        </p:txBody>
      </p:sp>
      <p:sp>
        <p:nvSpPr>
          <p:cNvPr id="14" name="Oval 13"/>
          <p:cNvSpPr/>
          <p:nvPr/>
        </p:nvSpPr>
        <p:spPr>
          <a:xfrm>
            <a:off x="7644383" y="3127248"/>
            <a:ext cx="310896" cy="310896"/>
          </a:xfrm>
          <a:prstGeom prst="ellipse">
            <a:avLst/>
          </a:prstGeom>
          <a:solidFill>
            <a:srgbClr val="2C4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65008" y="3099816"/>
            <a:ext cx="3108960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2C4A78"/>
                </a:solidFill>
                <a:latin typeface="Aptos"/>
              </a:defRPr>
            </a:pPr>
            <a:r>
              <a:t>Initial Position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65008" y="3346704"/>
            <a:ext cx="31089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C636F"/>
                </a:solidFill>
                <a:latin typeface="Aptos"/>
              </a:defRPr>
            </a:pPr>
            <a:r>
              <a:t>swap or move object positions</a:t>
            </a:r>
          </a:p>
        </p:txBody>
      </p:sp>
      <p:sp>
        <p:nvSpPr>
          <p:cNvPr id="17" name="Oval 16"/>
          <p:cNvSpPr/>
          <p:nvPr/>
        </p:nvSpPr>
        <p:spPr>
          <a:xfrm>
            <a:off x="7644383" y="3749039"/>
            <a:ext cx="310896" cy="310896"/>
          </a:xfrm>
          <a:prstGeom prst="ellipse">
            <a:avLst/>
          </a:prstGeom>
          <a:solidFill>
            <a:srgbClr val="2C4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65008" y="3721608"/>
            <a:ext cx="3108960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2C4A78"/>
                </a:solidFill>
                <a:latin typeface="Aptos"/>
              </a:defRPr>
            </a:pPr>
            <a:r>
              <a:t>Task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65008" y="3968496"/>
            <a:ext cx="31089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C636F"/>
                </a:solidFill>
                <a:latin typeface="Aptos"/>
              </a:defRPr>
            </a:pPr>
            <a:r>
              <a:t>change the requested goal</a:t>
            </a:r>
          </a:p>
        </p:txBody>
      </p:sp>
      <p:sp>
        <p:nvSpPr>
          <p:cNvPr id="20" name="Oval 19"/>
          <p:cNvSpPr/>
          <p:nvPr/>
        </p:nvSpPr>
        <p:spPr>
          <a:xfrm>
            <a:off x="7644383" y="4370831"/>
            <a:ext cx="310896" cy="310896"/>
          </a:xfrm>
          <a:prstGeom prst="ellipse">
            <a:avLst/>
          </a:prstGeom>
          <a:solidFill>
            <a:srgbClr val="2C4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65008" y="4343400"/>
            <a:ext cx="3108960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2C4A78"/>
                </a:solidFill>
                <a:latin typeface="Aptos"/>
              </a:defRPr>
            </a:pPr>
            <a:r>
              <a:t>Semantic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65008" y="4590288"/>
            <a:ext cx="31089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C636F"/>
                </a:solidFill>
                <a:latin typeface="Aptos"/>
              </a:defRPr>
            </a:pPr>
            <a:r>
              <a:t>rephrase the instruction</a:t>
            </a:r>
          </a:p>
        </p:txBody>
      </p:sp>
      <p:sp>
        <p:nvSpPr>
          <p:cNvPr id="23" name="Oval 22"/>
          <p:cNvSpPr/>
          <p:nvPr/>
        </p:nvSpPr>
        <p:spPr>
          <a:xfrm>
            <a:off x="7644383" y="4992623"/>
            <a:ext cx="310896" cy="310896"/>
          </a:xfrm>
          <a:prstGeom prst="ellipse">
            <a:avLst/>
          </a:prstGeom>
          <a:solidFill>
            <a:srgbClr val="2C4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65008" y="4965192"/>
            <a:ext cx="3108960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2C4A78"/>
                </a:solidFill>
                <a:latin typeface="Aptos"/>
              </a:defRPr>
            </a:pPr>
            <a:r>
              <a:t>Environment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65008" y="5212079"/>
            <a:ext cx="31089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C636F"/>
                </a:solidFill>
                <a:latin typeface="Aptos"/>
              </a:defRPr>
            </a:pPr>
            <a:r>
              <a:t>change table / background scene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35240" y="5349240"/>
            <a:ext cx="35204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i="1">
                <a:solidFill>
                  <a:srgbClr val="4B5360"/>
                </a:solidFill>
                <a:latin typeface="Aptos"/>
              </a:defRPr>
            </a:pPr>
            <a:r>
              <a:t>Goal: measure whether VLAs survive realistic distribution shifts.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" y="1664208"/>
            <a:ext cx="6537960" cy="4279392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9392" y="1892808"/>
            <a:ext cx="4985014" cy="3822191"/>
          </a:xfrm>
          <a:prstGeom prst="rect">
            <a:avLst/>
          </a:prstGeom>
        </p:spPr>
      </p:pic>
      <p:sp>
        <p:nvSpPr>
          <p:cNvPr id="29" name="Rounded Rectangle 28"/>
          <p:cNvSpPr/>
          <p:nvPr/>
        </p:nvSpPr>
        <p:spPr>
          <a:xfrm>
            <a:off x="6851904" y="365760"/>
            <a:ext cx="1234440" cy="384048"/>
          </a:xfrm>
          <a:prstGeom prst="roundRect">
            <a:avLst/>
          </a:prstGeom>
          <a:solidFill>
            <a:srgbClr val="E8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2C4A78"/>
                </a:solidFill>
                <a:latin typeface="Aptos"/>
              </a:defRPr>
            </a:pPr>
            <a:r>
              <a:t>Markovian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742432" y="365760"/>
            <a:ext cx="960120" cy="384048"/>
          </a:xfrm>
          <a:prstGeom prst="roundRect">
            <a:avLst/>
          </a:prstGeom>
          <a:solidFill>
            <a:srgbClr val="E8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2C4A78"/>
                </a:solidFill>
                <a:latin typeface="Aptos"/>
              </a:defRPr>
            </a:pPr>
            <a:r>
              <a:rPr dirty="0"/>
              <a:t>Table-top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10896"/>
            <a:ext cx="5669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91E28"/>
                </a:solidFill>
                <a:latin typeface="Aptos Display"/>
              </a:defRPr>
            </a:pPr>
            <a:r>
              <a:t>LIBERO-Plus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68680"/>
            <a:ext cx="76809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5F6773"/>
                </a:solidFill>
                <a:latin typeface="Aptos"/>
              </a:defRPr>
            </a:pPr>
            <a:r>
              <a:t>Robustness benchmark with diverse perturbation dimensions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438644" y="365760"/>
            <a:ext cx="1325880" cy="384048"/>
          </a:xfrm>
          <a:prstGeom prst="roundRect">
            <a:avLst/>
          </a:prstGeom>
          <a:solidFill>
            <a:srgbClr val="E8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19" b="1">
                <a:solidFill>
                  <a:srgbClr val="2C4A78"/>
                </a:solidFill>
                <a:latin typeface="Aptos"/>
              </a:defRPr>
            </a:pPr>
            <a:r>
              <a:t>MuJoCo-based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931402" y="365760"/>
            <a:ext cx="1572768" cy="384048"/>
          </a:xfrm>
          <a:prstGeom prst="roundRect">
            <a:avLst/>
          </a:prstGeom>
          <a:solidFill>
            <a:srgbClr val="E8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19" b="1">
                <a:solidFill>
                  <a:srgbClr val="2C4A78"/>
                </a:solidFill>
                <a:latin typeface="Aptos"/>
              </a:defRPr>
            </a:pPr>
            <a:r>
              <a:t>LIBERO extension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671048" y="365760"/>
            <a:ext cx="1188720" cy="384048"/>
          </a:xfrm>
          <a:prstGeom prst="roundRect">
            <a:avLst/>
          </a:prstGeom>
          <a:solidFill>
            <a:srgbClr val="E8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19" b="1">
                <a:solidFill>
                  <a:srgbClr val="2C4A78"/>
                </a:solidFill>
                <a:latin typeface="Aptos"/>
              </a:defRPr>
            </a:pPr>
            <a:r>
              <a:t>7 perturbations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353312"/>
            <a:ext cx="10972800" cy="22860"/>
          </a:xfrm>
          <a:prstGeom prst="rect">
            <a:avLst/>
          </a:prstGeom>
          <a:solidFill>
            <a:srgbClr val="C8C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2" y="1627632"/>
            <a:ext cx="59436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91E28"/>
                </a:solidFill>
                <a:latin typeface="Aptos"/>
              </a:defRPr>
            </a:pPr>
            <a:r>
              <a:t>Performance drops under perturbations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984248"/>
            <a:ext cx="6446520" cy="3547872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64c5f9e1-7c92-474b-b99c-cfa4601e185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6223" y="2130552"/>
            <a:ext cx="4942792" cy="3255263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388352" y="1627632"/>
            <a:ext cx="384048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91E28"/>
                </a:solidFill>
                <a:latin typeface="Aptos"/>
              </a:defRPr>
            </a:pPr>
            <a:r>
              <a:t>Perturbation dimensions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0" y="1984247"/>
            <a:ext cx="4724400" cy="3401567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65bcd6b2-0fc0-475f-8aa6-aa2234ed056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8644" y="2901597"/>
            <a:ext cx="4476056" cy="1464216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7388352" y="5669280"/>
            <a:ext cx="4160520" cy="640080"/>
          </a:xfrm>
          <a:prstGeom prst="roundRect">
            <a:avLst/>
          </a:prstGeom>
          <a:solidFill>
            <a:srgbClr val="F1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i="1">
                <a:solidFill>
                  <a:srgbClr val="4B5360"/>
                </a:solidFill>
                <a:latin typeface="Aptos"/>
              </a:defRPr>
            </a:pPr>
            <a:r>
              <a:rPr dirty="0"/>
              <a:t>Key point: current VLAs are highly brittle to camera, robot state, layout, and noise shifts.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6080760"/>
            <a:ext cx="4114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787F8A"/>
                </a:solidFill>
                <a:latin typeface="Aptos"/>
              </a:defRPr>
            </a:pPr>
            <a:r>
              <a:t>Robotics Agent Project  |  August 28, 2026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83046" y="365760"/>
            <a:ext cx="1188720" cy="384048"/>
          </a:xfrm>
          <a:prstGeom prst="roundRect">
            <a:avLst/>
          </a:prstGeom>
          <a:solidFill>
            <a:srgbClr val="E8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2C4A78"/>
                </a:solidFill>
                <a:latin typeface="Aptos"/>
              </a:defRPr>
            </a:pPr>
            <a:r>
              <a:t>Markovian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956048" y="365760"/>
            <a:ext cx="960120" cy="384048"/>
          </a:xfrm>
          <a:prstGeom prst="roundRect">
            <a:avLst/>
          </a:prstGeom>
          <a:solidFill>
            <a:srgbClr val="E8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2C4A78"/>
                </a:solidFill>
                <a:latin typeface="Aptos"/>
              </a:defRPr>
            </a:pPr>
            <a:r>
              <a:t>Table-top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_clean_presentation_slide_infographic_style_i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10896"/>
            <a:ext cx="6217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91E28"/>
                </a:solidFill>
                <a:latin typeface="Aptos Display"/>
              </a:defRPr>
            </a:pPr>
            <a:r>
              <a:t>LIBERO-Mem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68680"/>
            <a:ext cx="81381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5F6773"/>
                </a:solidFill>
                <a:latin typeface="Aptos"/>
              </a:defRPr>
            </a:pPr>
            <a:r>
              <a:t>Object-level memory benchmark built on LIBERO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60920" y="365760"/>
            <a:ext cx="1325880" cy="384048"/>
          </a:xfrm>
          <a:prstGeom prst="roundRect">
            <a:avLst/>
          </a:prstGeom>
          <a:solidFill>
            <a:srgbClr val="E8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2C4A78"/>
                </a:solidFill>
                <a:latin typeface="Aptos"/>
              </a:defRPr>
            </a:pPr>
            <a:r>
              <a:t>MuJoCo-based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823960" y="365760"/>
            <a:ext cx="960120" cy="384048"/>
          </a:xfrm>
          <a:prstGeom prst="roundRect">
            <a:avLst/>
          </a:prstGeom>
          <a:solidFill>
            <a:srgbClr val="E8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2C4A78"/>
                </a:solidFill>
                <a:latin typeface="Aptos"/>
              </a:defRPr>
            </a:pPr>
            <a:r>
              <a:t>10 Tasks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921240" y="365760"/>
            <a:ext cx="1417320" cy="384048"/>
          </a:xfrm>
          <a:prstGeom prst="roundRect">
            <a:avLst/>
          </a:prstGeom>
          <a:solidFill>
            <a:srgbClr val="E8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2C4A78"/>
                </a:solidFill>
                <a:latin typeface="Aptos"/>
              </a:defRPr>
            </a:pPr>
            <a:r>
              <a:t>Non-Markovian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353312"/>
            <a:ext cx="10972800" cy="22860"/>
          </a:xfrm>
          <a:prstGeom prst="rect">
            <a:avLst/>
          </a:prstGeom>
          <a:solidFill>
            <a:srgbClr val="C8C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94360" y="1627632"/>
            <a:ext cx="388620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88ceab89-fb59-47b3-9ef0-07b1230bb2e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7636" y="1773936"/>
            <a:ext cx="2719647" cy="4142231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4800600" y="1627632"/>
            <a:ext cx="6565392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102352" y="1901952"/>
            <a:ext cx="59893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91E28"/>
                </a:solidFill>
                <a:latin typeface="Aptos"/>
              </a:defRPr>
            </a:pPr>
            <a:r>
              <a:t>Why memory is required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02352" y="2404693"/>
            <a:ext cx="5897880" cy="8686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200">
                <a:solidFill>
                  <a:srgbClr val="4B5360"/>
                </a:solidFill>
                <a:latin typeface="Aptos"/>
              </a:defRPr>
            </a:pPr>
            <a:r>
              <a:rPr sz="1100" dirty="0"/>
              <a:t>Current observation alone is intentionally ambiguous. The agent must remember which object was interacted with, how many times, where it moved, and whether it became occluded.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02352" y="3040649"/>
            <a:ext cx="2697480" cy="868680"/>
          </a:xfrm>
          <a:prstGeom prst="roundRect">
            <a:avLst/>
          </a:prstGeom>
          <a:solidFill>
            <a:srgbClr val="F8FAFD"/>
          </a:solidFill>
          <a:ln>
            <a:solidFill>
              <a:srgbClr val="DE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5266944" y="3205241"/>
            <a:ext cx="438912" cy="292608"/>
          </a:xfrm>
          <a:prstGeom prst="roundRect">
            <a:avLst/>
          </a:prstGeom>
          <a:solidFill>
            <a:srgbClr val="2C4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19" b="1">
                <a:solidFill>
                  <a:srgbClr val="FFFFFF"/>
                </a:solidFill>
                <a:latin typeface="Aptos"/>
              </a:defRPr>
            </a:pPr>
            <a:r>
              <a:t>OM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15584" y="3159521"/>
            <a:ext cx="1828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2C4A78"/>
                </a:solidFill>
                <a:latin typeface="Aptos"/>
              </a:defRPr>
            </a:pPr>
            <a:r>
              <a:t>Object Motion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15584" y="3470417"/>
            <a:ext cx="1828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19">
                <a:solidFill>
                  <a:srgbClr val="5A626E"/>
                </a:solidFill>
                <a:latin typeface="Aptos"/>
              </a:defRPr>
            </a:pPr>
            <a:r>
              <a:t>track recent object state / motion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56448" y="3040649"/>
            <a:ext cx="2697480" cy="868680"/>
          </a:xfrm>
          <a:prstGeom prst="roundRect">
            <a:avLst/>
          </a:prstGeom>
          <a:solidFill>
            <a:srgbClr val="F8FAFD"/>
          </a:solidFill>
          <a:ln>
            <a:solidFill>
              <a:srgbClr val="DE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8321040" y="3205241"/>
            <a:ext cx="438912" cy="292608"/>
          </a:xfrm>
          <a:prstGeom prst="roundRect">
            <a:avLst/>
          </a:prstGeom>
          <a:solidFill>
            <a:srgbClr val="2A75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19" b="1">
                <a:solidFill>
                  <a:srgbClr val="FFFFFF"/>
                </a:solidFill>
                <a:latin typeface="Aptos"/>
              </a:defRPr>
            </a:pPr>
            <a:r>
              <a:t>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69680" y="3159521"/>
            <a:ext cx="1828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2A7559"/>
                </a:solidFill>
                <a:latin typeface="Aptos"/>
              </a:defRPr>
            </a:pPr>
            <a:r>
              <a:t>Object Sequence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0" y="3470417"/>
            <a:ext cx="1828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19">
                <a:solidFill>
                  <a:srgbClr val="5A626E"/>
                </a:solidFill>
                <a:latin typeface="Aptos"/>
              </a:defRPr>
            </a:pPr>
            <a:r>
              <a:t>remember interaction count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102352" y="4147073"/>
            <a:ext cx="2697480" cy="868680"/>
          </a:xfrm>
          <a:prstGeom prst="roundRect">
            <a:avLst/>
          </a:prstGeom>
          <a:solidFill>
            <a:srgbClr val="F8FAFD"/>
          </a:solidFill>
          <a:ln>
            <a:solidFill>
              <a:srgbClr val="DE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5266944" y="4311665"/>
            <a:ext cx="438912" cy="292608"/>
          </a:xfrm>
          <a:prstGeom prst="roundRect">
            <a:avLst/>
          </a:prstGeom>
          <a:solidFill>
            <a:srgbClr val="7145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19" b="1">
                <a:solidFill>
                  <a:srgbClr val="FFFFFF"/>
                </a:solidFill>
                <a:latin typeface="Aptos"/>
              </a:defRPr>
            </a:pPr>
            <a:r>
              <a:t>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15584" y="4265945"/>
            <a:ext cx="1828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7145A8"/>
                </a:solidFill>
                <a:latin typeface="Aptos"/>
              </a:defRPr>
            </a:pPr>
            <a:r>
              <a:t>Object Relations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15584" y="4576841"/>
            <a:ext cx="1828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19">
                <a:solidFill>
                  <a:srgbClr val="5A626E"/>
                </a:solidFill>
                <a:latin typeface="Aptos"/>
              </a:defRPr>
            </a:pPr>
            <a:r>
              <a:t>track identity, order, relations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56448" y="4147073"/>
            <a:ext cx="2697480" cy="868680"/>
          </a:xfrm>
          <a:prstGeom prst="roundRect">
            <a:avLst/>
          </a:prstGeom>
          <a:solidFill>
            <a:srgbClr val="F8FAFD"/>
          </a:solidFill>
          <a:ln>
            <a:solidFill>
              <a:srgbClr val="DE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8321040" y="4311665"/>
            <a:ext cx="438912" cy="292608"/>
          </a:xfrm>
          <a:prstGeom prst="roundRect">
            <a:avLst/>
          </a:prstGeom>
          <a:solidFill>
            <a:srgbClr val="B48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19" b="1">
                <a:solidFill>
                  <a:srgbClr val="FFFFFF"/>
                </a:solidFill>
                <a:latin typeface="Aptos"/>
              </a:defRPr>
            </a:pPr>
            <a:r>
              <a:t>OO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69680" y="4265945"/>
            <a:ext cx="1828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B4821E"/>
                </a:solidFill>
                <a:latin typeface="Aptos"/>
              </a:defRPr>
            </a:pPr>
            <a:r>
              <a:t>Object Occlusion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69680" y="4576841"/>
            <a:ext cx="1828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19">
                <a:solidFill>
                  <a:srgbClr val="5A626E"/>
                </a:solidFill>
                <a:latin typeface="Aptos"/>
              </a:defRPr>
            </a:pPr>
            <a:r>
              <a:t>maintain hidden object state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102352" y="5244353"/>
            <a:ext cx="5897880" cy="347472"/>
          </a:xfrm>
          <a:prstGeom prst="roundRect">
            <a:avLst/>
          </a:prstGeom>
          <a:solidFill>
            <a:srgbClr val="F1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30" i="1">
                <a:solidFill>
                  <a:srgbClr val="4B5360"/>
                </a:solidFill>
                <a:latin typeface="Aptos"/>
              </a:defRPr>
            </a:pPr>
            <a:r>
              <a:t>Object Motion → Sequence → Relations → Occlusion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792" y="6108192"/>
            <a:ext cx="4114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787F8A"/>
                </a:solidFill>
                <a:latin typeface="Aptos"/>
              </a:defRPr>
            </a:pPr>
            <a:r>
              <a:t>Robotics Agent Project  |  August 28, 2026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63640" y="365760"/>
            <a:ext cx="960120" cy="384048"/>
          </a:xfrm>
          <a:prstGeom prst="roundRect">
            <a:avLst/>
          </a:prstGeom>
          <a:solidFill>
            <a:srgbClr val="E8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2C4A78"/>
                </a:solidFill>
                <a:latin typeface="Aptos"/>
              </a:defRPr>
            </a:pPr>
            <a:r>
              <a:t>Table-top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10896"/>
            <a:ext cx="6217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91E28"/>
                </a:solidFill>
                <a:latin typeface="Aptos Display"/>
              </a:defRPr>
            </a:pPr>
            <a:r>
              <a:t>RoboMemArena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68680"/>
            <a:ext cx="71323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5F6773"/>
                </a:solidFill>
                <a:latin typeface="Aptos"/>
              </a:defRPr>
            </a:pPr>
            <a:r>
              <a:t>Non-Markovian tabletop manipulation benchmark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372600" y="365760"/>
            <a:ext cx="960120" cy="384048"/>
          </a:xfrm>
          <a:prstGeom prst="roundRect">
            <a:avLst/>
          </a:prstGeom>
          <a:solidFill>
            <a:srgbClr val="E8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19" b="1">
                <a:solidFill>
                  <a:srgbClr val="2C4A78"/>
                </a:solidFill>
                <a:latin typeface="Aptos"/>
              </a:defRPr>
            </a:pPr>
            <a:r>
              <a:t>Table-top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469880" y="365760"/>
            <a:ext cx="1234440" cy="384048"/>
          </a:xfrm>
          <a:prstGeom prst="roundRect">
            <a:avLst/>
          </a:prstGeom>
          <a:solidFill>
            <a:srgbClr val="E8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19" b="1">
                <a:solidFill>
                  <a:srgbClr val="2C4A78"/>
                </a:solidFill>
                <a:latin typeface="Aptos"/>
              </a:defRPr>
            </a:pPr>
            <a:r>
              <a:t>Non-Markovian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353312"/>
            <a:ext cx="10972800" cy="22860"/>
          </a:xfrm>
          <a:prstGeom prst="rect">
            <a:avLst/>
          </a:prstGeom>
          <a:solidFill>
            <a:srgbClr val="C8C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94360" y="1664208"/>
            <a:ext cx="1097280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557a6cc4-c795-575e-8efc-b609d9aa467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4943" y="1737360"/>
            <a:ext cx="7791633" cy="442569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10896"/>
            <a:ext cx="5486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91E28"/>
                </a:solidFill>
                <a:latin typeface="Aptos Display"/>
              </a:defRPr>
            </a:pPr>
            <a:r>
              <a:t>RoboMME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68680"/>
            <a:ext cx="76809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5F6773"/>
                </a:solidFill>
                <a:latin typeface="Aptos"/>
              </a:defRPr>
            </a:pPr>
            <a:r>
              <a:t>Table-top memory benchmark for multi-step manipulation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372600" y="365760"/>
            <a:ext cx="960120" cy="384048"/>
          </a:xfrm>
          <a:prstGeom prst="roundRect">
            <a:avLst/>
          </a:prstGeom>
          <a:solidFill>
            <a:srgbClr val="E8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2C4A78"/>
                </a:solidFill>
                <a:latin typeface="Aptos"/>
              </a:defRPr>
            </a:pPr>
            <a:r>
              <a:t>Table-top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469880" y="365760"/>
            <a:ext cx="868680" cy="384048"/>
          </a:xfrm>
          <a:prstGeom prst="roundRect">
            <a:avLst/>
          </a:prstGeom>
          <a:solidFill>
            <a:srgbClr val="E8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2C4A78"/>
                </a:solidFill>
                <a:latin typeface="Aptos"/>
              </a:defRPr>
            </a:pPr>
            <a:r>
              <a:t>Memory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353312"/>
            <a:ext cx="10972800" cy="22860"/>
          </a:xfrm>
          <a:prstGeom prst="rect">
            <a:avLst/>
          </a:prstGeom>
          <a:solidFill>
            <a:srgbClr val="C8C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94360" y="1664208"/>
            <a:ext cx="1097280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f85409e2-af9a-487e-9d90-1e9fcab6148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799" y="2074970"/>
            <a:ext cx="10789920" cy="3704755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909560" y="365760"/>
            <a:ext cx="1325880" cy="384048"/>
          </a:xfrm>
          <a:prstGeom prst="roundRect">
            <a:avLst/>
          </a:prstGeom>
          <a:solidFill>
            <a:srgbClr val="E8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2C4A78"/>
                </a:solidFill>
                <a:latin typeface="Aptos"/>
              </a:defRPr>
            </a:pPr>
            <a:r>
              <a:t>Non-Markovian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10896"/>
            <a:ext cx="5760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91E28"/>
                </a:solidFill>
                <a:latin typeface="Aptos Display"/>
              </a:defRPr>
            </a:pPr>
            <a:r>
              <a:t>RoboVoLo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68680"/>
            <a:ext cx="8503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50">
                <a:solidFill>
                  <a:srgbClr val="5F6773"/>
                </a:solidFill>
                <a:latin typeface="Aptos"/>
              </a:defRPr>
            </a:pPr>
            <a:r>
              <a:t>Table-top benchmark covering both Markovian and non-Markovian manipulation tasks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60920" y="365760"/>
            <a:ext cx="960120" cy="384048"/>
          </a:xfrm>
          <a:prstGeom prst="roundRect">
            <a:avLst/>
          </a:prstGeom>
          <a:solidFill>
            <a:srgbClr val="E8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80" b="1">
                <a:solidFill>
                  <a:srgbClr val="2C4A78"/>
                </a:solidFill>
                <a:latin typeface="Aptos"/>
              </a:defRPr>
            </a:pPr>
            <a:r>
              <a:t>4 Suites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58200" y="365760"/>
            <a:ext cx="1234440" cy="384048"/>
          </a:xfrm>
          <a:prstGeom prst="roundRect">
            <a:avLst/>
          </a:prstGeom>
          <a:solidFill>
            <a:srgbClr val="E8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80" b="1">
                <a:solidFill>
                  <a:srgbClr val="2C4A78"/>
                </a:solidFill>
                <a:latin typeface="Aptos"/>
              </a:defRPr>
            </a:pPr>
            <a:r>
              <a:t>15 Categories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857232" y="365760"/>
            <a:ext cx="1051560" cy="384048"/>
          </a:xfrm>
          <a:prstGeom prst="roundRect">
            <a:avLst/>
          </a:prstGeom>
          <a:solidFill>
            <a:srgbClr val="E8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80" b="1">
                <a:solidFill>
                  <a:srgbClr val="2C4A78"/>
                </a:solidFill>
                <a:latin typeface="Aptos"/>
              </a:defRPr>
            </a:pPr>
            <a:r>
              <a:t>126 Tasks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045952" y="365760"/>
            <a:ext cx="868680" cy="384048"/>
          </a:xfrm>
          <a:prstGeom prst="roundRect">
            <a:avLst/>
          </a:prstGeom>
          <a:solidFill>
            <a:srgbClr val="E8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80" b="1">
                <a:solidFill>
                  <a:srgbClr val="2C4A78"/>
                </a:solidFill>
                <a:latin typeface="Aptos"/>
              </a:defRPr>
            </a:pPr>
            <a:r>
              <a:t>Table-top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353312"/>
            <a:ext cx="10972800" cy="22860"/>
          </a:xfrm>
          <a:prstGeom prst="rect">
            <a:avLst/>
          </a:prstGeom>
          <a:solidFill>
            <a:srgbClr val="C8C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594360" y="1600200"/>
            <a:ext cx="7543800" cy="4498848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ae11e114-6956-4ca9-86e9-51e94388c05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" y="2364300"/>
            <a:ext cx="7397496" cy="2970648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8458200" y="1600200"/>
            <a:ext cx="2971800" cy="4498848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732520" y="1874519"/>
            <a:ext cx="2423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91E28"/>
                </a:solidFill>
                <a:latin typeface="Aptos"/>
              </a:defRPr>
            </a:pPr>
            <a:r>
              <a:t>Task Character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732520" y="2514600"/>
            <a:ext cx="2423160" cy="960120"/>
          </a:xfrm>
          <a:prstGeom prst="roundRect">
            <a:avLst/>
          </a:prstGeom>
          <a:solidFill>
            <a:srgbClr val="F8FAFD"/>
          </a:solidFill>
          <a:ln>
            <a:solidFill>
              <a:srgbClr val="DE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915400" y="2651760"/>
            <a:ext cx="2057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30" b="1">
                <a:solidFill>
                  <a:srgbClr val="2C4A78"/>
                </a:solidFill>
                <a:latin typeface="Aptos"/>
              </a:defRPr>
            </a:pPr>
            <a:r>
              <a:t>Markovian Table-top Tasks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15400" y="2990088"/>
            <a:ext cx="20574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555D69"/>
                </a:solidFill>
                <a:latin typeface="Aptos"/>
              </a:defRPr>
            </a:pPr>
            <a:r>
              <a:t>LIBERO-like tasks</a:t>
            </a:r>
            <a:br/>
            <a:r>
              <a:t>current observation is mostly enough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32520" y="3794760"/>
            <a:ext cx="2423160" cy="960120"/>
          </a:xfrm>
          <a:prstGeom prst="roundRect">
            <a:avLst/>
          </a:prstGeom>
          <a:solidFill>
            <a:srgbClr val="F8FAFD"/>
          </a:solidFill>
          <a:ln>
            <a:solidFill>
              <a:srgbClr val="DE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15400" y="3931920"/>
            <a:ext cx="2057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30" b="1">
                <a:solidFill>
                  <a:srgbClr val="2C4A78"/>
                </a:solidFill>
                <a:latin typeface="Aptos"/>
              </a:defRPr>
            </a:pPr>
            <a:r>
              <a:t>Non-Markovian Table-top Tasks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15400" y="4270248"/>
            <a:ext cx="20574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555D69"/>
                </a:solidFill>
                <a:latin typeface="Aptos"/>
              </a:defRPr>
            </a:pPr>
            <a:r>
              <a:t>LIBERO-Mem-like tasks</a:t>
            </a:r>
            <a:br/>
            <a:r>
              <a:t>need state / interaction history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" y="6108192"/>
            <a:ext cx="4114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787F8A"/>
                </a:solidFill>
                <a:latin typeface="Aptos"/>
              </a:defRPr>
            </a:pPr>
            <a:r>
              <a:t>Robotics Agent Project  |  August 28, 2026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32520" y="5074920"/>
            <a:ext cx="2423160" cy="621792"/>
          </a:xfrm>
          <a:prstGeom prst="roundRect">
            <a:avLst/>
          </a:prstGeom>
          <a:solidFill>
            <a:srgbClr val="F1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19" i="1">
                <a:solidFill>
                  <a:srgbClr val="4B5360"/>
                </a:solidFill>
                <a:latin typeface="Aptos"/>
              </a:defRPr>
            </a:pPr>
            <a:r>
              <a:t>Useful bridge between simple LIBERO tasks and explicit memory benchmarks.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47548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1E28"/>
                </a:solidFill>
                <a:latin typeface="Aptos Display"/>
              </a:defRPr>
            </a:pPr>
            <a:r>
              <a:t>RoboCerebra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086600" y="274320"/>
            <a:ext cx="960120" cy="347472"/>
          </a:xfrm>
          <a:prstGeom prst="roundRect">
            <a:avLst/>
          </a:prstGeom>
          <a:solidFill>
            <a:srgbClr val="E8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19" b="1">
                <a:solidFill>
                  <a:srgbClr val="2C4A78"/>
                </a:solidFill>
                <a:latin typeface="Aptos"/>
              </a:defRPr>
            </a:pPr>
            <a:r>
              <a:t>Table-top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183879" y="274320"/>
            <a:ext cx="1417320" cy="347472"/>
          </a:xfrm>
          <a:prstGeom prst="roundRect">
            <a:avLst/>
          </a:prstGeom>
          <a:solidFill>
            <a:srgbClr val="E8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19" b="1">
                <a:solidFill>
                  <a:srgbClr val="2C4A78"/>
                </a:solidFill>
                <a:latin typeface="Aptos"/>
              </a:defRPr>
            </a:pPr>
            <a:r>
              <a:t>Ideal: Markovian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738360" y="274320"/>
            <a:ext cx="1965960" cy="347472"/>
          </a:xfrm>
          <a:prstGeom prst="roundRect">
            <a:avLst/>
          </a:prstGeom>
          <a:solidFill>
            <a:srgbClr val="E8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19" b="1">
                <a:solidFill>
                  <a:srgbClr val="2C4A78"/>
                </a:solidFill>
                <a:latin typeface="Aptos"/>
              </a:defRPr>
            </a:pPr>
            <a:r>
              <a:t>Dynamic / Memorization: Non-Markovian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786384"/>
            <a:ext cx="11155680" cy="18288"/>
          </a:xfrm>
          <a:prstGeom prst="rect">
            <a:avLst/>
          </a:prstGeom>
          <a:solidFill>
            <a:srgbClr val="C8C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02920" y="987552"/>
            <a:ext cx="5532120" cy="2084831"/>
          </a:xfrm>
          <a:prstGeom prst="roundRect">
            <a:avLst/>
          </a:prstGeom>
          <a:solidFill>
            <a:srgbClr val="FFFFFF"/>
          </a:solidFill>
          <a:ln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486" y="1092553"/>
            <a:ext cx="5196876" cy="1915824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4442819" y="1099007"/>
            <a:ext cx="1150530" cy="154793"/>
          </a:xfrm>
          <a:prstGeom prst="roundRect">
            <a:avLst/>
          </a:prstGeom>
          <a:solidFill>
            <a:srgbClr val="FFFFFF"/>
          </a:solidFill>
          <a:ln>
            <a:solidFill>
              <a:srgbClr val="2C4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2C4A78"/>
                </a:solidFill>
                <a:latin typeface="Aptos"/>
              </a:defRPr>
            </a:pPr>
            <a:r>
              <a:t>Non-Markovian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987552"/>
            <a:ext cx="5532120" cy="2084831"/>
          </a:xfrm>
          <a:prstGeom prst="roundRect">
            <a:avLst/>
          </a:prstGeom>
          <a:solidFill>
            <a:srgbClr val="FFFFFF"/>
          </a:solidFill>
          <a:ln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7388" y="1075406"/>
            <a:ext cx="5129784" cy="1867980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10337594" y="1075406"/>
            <a:ext cx="1016127" cy="179653"/>
          </a:xfrm>
          <a:prstGeom prst="roundRect">
            <a:avLst/>
          </a:prstGeom>
          <a:solidFill>
            <a:srgbClr val="FFFFFF"/>
          </a:solidFill>
          <a:ln>
            <a:solidFill>
              <a:srgbClr val="B482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B4821E"/>
                </a:solidFill>
                <a:latin typeface="Aptos"/>
              </a:defRPr>
            </a:pPr>
            <a:r>
              <a:t>Non-Markovian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8680" y="3273552"/>
            <a:ext cx="10469880" cy="2788920"/>
          </a:xfrm>
          <a:prstGeom prst="roundRect">
            <a:avLst/>
          </a:prstGeom>
          <a:solidFill>
            <a:srgbClr val="FFFFFF"/>
          </a:solidFill>
          <a:ln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9598" y="3338097"/>
            <a:ext cx="9810884" cy="2670166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9400906" y="3362661"/>
            <a:ext cx="1444752" cy="310896"/>
          </a:xfrm>
          <a:prstGeom prst="roundRect">
            <a:avLst/>
          </a:prstGeom>
          <a:solidFill>
            <a:srgbClr val="FFFFFF"/>
          </a:solidFill>
          <a:ln>
            <a:solidFill>
              <a:srgbClr val="2A75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2A7559"/>
                </a:solidFill>
                <a:latin typeface="Aptos"/>
              </a:defRPr>
            </a:pPr>
            <a:r>
              <a:t>Markovian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" y="6327648"/>
            <a:ext cx="41148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87F8A"/>
                </a:solidFill>
                <a:latin typeface="Aptos"/>
              </a:defRPr>
            </a:pPr>
            <a:r>
              <a:t>Robotics Agent Project  |  August 28, 2026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10896"/>
            <a:ext cx="5486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91E28"/>
                </a:solidFill>
                <a:latin typeface="Aptos Display"/>
              </a:defRPr>
            </a:pPr>
            <a:r>
              <a:t>VLABench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68680"/>
            <a:ext cx="82296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5F6773"/>
                </a:solidFill>
                <a:latin typeface="Aptos"/>
              </a:defRPr>
            </a:pPr>
            <a:r>
              <a:t>Benchmark covering diverse instructions, physical scenes, and reasoning-heavy tasks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635240" y="365760"/>
            <a:ext cx="1234440" cy="384048"/>
          </a:xfrm>
          <a:prstGeom prst="roundRect">
            <a:avLst/>
          </a:prstGeom>
          <a:solidFill>
            <a:srgbClr val="E8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2C4A78"/>
                </a:solidFill>
                <a:latin typeface="Aptos"/>
              </a:defRPr>
            </a:pPr>
            <a:r>
              <a:t>Non table-top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052560" y="365760"/>
            <a:ext cx="2331720" cy="384048"/>
          </a:xfrm>
          <a:prstGeom prst="roundRect">
            <a:avLst/>
          </a:prstGeom>
          <a:solidFill>
            <a:srgbClr val="E8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60" b="1">
                <a:solidFill>
                  <a:srgbClr val="2C4A78"/>
                </a:solidFill>
                <a:latin typeface="Aptos"/>
              </a:defRPr>
            </a:pPr>
            <a:r>
              <a:t>Markovian (partially non-Markovian)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353312"/>
            <a:ext cx="10972800" cy="22860"/>
          </a:xfrm>
          <a:prstGeom prst="rect">
            <a:avLst/>
          </a:prstGeom>
          <a:solidFill>
            <a:srgbClr val="C8C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02920" y="1600200"/>
            <a:ext cx="1120140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440c088b-ae9e-423a-ae9b-d75748e109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1355" y="1664207"/>
            <a:ext cx="7804528" cy="439826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21792" y="6144768"/>
            <a:ext cx="4114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787F8A"/>
                </a:solidFill>
                <a:latin typeface="Aptos"/>
              </a:defRPr>
            </a:pPr>
            <a:r>
              <a:t>Robotics Agent Project  |  August 28, 2026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10896"/>
            <a:ext cx="5486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91E28"/>
                </a:solidFill>
                <a:latin typeface="Aptos Display"/>
              </a:defRPr>
            </a:pPr>
            <a:r>
              <a:t>RoboCasa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68680"/>
            <a:ext cx="81381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5F6773"/>
                </a:solidFill>
                <a:latin typeface="Aptos"/>
              </a:defRPr>
            </a:pPr>
            <a:r>
              <a:t>Kitchen manipulation benchmark with diverse layouts and household tasks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353312"/>
            <a:ext cx="10972800" cy="22860"/>
          </a:xfrm>
          <a:prstGeom prst="rect">
            <a:avLst/>
          </a:prstGeom>
          <a:solidFill>
            <a:srgbClr val="C8C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594360" y="1627632"/>
            <a:ext cx="1097280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912404a6-158e-403d-8d26-0c87304ac5b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6118" y="1655063"/>
            <a:ext cx="5549282" cy="2368296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594360" y="4251960"/>
            <a:ext cx="10972800" cy="1664208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d7ddd919-e9a9-4b1a-bb13-9a6e934deba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32815" y="4297680"/>
            <a:ext cx="4695889" cy="1572767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786384" y="1764792"/>
            <a:ext cx="1920240" cy="292608"/>
          </a:xfrm>
          <a:prstGeom prst="roundRect">
            <a:avLst/>
          </a:prstGeom>
          <a:solidFill>
            <a:srgbClr val="2C4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  <a:latin typeface="Aptos"/>
              </a:defRPr>
            </a:pPr>
            <a:r>
              <a:t>Diverse kitchen layouts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6384" y="4389120"/>
            <a:ext cx="1828800" cy="292608"/>
          </a:xfrm>
          <a:prstGeom prst="roundRect">
            <a:avLst/>
          </a:prstGeom>
          <a:solidFill>
            <a:srgbClr val="2C4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  <a:latin typeface="Aptos"/>
              </a:defRPr>
            </a:pPr>
            <a:r>
              <a:t>Representative tasks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6144768"/>
            <a:ext cx="4114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787F8A"/>
                </a:solidFill>
                <a:latin typeface="Aptos"/>
              </a:defRPr>
            </a:pPr>
            <a:r>
              <a:t>Robotics Agent Project  |  August 28, 2026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532120" y="365760"/>
            <a:ext cx="1143000" cy="365760"/>
          </a:xfrm>
          <a:prstGeom prst="roundRect">
            <a:avLst/>
          </a:prstGeom>
          <a:solidFill>
            <a:srgbClr val="E8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2C4A78"/>
                </a:solidFill>
                <a:latin typeface="Aptos"/>
              </a:defRPr>
            </a:pPr>
            <a:r>
              <a:t>MuJoCo-based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03136" y="365760"/>
            <a:ext cx="1143000" cy="365760"/>
          </a:xfrm>
          <a:prstGeom prst="roundRect">
            <a:avLst/>
          </a:prstGeom>
          <a:solidFill>
            <a:srgbClr val="E8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2C4A78"/>
                </a:solidFill>
                <a:latin typeface="Aptos"/>
              </a:defRPr>
            </a:pPr>
            <a:r>
              <a:t>Kitchen scenes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74152" y="365760"/>
            <a:ext cx="1078992" cy="365760"/>
          </a:xfrm>
          <a:prstGeom prst="roundRect">
            <a:avLst/>
          </a:prstGeom>
          <a:solidFill>
            <a:srgbClr val="E8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2C4A78"/>
                </a:solidFill>
                <a:latin typeface="Aptos"/>
              </a:defRPr>
            </a:pPr>
            <a:r>
              <a:t>Non table-top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281160" y="365760"/>
            <a:ext cx="2240280" cy="365760"/>
          </a:xfrm>
          <a:prstGeom prst="roundRect">
            <a:avLst/>
          </a:prstGeom>
          <a:solidFill>
            <a:srgbClr val="E8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19" b="1">
                <a:solidFill>
                  <a:srgbClr val="2C4A78"/>
                </a:solidFill>
                <a:latin typeface="Aptos"/>
              </a:defRPr>
            </a:pPr>
            <a:r>
              <a:t>Markovian (partially non-Markovian)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10896"/>
            <a:ext cx="5943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91E28"/>
                </a:solidFill>
                <a:latin typeface="Aptos Display"/>
              </a:defRPr>
            </a:pPr>
            <a:r>
              <a:t>BEHAVIOR-1K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68680"/>
            <a:ext cx="80467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5F6773"/>
                </a:solidFill>
                <a:latin typeface="Aptos"/>
              </a:defRPr>
            </a:pPr>
            <a:r>
              <a:t>Large-scale household activity benchmark with diverse indoor and outdoor scenes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353312"/>
            <a:ext cx="10972800" cy="22860"/>
          </a:xfrm>
          <a:prstGeom prst="rect">
            <a:avLst/>
          </a:prstGeom>
          <a:solidFill>
            <a:srgbClr val="C8C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594360" y="1627632"/>
            <a:ext cx="10972800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2bf843f4-d713-5211-b56d-93ae277fd16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9983" y="1655063"/>
            <a:ext cx="4941552" cy="3054096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594360" y="4882896"/>
            <a:ext cx="10972800" cy="1549908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8d54dc57-0d1e-5955-bc25-00581b4f154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82932" y="4910327"/>
            <a:ext cx="5458148" cy="1472444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786384" y="1764792"/>
            <a:ext cx="2240280" cy="292608"/>
          </a:xfrm>
          <a:prstGeom prst="roundRect">
            <a:avLst/>
          </a:prstGeom>
          <a:solidFill>
            <a:srgbClr val="2C4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  <a:latin typeface="Aptos"/>
              </a:defRPr>
            </a:pPr>
            <a:r>
              <a:t>Representative environments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6384" y="5020056"/>
            <a:ext cx="2011680" cy="292608"/>
          </a:xfrm>
          <a:prstGeom prst="roundRect">
            <a:avLst/>
          </a:prstGeom>
          <a:solidFill>
            <a:srgbClr val="2C4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  <a:latin typeface="Aptos"/>
              </a:defRPr>
            </a:pPr>
            <a:r>
              <a:t>Scene / activity examples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6671" y="6432804"/>
            <a:ext cx="4114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787F8A"/>
                </a:solidFill>
                <a:latin typeface="Aptos"/>
              </a:defRPr>
            </a:pPr>
            <a:r>
              <a:t>Robotics Agent Project  |  August 28, 2026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166360" y="365760"/>
            <a:ext cx="1005840" cy="365760"/>
          </a:xfrm>
          <a:prstGeom prst="roundRect">
            <a:avLst/>
          </a:prstGeom>
          <a:solidFill>
            <a:srgbClr val="E8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2C4A78"/>
                </a:solidFill>
                <a:latin typeface="Aptos"/>
              </a:defRPr>
            </a:pPr>
            <a:r>
              <a:t>1,000 Tasks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0216" y="365760"/>
            <a:ext cx="1207008" cy="365760"/>
          </a:xfrm>
          <a:prstGeom prst="roundRect">
            <a:avLst/>
          </a:prstGeom>
          <a:solidFill>
            <a:srgbClr val="E8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2C4A78"/>
                </a:solidFill>
                <a:latin typeface="Aptos"/>
              </a:defRPr>
            </a:pPr>
            <a:r>
              <a:t>Household scenes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35240" y="365760"/>
            <a:ext cx="1060704" cy="365760"/>
          </a:xfrm>
          <a:prstGeom prst="roundRect">
            <a:avLst/>
          </a:prstGeom>
          <a:solidFill>
            <a:srgbClr val="E8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2C4A78"/>
                </a:solidFill>
                <a:latin typeface="Aptos"/>
              </a:defRPr>
            </a:pPr>
            <a:r>
              <a:t>Non table-top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823960" y="365760"/>
            <a:ext cx="2240280" cy="365760"/>
          </a:xfrm>
          <a:prstGeom prst="roundRect">
            <a:avLst/>
          </a:prstGeom>
          <a:solidFill>
            <a:srgbClr val="E8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19" b="1">
                <a:solidFill>
                  <a:srgbClr val="2C4A78"/>
                </a:solidFill>
                <a:latin typeface="Aptos"/>
              </a:defRPr>
            </a:pPr>
            <a:r>
              <a:t>Markovian (partially non-Markovian)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502920"/>
            <a:ext cx="8046720" cy="59436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3000" b="1">
                <a:solidFill>
                  <a:srgbClr val="191E28"/>
                </a:solidFill>
                <a:latin typeface="Aptos Display"/>
              </a:defRPr>
            </a:pPr>
            <a:r>
              <a:t>What We Learned from Benchmarks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24712"/>
            <a:ext cx="8686800" cy="38404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500">
                <a:solidFill>
                  <a:srgbClr val="5F6773"/>
                </a:solidFill>
                <a:latin typeface="Aptos"/>
              </a:defRPr>
            </a:pPr>
            <a:r>
              <a:t>Oracle planner alone is not enough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600200"/>
            <a:ext cx="10789920" cy="22860"/>
          </a:xfrm>
          <a:prstGeom prst="rect">
            <a:avLst/>
          </a:prstGeom>
          <a:solidFill>
            <a:srgbClr val="C8C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914400" y="1993392"/>
            <a:ext cx="103327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234440" y="2221992"/>
            <a:ext cx="9738360" cy="5486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>
              <a:defRPr sz="2200" b="1">
                <a:solidFill>
                  <a:srgbClr val="2C4A78"/>
                </a:solidFill>
                <a:latin typeface="Aptos"/>
              </a:defRPr>
            </a:pPr>
            <a:r>
              <a:rPr dirty="0" err="1"/>
              <a:t>Planner가</a:t>
            </a:r>
            <a:r>
              <a:rPr dirty="0"/>
              <a:t> </a:t>
            </a:r>
            <a:r>
              <a:rPr dirty="0" err="1"/>
              <a:t>oracle이어도</a:t>
            </a:r>
            <a:r>
              <a:rPr dirty="0"/>
              <a:t>, </a:t>
            </a:r>
            <a:r>
              <a:rPr dirty="0" err="1"/>
              <a:t>실제</a:t>
            </a:r>
            <a:r>
              <a:rPr dirty="0"/>
              <a:t> task </a:t>
            </a:r>
            <a:r>
              <a:rPr dirty="0" err="1"/>
              <a:t>success는</a:t>
            </a:r>
            <a:r>
              <a:rPr dirty="0"/>
              <a:t> </a:t>
            </a:r>
            <a:r>
              <a:rPr dirty="0" err="1"/>
              <a:t>여전히</a:t>
            </a:r>
            <a:r>
              <a:rPr dirty="0"/>
              <a:t> </a:t>
            </a:r>
            <a:r>
              <a:rPr dirty="0" err="1"/>
              <a:t>낮은</a:t>
            </a:r>
            <a:r>
              <a:rPr dirty="0"/>
              <a:t> </a:t>
            </a:r>
            <a:r>
              <a:rPr dirty="0" err="1"/>
              <a:t>경우가</a:t>
            </a:r>
            <a:r>
              <a:rPr dirty="0"/>
              <a:t> </a:t>
            </a:r>
            <a:r>
              <a:rPr dirty="0" err="1"/>
              <a:t>많았다</a:t>
            </a:r>
            <a:r>
              <a:rPr dirty="0"/>
              <a:t>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3657600"/>
            <a:ext cx="29718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097280" y="3822191"/>
            <a:ext cx="347472" cy="347472"/>
          </a:xfrm>
          <a:prstGeom prst="ellipse">
            <a:avLst/>
          </a:prstGeom>
          <a:solidFill>
            <a:srgbClr val="2C4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72768" y="3776472"/>
            <a:ext cx="2148840" cy="36576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320" b="1">
                <a:solidFill>
                  <a:srgbClr val="191E28"/>
                </a:solidFill>
                <a:latin typeface="Aptos"/>
              </a:defRPr>
            </a:pPr>
            <a:r>
              <a:t>Planning은 맞아도 execution이 깨짐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4343400"/>
            <a:ext cx="2542032" cy="6858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050">
                <a:solidFill>
                  <a:srgbClr val="525A67"/>
                </a:solidFill>
                <a:latin typeface="Aptos"/>
              </a:defRPr>
            </a:pPr>
            <a:r>
              <a:t>subgoal 자체는 올바르지만 grasp, place, collision recovery, local adjustment에서 실패하는 경우가 많음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069080" y="3657600"/>
            <a:ext cx="29718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4251960" y="3822191"/>
            <a:ext cx="347472" cy="347472"/>
          </a:xfrm>
          <a:prstGeom prst="ellipse">
            <a:avLst/>
          </a:prstGeom>
          <a:solidFill>
            <a:srgbClr val="2C4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27448" y="3776472"/>
            <a:ext cx="2148840" cy="36576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320" b="1">
                <a:solidFill>
                  <a:srgbClr val="191E28"/>
                </a:solidFill>
                <a:latin typeface="Aptos"/>
              </a:defRPr>
            </a:pPr>
            <a:r>
              <a:t>따라서 bottleneck은 VLA일 가능성이 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4343400"/>
            <a:ext cx="2542032" cy="6858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050">
                <a:solidFill>
                  <a:srgbClr val="525A67"/>
                </a:solidFill>
                <a:latin typeface="Aptos"/>
              </a:defRPr>
            </a:pPr>
            <a:r>
              <a:t>high-level reasoning보다 low-level action generation / state tracking / recovery 능력이 부족한 모습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223760" y="3657600"/>
            <a:ext cx="29718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7406640" y="3822191"/>
            <a:ext cx="347472" cy="347472"/>
          </a:xfrm>
          <a:prstGeom prst="ellipse">
            <a:avLst/>
          </a:prstGeom>
          <a:solidFill>
            <a:srgbClr val="2C4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82128" y="3776472"/>
            <a:ext cx="2148840" cy="36576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320" b="1">
                <a:solidFill>
                  <a:srgbClr val="191E28"/>
                </a:solidFill>
                <a:latin typeface="Aptos"/>
              </a:defRPr>
            </a:pPr>
            <a:r>
              <a:t>단, RoboMME는 예외적으로 보임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52360" y="4343400"/>
            <a:ext cx="2542032" cy="6858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050">
                <a:solidFill>
                  <a:srgbClr val="525A67"/>
                </a:solidFill>
                <a:latin typeface="Aptos"/>
              </a:defRPr>
            </a:pPr>
            <a:r>
              <a:t>RoboMME에서는 이 경향이 뚜렷하게 보이지 않았고, memory/reasoning 자체가 더 큰 요인일 수 있음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463040" y="5650992"/>
            <a:ext cx="9189720" cy="502920"/>
          </a:xfrm>
          <a:prstGeom prst="roundRect">
            <a:avLst/>
          </a:prstGeom>
          <a:solidFill>
            <a:srgbClr val="F1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>
              <a:defRPr sz="1250" i="1">
                <a:solidFill>
                  <a:srgbClr val="4B5360"/>
                </a:solidFill>
                <a:latin typeface="Aptos"/>
              </a:defRPr>
            </a:pPr>
            <a:r>
              <a:t>Takeaway: planning보다 VLA execution / recovery 능력을 올리는 방향이 더 직접적인 개선 포인트일 수 있다.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438912"/>
            <a:ext cx="8046720" cy="56692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3000" b="1">
                <a:solidFill>
                  <a:srgbClr val="191E28"/>
                </a:solidFill>
                <a:latin typeface="Aptos Display"/>
              </a:defRPr>
            </a:pPr>
            <a:r>
              <a:t>Naive Idea: Reflection with Memory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24128"/>
            <a:ext cx="8686800" cy="34747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500">
                <a:solidFill>
                  <a:srgbClr val="5F6773"/>
                </a:solidFill>
                <a:latin typeface="Aptos"/>
              </a:defRPr>
            </a:pPr>
            <a:r>
              <a:t>Goal: episode 간 reflection을 잘 하자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481328"/>
            <a:ext cx="10835640" cy="22860"/>
          </a:xfrm>
          <a:prstGeom prst="rect">
            <a:avLst/>
          </a:prstGeom>
          <a:solidFill>
            <a:srgbClr val="C8C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960120" y="1783080"/>
            <a:ext cx="1019556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>
              <a:defRPr sz="1700" b="1">
                <a:solidFill>
                  <a:srgbClr val="2C4A78"/>
                </a:solidFill>
                <a:latin typeface="Aptos"/>
              </a:defRPr>
            </a:pPr>
            <a:r>
              <a:t>Episode 간 reflection을 잘 하기 위해서는, 실패 과정과 교훈을 둘 다 기억해야 한다.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3063240"/>
            <a:ext cx="278892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069848" y="3246120"/>
            <a:ext cx="713232" cy="292608"/>
          </a:xfrm>
          <a:prstGeom prst="roundRect">
            <a:avLst/>
          </a:prstGeom>
          <a:solidFill>
            <a:srgbClr val="2C4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>
              <a:defRPr sz="919" b="1">
                <a:solidFill>
                  <a:srgbClr val="FFFFFF"/>
                </a:solidFill>
                <a:latin typeface="Aptos"/>
              </a:defRPr>
            </a:pPr>
            <a:r>
              <a:t>Step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" y="3639312"/>
            <a:ext cx="2331720" cy="3200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400" b="1">
                <a:solidFill>
                  <a:srgbClr val="2C4A78"/>
                </a:solidFill>
                <a:latin typeface="Aptos"/>
              </a:defRPr>
            </a:pPr>
            <a:r>
              <a:t>Intra-episode Memory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" y="4096512"/>
            <a:ext cx="2331720" cy="8686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050">
                <a:solidFill>
                  <a:srgbClr val="505864"/>
                </a:solidFill>
                <a:latin typeface="Aptos"/>
              </a:defRPr>
            </a:pPr>
            <a:r>
              <a:t>한 episode 동안</a:t>
            </a:r>
            <a:br/>
            <a:r>
              <a:t>무슨 일이 있었는지 기록</a:t>
            </a:r>
            <a:br/>
            <a:br/>
            <a:r>
              <a:t>성공/실패뿐 아니라</a:t>
            </a:r>
            <a:br/>
            <a:r>
              <a:t>왜 실패했는지 알기 위한</a:t>
            </a:r>
            <a:br/>
            <a:r>
              <a:t>과정 정보 저장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3063240"/>
            <a:ext cx="278892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544568" y="3246120"/>
            <a:ext cx="713232" cy="292608"/>
          </a:xfrm>
          <a:prstGeom prst="roundRect">
            <a:avLst/>
          </a:prstGeom>
          <a:solidFill>
            <a:srgbClr val="7145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>
              <a:defRPr sz="919" b="1">
                <a:solidFill>
                  <a:srgbClr val="FFFFFF"/>
                </a:solidFill>
                <a:latin typeface="Aptos"/>
              </a:defRPr>
            </a:pPr>
            <a:r>
              <a:t>Step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44568" y="3639312"/>
            <a:ext cx="2331720" cy="3200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400" b="1">
                <a:solidFill>
                  <a:srgbClr val="7145A8"/>
                </a:solidFill>
                <a:latin typeface="Aptos"/>
              </a:defRPr>
            </a:pPr>
            <a:r>
              <a:t>Reflection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62856" y="4096512"/>
            <a:ext cx="2331720" cy="8686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050">
                <a:solidFill>
                  <a:srgbClr val="505864"/>
                </a:solidFill>
                <a:latin typeface="Aptos"/>
              </a:defRPr>
            </a:pPr>
            <a:r>
              <a:t>저장된 과정을 바탕으로</a:t>
            </a:r>
            <a:br/>
            <a:r>
              <a:t>실패 원인을 분석</a:t>
            </a:r>
            <a:br/>
            <a:br/>
            <a:r>
              <a:t>다음 episode에서 쓸 수 있는</a:t>
            </a:r>
            <a:br/>
            <a:r>
              <a:t>교훈을 추출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18120" y="3063240"/>
            <a:ext cx="278892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8019288" y="3246120"/>
            <a:ext cx="713232" cy="292608"/>
          </a:xfrm>
          <a:prstGeom prst="roundRect">
            <a:avLst/>
          </a:prstGeom>
          <a:solidFill>
            <a:srgbClr val="2A75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>
              <a:defRPr sz="919" b="1">
                <a:solidFill>
                  <a:srgbClr val="FFFFFF"/>
                </a:solidFill>
                <a:latin typeface="Aptos"/>
              </a:defRPr>
            </a:pPr>
            <a:r>
              <a:t>Step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19288" y="3639312"/>
            <a:ext cx="2331720" cy="3200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400" b="1">
                <a:solidFill>
                  <a:srgbClr val="2A7559"/>
                </a:solidFill>
                <a:latin typeface="Aptos"/>
              </a:defRPr>
            </a:pPr>
            <a:r>
              <a:t>Inter-episode Memory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37576" y="4096512"/>
            <a:ext cx="2331720" cy="8686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050">
                <a:solidFill>
                  <a:srgbClr val="505864"/>
                </a:solidFill>
                <a:latin typeface="Aptos"/>
              </a:defRPr>
            </a:pPr>
            <a:r>
              <a:t>Reflection 결과를 저장</a:t>
            </a:r>
            <a:br/>
            <a:br/>
            <a:r>
              <a:t>이후 episode에서 활용해</a:t>
            </a:r>
            <a:br/>
            <a:r>
              <a:t>성공률을 높이는 방향으로</a:t>
            </a:r>
            <a:br/>
            <a:r>
              <a:t>policy / strategy 보정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3730752" y="3886200"/>
            <a:ext cx="457200" cy="384048"/>
          </a:xfrm>
          <a:prstGeom prst="rightArrow">
            <a:avLst/>
          </a:prstGeom>
          <a:solidFill>
            <a:srgbClr val="BEC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19" name="Right Arrow 18"/>
          <p:cNvSpPr/>
          <p:nvPr/>
        </p:nvSpPr>
        <p:spPr>
          <a:xfrm>
            <a:off x="7205472" y="3886200"/>
            <a:ext cx="457200" cy="384048"/>
          </a:xfrm>
          <a:prstGeom prst="rightArrow">
            <a:avLst/>
          </a:prstGeom>
          <a:solidFill>
            <a:srgbClr val="BEC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1280160" y="5669280"/>
            <a:ext cx="9555480" cy="502920"/>
          </a:xfrm>
          <a:prstGeom prst="roundRect">
            <a:avLst/>
          </a:prstGeom>
          <a:solidFill>
            <a:srgbClr val="F1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>
              <a:defRPr sz="1300" b="1">
                <a:solidFill>
                  <a:srgbClr val="4B5360"/>
                </a:solidFill>
                <a:latin typeface="Aptos"/>
              </a:defRPr>
            </a:pPr>
            <a:r>
              <a:t>Intra-episode memory  →  Reflection  →  Inter-episode memory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457200"/>
            <a:ext cx="8046720" cy="56692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3000" b="1">
                <a:solidFill>
                  <a:srgbClr val="191E28"/>
                </a:solidFill>
                <a:latin typeface="Aptos Display"/>
              </a:defRPr>
            </a:pPr>
            <a:r>
              <a:t>Benchmark Selection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33271"/>
            <a:ext cx="8686800" cy="34747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500">
                <a:solidFill>
                  <a:srgbClr val="5F6773"/>
                </a:solidFill>
                <a:latin typeface="Aptos"/>
              </a:defRPr>
            </a:pPr>
            <a:r>
              <a:t>Practical path for testing reflection-based agents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481328"/>
            <a:ext cx="10835640" cy="22860"/>
          </a:xfrm>
          <a:prstGeom prst="rect">
            <a:avLst/>
          </a:prstGeom>
          <a:solidFill>
            <a:srgbClr val="C8C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914400" y="1783080"/>
            <a:ext cx="1028700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>
              <a:defRPr sz="1800" b="1">
                <a:solidFill>
                  <a:srgbClr val="2C4A78"/>
                </a:solidFill>
                <a:latin typeface="Aptos"/>
              </a:defRPr>
            </a:pPr>
            <a:r>
              <a:t>Final target은 BEHAVIOR-1K처럼 복잡한 benchmark에서 잘하는 것.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3090672"/>
            <a:ext cx="278892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069848" y="3273552"/>
            <a:ext cx="384048" cy="384048"/>
          </a:xfrm>
          <a:prstGeom prst="ellipse">
            <a:avLst/>
          </a:prstGeom>
          <a:solidFill>
            <a:srgbClr val="B48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81912" y="3246120"/>
            <a:ext cx="1920240" cy="34747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350" b="1">
                <a:solidFill>
                  <a:srgbClr val="B4821E"/>
                </a:solidFill>
                <a:latin typeface="Aptos"/>
              </a:defRPr>
            </a:pPr>
            <a:r>
              <a:t>Final Target: BEHAVIOR-1K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794760"/>
            <a:ext cx="2331720" cy="12344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050">
                <a:solidFill>
                  <a:srgbClr val="505864"/>
                </a:solidFill>
                <a:latin typeface="Aptos"/>
              </a:defRPr>
            </a:pPr>
            <a:r>
              <a:rPr sz="1000"/>
              <a:t>복잡한 household task에서 잘하면 가장 좋음.</a:t>
            </a:r>
            <a:br/>
            <a:br/>
            <a:r>
              <a:rPr sz="1000"/>
              <a:t>하지만 environment와 task가 너무 복잡해서 reflection이 바로 잘 작동하기는 쉽지 않을 수 있음.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3090672"/>
            <a:ext cx="278892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4544568" y="3273552"/>
            <a:ext cx="384048" cy="384048"/>
          </a:xfrm>
          <a:prstGeom prst="ellipse">
            <a:avLst/>
          </a:prstGeom>
          <a:solidFill>
            <a:srgbClr val="2C4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56632" y="3246120"/>
            <a:ext cx="1920240" cy="34747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350" b="1">
                <a:solidFill>
                  <a:srgbClr val="2C4A78"/>
                </a:solidFill>
                <a:latin typeface="Aptos"/>
              </a:defRPr>
            </a:pPr>
            <a:r>
              <a:t>First Step: RoboVoLo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3794760"/>
            <a:ext cx="2331720" cy="12344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050">
                <a:solidFill>
                  <a:srgbClr val="505864"/>
                </a:solidFill>
                <a:latin typeface="Aptos"/>
              </a:defRPr>
            </a:pPr>
            <a:r>
              <a:rPr sz="1000"/>
              <a:t>조금 더 쉬운 tabletop setting에서 시작.</a:t>
            </a:r>
            <a:br/>
            <a:br/>
            <a:r>
              <a:rPr sz="1000"/>
              <a:t>reflection으로 agent가 실제로 더 잘해지는지 먼저 확인하기 좋은 후보.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18120" y="3090672"/>
            <a:ext cx="278892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8019288" y="3273552"/>
            <a:ext cx="384048" cy="384048"/>
          </a:xfrm>
          <a:prstGeom prst="ellipse">
            <a:avLst/>
          </a:prstGeom>
          <a:solidFill>
            <a:srgbClr val="7145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31352" y="3246120"/>
            <a:ext cx="1920240" cy="34747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350" b="1">
                <a:solidFill>
                  <a:srgbClr val="7145A8"/>
                </a:solidFill>
                <a:latin typeface="Aptos"/>
              </a:defRPr>
            </a:pPr>
            <a:r>
              <a:t>Baseline Quality Check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3794760"/>
            <a:ext cx="2331720" cy="12344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050">
                <a:solidFill>
                  <a:srgbClr val="505864"/>
                </a:solidFill>
                <a:latin typeface="Aptos"/>
              </a:defRPr>
            </a:pPr>
            <a:r>
              <a:rPr sz="1000"/>
              <a:t>agent baseline이 reflection 자체가 불가능할 정도로 구리면,</a:t>
            </a:r>
            <a:br/>
            <a:br/>
            <a:r>
              <a:rPr sz="1000"/>
              <a:t>먼저 baseline을 어느 정도 쓸 수 있는 수준까지 개선해야 함.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325880" y="5641848"/>
            <a:ext cx="9464040" cy="530352"/>
          </a:xfrm>
          <a:prstGeom prst="roundRect">
            <a:avLst/>
          </a:prstGeom>
          <a:solidFill>
            <a:srgbClr val="F1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>
              <a:defRPr sz="1250" i="1">
                <a:solidFill>
                  <a:srgbClr val="4B5360"/>
                </a:solidFill>
                <a:latin typeface="Aptos"/>
              </a:defRPr>
            </a:pPr>
            <a:r>
              <a:t>Selection: RoboVoLo로 reflection 효과를 먼저 검증하고, 이후 BEHAVIOR-1K로 확장.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2514600"/>
            <a:ext cx="1219169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600" b="1">
                <a:solidFill>
                  <a:srgbClr val="191E28"/>
                </a:solidFill>
                <a:latin typeface="Aptos Display"/>
              </a:defRPr>
            </a:pPr>
            <a:r>
              <a:t>The 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3337560"/>
            <a:ext cx="1219169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>
                <a:solidFill>
                  <a:srgbClr val="5F6773"/>
                </a:solidFill>
                <a:latin typeface="Aptos"/>
              </a:defRPr>
            </a:pPr>
            <a:r>
              <a:t>Thank you</a:t>
            </a:r>
          </a:p>
        </p:txBody>
      </p:sp>
      <p:sp>
        <p:nvSpPr>
          <p:cNvPr id="4" name="Rectangle 3"/>
          <p:cNvSpPr/>
          <p:nvPr/>
        </p:nvSpPr>
        <p:spPr>
          <a:xfrm>
            <a:off x="3886200" y="3977639"/>
            <a:ext cx="4389120" cy="22860"/>
          </a:xfrm>
          <a:prstGeom prst="rect">
            <a:avLst/>
          </a:prstGeom>
          <a:solidFill>
            <a:srgbClr val="CDD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901</Words>
  <Application>Microsoft Office PowerPoint</Application>
  <PresentationFormat>와이드스크린</PresentationFormat>
  <Paragraphs>197</Paragraphs>
  <Slides>20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20</vt:i4>
      </vt:variant>
    </vt:vector>
  </HeadingPairs>
  <TitlesOfParts>
    <vt:vector size="25" baseType="lpstr">
      <vt:lpstr>Aptos</vt:lpstr>
      <vt:lpstr>Aptos Display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subject/>
  <dc:creator/>
  <cp:keywords/>
  <dc:description>generated using python-pptx</dc:description>
  <cp:lastModifiedBy>이석민</cp:lastModifiedBy>
  <cp:revision>8</cp:revision>
  <dcterms:created xsi:type="dcterms:W3CDTF">2013-01-27T09:14:16Z</dcterms:created>
  <dcterms:modified xsi:type="dcterms:W3CDTF">2026-08-27T15:59:43Z</dcterms:modified>
  <cp:category/>
</cp:coreProperties>
</file>