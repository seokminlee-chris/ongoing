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2" r:id="rId4"/>
    <p:sldId id="258" r:id="rId5"/>
    <p:sldId id="259" r:id="rId6"/>
    <p:sldId id="260" r:id="rId7"/>
    <p:sldId id="266" r:id="rId8"/>
    <p:sldId id="263" r:id="rId9"/>
    <p:sldId id="265" r:id="rId10"/>
    <p:sldId id="269" r:id="rId11"/>
    <p:sldId id="261" r:id="rId12"/>
    <p:sldId id="262" r:id="rId13"/>
    <p:sldId id="264" r:id="rId14"/>
    <p:sldId id="267" r:id="rId15"/>
    <p:sldId id="268" r:id="rId16"/>
    <p:sldId id="273" r:id="rId17"/>
    <p:sldId id="270" r:id="rId18"/>
    <p:sldId id="271" r:id="rId19"/>
    <p:sldId id="278" r:id="rId20"/>
    <p:sldId id="274" r:id="rId21"/>
    <p:sldId id="275" r:id="rId22"/>
    <p:sldId id="276" r:id="rId23"/>
    <p:sldId id="277" r:id="rId2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85312A-CD25-4C29-88E2-3D0A10E78F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8BD6DC5-73B2-4CD0-9E96-970D0E560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1E7E97-88F6-468D-9350-54FE81E3F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03F7F-F909-45A3-A7C0-3E1D787E0834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A8A8FE-693A-4F32-930A-073C9C666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CDF13B-FA54-4D4C-B096-BC967EE3B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B3A4-DE9A-499B-8468-05175E9242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4376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682D72-536D-44CD-AA2A-4DB743F1E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470B9E-C9CA-41E1-93C6-B37A67F718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72A31F-5687-41D6-8419-77F2C234B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03F7F-F909-45A3-A7C0-3E1D787E0834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7929CC-FEA5-49B0-A8BD-AD72DF966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36CCFF2-8479-45D2-B642-8ED8A2E48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B3A4-DE9A-499B-8468-05175E9242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8341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BB32F5-1678-4A02-94C5-D9879B675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23FCBD3-75F0-4767-9FE2-8180E111A3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AFEE08-EA03-48AD-865B-2B4A8B52E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03F7F-F909-45A3-A7C0-3E1D787E0834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4FBB66-69FE-4E71-9C07-48E4EC9F1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F932D05-AF91-4327-86E3-32F5068B5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B3A4-DE9A-499B-8468-05175E9242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5500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92200C-D7B3-40F7-BDE7-A101CD861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DABCB8-B36B-4B67-BDDF-A6A99B301C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9D97CB2-EBFC-4AF6-8146-97C38D06B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6A7B870-ADB9-4FC4-8ABF-616069A28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03F7F-F909-45A3-A7C0-3E1D787E0834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1368490-6AD0-456A-BA06-F5E55D3A3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9957C37-6FA0-4C8C-9ECA-25BA47EFA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B3A4-DE9A-499B-8468-05175E9242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3533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672370-27C6-4914-95C9-FC442DBFF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6D0414-A336-4125-B175-F3ECCFE52D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18BCD4B-FF59-47F2-A418-A0E409508F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28994B8-A4A4-46A0-8735-20FB1967F4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7ED54ED-CA06-4C72-BCA2-504BB07DC8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B1AE8BA-DC13-4439-B6C4-565F8C0B0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03F7F-F909-45A3-A7C0-3E1D787E0834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D42F024-B6BF-452E-80CB-31F887BD7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A2E0642-17AB-4ED0-8DB2-C98408A09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B3A4-DE9A-499B-8468-05175E9242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346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628EAF-7661-4750-BBF2-86EE5C158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131A520-3E2B-405B-B424-84DB1F6AB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03F7F-F909-45A3-A7C0-3E1D787E0834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91DE3EE-DC39-45C8-994C-27EB5C08F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4C3BE2E-7FB1-4DED-962A-02E5D5095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B3A4-DE9A-499B-8468-05175E9242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3765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555C9B6-3D99-4370-A369-EDFAAAC34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03F7F-F909-45A3-A7C0-3E1D787E0834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A13DF3E-5463-4050-A1B9-1DB0AFAFD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1E9787-6DE4-4F6E-8F02-D77FCB27B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B3A4-DE9A-499B-8468-05175E9242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8218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759345-3DC8-4706-B996-0DCACDEFE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42821C-DFE6-48B7-AB7D-6FE7681A82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0CC3481-427D-4609-A37C-ED7D1AC78D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D2BDEE5-81CF-4241-A85B-15A441B37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03F7F-F909-45A3-A7C0-3E1D787E0834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17D6954-23A9-4E93-8122-16A954284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273A000-FB82-4A96-809C-00ED1E0E4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B3A4-DE9A-499B-8468-05175E9242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3122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27E85F-3111-4DCA-999D-12C0C9ACD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55A04F1-B7B3-4074-A429-1A5040DBAA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EC3B286-DC2B-49C0-9B52-3A904FC056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F60B9A-012A-460F-A694-5E06C1A08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03F7F-F909-45A3-A7C0-3E1D787E0834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A342173-94E9-4F04-A33C-2888A3E50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D740F1B-BAAE-46EF-82A0-752C43E71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B3A4-DE9A-499B-8468-05175E9242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8996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82871F-242C-4DFD-BF0D-88C14593F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FB5DD8D-073B-4CD9-96B4-1128B3950E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BAE4BA-E35C-4912-A79B-1831F8664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03F7F-F909-45A3-A7C0-3E1D787E0834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0CCACE-856D-499D-A06F-99B745403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88256E-1F10-4225-995D-4352FDB1F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B3A4-DE9A-499B-8468-05175E9242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4244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5388327-D258-4D7A-A46A-074C6D999E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300CBAB-4CDB-4B10-A26E-B863895C26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800AF4-B84E-4EBA-9501-85193277B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03F7F-F909-45A3-A7C0-3E1D787E0834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1520CA-D65A-44E7-A691-E32CACF6B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BC316E-85EA-4FF7-95F6-493ECF968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B3A4-DE9A-499B-8468-05175E9242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4828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320776A-3866-486C-9F31-D497AABE1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CFF407F-CDEF-4E99-9FAA-536047D04D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42288C-7F9C-4625-996C-E31504CADC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A03F7F-F909-45A3-A7C0-3E1D787E0834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88364F0-0978-4B6E-952E-A59481079C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6F354C-48EC-417C-B7BB-F752B0762C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E8B3A4-DE9A-499B-8468-05175E9242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0489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EDF910-1A70-4D6D-88EB-9FB84B22DD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823995"/>
          </a:xfrm>
        </p:spPr>
        <p:txBody>
          <a:bodyPr>
            <a:normAutofit/>
          </a:bodyPr>
          <a:lstStyle/>
          <a:p>
            <a:br>
              <a:rPr lang="en-US" altLang="ko-KR" sz="4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ko-KR" sz="4000" dirty="0">
                <a:latin typeface="Arial" panose="020B0604020202020204" pitchFamily="34" charset="0"/>
                <a:cs typeface="Arial" panose="020B0604020202020204" pitchFamily="34" charset="0"/>
              </a:rPr>
              <a:t>Memory for VLA</a:t>
            </a:r>
            <a:endParaRPr lang="ko-KR" alt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085D310-E49B-4C9C-8107-E7856DC9A6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061870"/>
            <a:ext cx="9144000" cy="1655762"/>
          </a:xfrm>
        </p:spPr>
        <p:txBody>
          <a:bodyPr>
            <a:normAutofit/>
          </a:bodyPr>
          <a:lstStyle/>
          <a:p>
            <a:r>
              <a:rPr lang="en-US" altLang="ko-KR" sz="3200" dirty="0" err="1">
                <a:latin typeface="Arial" panose="020B0604020202020204" pitchFamily="34" charset="0"/>
                <a:cs typeface="Arial" panose="020B0604020202020204" pitchFamily="34" charset="0"/>
              </a:rPr>
              <a:t>Seokmin</a:t>
            </a:r>
            <a:r>
              <a:rPr lang="en-US" altLang="ko-KR" sz="3200" dirty="0">
                <a:latin typeface="Arial" panose="020B0604020202020204" pitchFamily="34" charset="0"/>
                <a:cs typeface="Arial" panose="020B0604020202020204" pitchFamily="34" charset="0"/>
              </a:rPr>
              <a:t> Lee</a:t>
            </a:r>
            <a:endParaRPr lang="ko-KR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820C32-FF99-4AF7-B13F-D6B58CFE2429}"/>
              </a:ext>
            </a:extLst>
          </p:cNvPr>
          <p:cNvSpPr txBox="1"/>
          <p:nvPr/>
        </p:nvSpPr>
        <p:spPr>
          <a:xfrm>
            <a:off x="10748211" y="6348300"/>
            <a:ext cx="1443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2026.07.02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53830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21BDB8-29ED-4E6F-92F3-D02627B6F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contents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8A75DF-4135-46B6-B01D-8812C97F1B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Previous Approaches</a:t>
            </a: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Experimental Settings</a:t>
            </a: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Ideas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56119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EDF910-1A70-4D6D-88EB-9FB84B22DD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823995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latin typeface="Arial" panose="020B0604020202020204" pitchFamily="34" charset="0"/>
                <a:cs typeface="Arial" panose="020B0604020202020204" pitchFamily="34" charset="0"/>
              </a:rPr>
              <a:t>Previous Approaches</a:t>
            </a:r>
            <a:endParaRPr lang="ko-KR" alt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0946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FE833F-166D-4AFC-82AE-85D0B1F10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Previous Approaches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A8ABA27-5014-482A-96E9-B539ADF7DD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In General, There are two types of Memory</a:t>
            </a:r>
          </a:p>
          <a:p>
            <a:pPr lvl="1"/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Symbolic memory (with Planner)</a:t>
            </a:r>
          </a:p>
          <a:p>
            <a:pPr lvl="1"/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Perceptual memory (without Planner)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74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4A90FD-3E13-459E-96D6-24FA64911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8288"/>
            <a:ext cx="11102788" cy="1325563"/>
          </a:xfrm>
        </p:spPr>
        <p:txBody>
          <a:bodyPr/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Symbolic Memory – hierarchical structure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FB8F43C-F204-45AD-BDEE-078FECB874B5}"/>
              </a:ext>
            </a:extLst>
          </p:cNvPr>
          <p:cNvSpPr/>
          <p:nvPr/>
        </p:nvSpPr>
        <p:spPr>
          <a:xfrm>
            <a:off x="528918" y="2814917"/>
            <a:ext cx="4643718" cy="122816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8415562-A9A9-41EC-80BB-67B8B1A1D5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524" y="5405263"/>
            <a:ext cx="1164624" cy="90517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사각형: 잘린 위쪽 모서리 6">
            <a:extLst>
              <a:ext uri="{FF2B5EF4-FFF2-40B4-BE49-F238E27FC236}">
                <a16:creationId xmlns:a16="http://schemas.microsoft.com/office/drawing/2014/main" id="{37506012-7861-4F7A-B67B-4D8C7C5F3101}"/>
              </a:ext>
            </a:extLst>
          </p:cNvPr>
          <p:cNvSpPr/>
          <p:nvPr/>
        </p:nvSpPr>
        <p:spPr>
          <a:xfrm>
            <a:off x="642524" y="4706469"/>
            <a:ext cx="1164624" cy="555811"/>
          </a:xfrm>
          <a:prstGeom prst="snip2Same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4909B0-964A-47BD-A90D-0648D01CAF42}"/>
              </a:ext>
            </a:extLst>
          </p:cNvPr>
          <p:cNvSpPr txBox="1"/>
          <p:nvPr/>
        </p:nvSpPr>
        <p:spPr>
          <a:xfrm>
            <a:off x="708212" y="4834020"/>
            <a:ext cx="1021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Dino v2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A3C2A47-1F4F-45CA-957F-F7639D7C36AD}"/>
              </a:ext>
            </a:extLst>
          </p:cNvPr>
          <p:cNvSpPr/>
          <p:nvPr/>
        </p:nvSpPr>
        <p:spPr>
          <a:xfrm>
            <a:off x="708212" y="4276164"/>
            <a:ext cx="286870" cy="28732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7554ED9-0C93-4378-8F1D-9197FD4D1F0B}"/>
              </a:ext>
            </a:extLst>
          </p:cNvPr>
          <p:cNvSpPr/>
          <p:nvPr/>
        </p:nvSpPr>
        <p:spPr>
          <a:xfrm>
            <a:off x="1075765" y="4276164"/>
            <a:ext cx="286870" cy="28732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70A9033-A041-4D16-BFF5-90ADB806D21A}"/>
              </a:ext>
            </a:extLst>
          </p:cNvPr>
          <p:cNvSpPr/>
          <p:nvPr/>
        </p:nvSpPr>
        <p:spPr>
          <a:xfrm>
            <a:off x="1443318" y="4276164"/>
            <a:ext cx="286870" cy="28732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3D24C5-10EF-44C6-8146-367137EE7BD4}"/>
              </a:ext>
            </a:extLst>
          </p:cNvPr>
          <p:cNvSpPr txBox="1"/>
          <p:nvPr/>
        </p:nvSpPr>
        <p:spPr>
          <a:xfrm>
            <a:off x="658115" y="6375897"/>
            <a:ext cx="11646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>
                <a:latin typeface="Arial" panose="020B0604020202020204" pitchFamily="34" charset="0"/>
                <a:cs typeface="Arial" panose="020B0604020202020204" pitchFamily="34" charset="0"/>
              </a:rPr>
              <a:t>Current Image</a:t>
            </a:r>
            <a:endParaRPr lang="ko-KR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5F3F762-9EFF-4DFF-B597-F411746281CB}"/>
              </a:ext>
            </a:extLst>
          </p:cNvPr>
          <p:cNvSpPr/>
          <p:nvPr/>
        </p:nvSpPr>
        <p:spPr>
          <a:xfrm>
            <a:off x="1900517" y="5391685"/>
            <a:ext cx="1801908" cy="91875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C93029-A43B-4DCF-A701-394785281AA6}"/>
              </a:ext>
            </a:extLst>
          </p:cNvPr>
          <p:cNvSpPr txBox="1"/>
          <p:nvPr/>
        </p:nvSpPr>
        <p:spPr>
          <a:xfrm>
            <a:off x="1882590" y="5522259"/>
            <a:ext cx="19094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300" dirty="0"/>
          </a:p>
          <a:p>
            <a:r>
              <a:rPr lang="en-US" altLang="ko-KR" sz="1050" dirty="0">
                <a:latin typeface="Arial" panose="020B0604020202020204" pitchFamily="34" charset="0"/>
                <a:cs typeface="Arial" panose="020B0604020202020204" pitchFamily="34" charset="0"/>
              </a:rPr>
              <a:t>“grasp the blue cube, move left, grasp the yellow cube …”</a:t>
            </a:r>
            <a:endParaRPr lang="ko-KR" alt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사각형: 잘린 위쪽 모서리 15">
            <a:extLst>
              <a:ext uri="{FF2B5EF4-FFF2-40B4-BE49-F238E27FC236}">
                <a16:creationId xmlns:a16="http://schemas.microsoft.com/office/drawing/2014/main" id="{331EE226-333B-4A98-8142-C73B1197C43D}"/>
              </a:ext>
            </a:extLst>
          </p:cNvPr>
          <p:cNvSpPr/>
          <p:nvPr/>
        </p:nvSpPr>
        <p:spPr>
          <a:xfrm>
            <a:off x="1900516" y="4707459"/>
            <a:ext cx="1814589" cy="555811"/>
          </a:xfrm>
          <a:prstGeom prst="snip2Same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F57588-C1C1-419A-88BE-33C6E05CD259}"/>
              </a:ext>
            </a:extLst>
          </p:cNvPr>
          <p:cNvSpPr txBox="1"/>
          <p:nvPr/>
        </p:nvSpPr>
        <p:spPr>
          <a:xfrm>
            <a:off x="1792944" y="4849409"/>
            <a:ext cx="20170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tokenizer</a:t>
            </a:r>
            <a:endParaRPr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7C1D7FB-042D-41C9-9E8C-C36C4AE238D1}"/>
              </a:ext>
            </a:extLst>
          </p:cNvPr>
          <p:cNvSpPr/>
          <p:nvPr/>
        </p:nvSpPr>
        <p:spPr>
          <a:xfrm>
            <a:off x="2102986" y="4276164"/>
            <a:ext cx="286870" cy="28732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E8B336E-661B-44A8-8BFE-AC1D9AD0545D}"/>
              </a:ext>
            </a:extLst>
          </p:cNvPr>
          <p:cNvSpPr/>
          <p:nvPr/>
        </p:nvSpPr>
        <p:spPr>
          <a:xfrm>
            <a:off x="2470539" y="4276164"/>
            <a:ext cx="286870" cy="28732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5ED3E4B-737A-4A3E-965E-DC4FCF124B83}"/>
              </a:ext>
            </a:extLst>
          </p:cNvPr>
          <p:cNvSpPr/>
          <p:nvPr/>
        </p:nvSpPr>
        <p:spPr>
          <a:xfrm>
            <a:off x="2838092" y="4276164"/>
            <a:ext cx="286870" cy="28732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BA761BC-5813-456D-BE9C-DD08DFEA95AB}"/>
              </a:ext>
            </a:extLst>
          </p:cNvPr>
          <p:cNvSpPr/>
          <p:nvPr/>
        </p:nvSpPr>
        <p:spPr>
          <a:xfrm>
            <a:off x="3232539" y="4276164"/>
            <a:ext cx="286870" cy="28732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0B8032-775D-4B49-9E58-BC398772B6BB}"/>
              </a:ext>
            </a:extLst>
          </p:cNvPr>
          <p:cNvSpPr txBox="1"/>
          <p:nvPr/>
        </p:nvSpPr>
        <p:spPr>
          <a:xfrm>
            <a:off x="2175096" y="6374280"/>
            <a:ext cx="11646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>
                <a:latin typeface="Arial" panose="020B0604020202020204" pitchFamily="34" charset="0"/>
                <a:cs typeface="Arial" panose="020B0604020202020204" pitchFamily="34" charset="0"/>
              </a:rPr>
              <a:t>Subtask history</a:t>
            </a:r>
            <a:endParaRPr lang="ko-KR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F467CDB-6ED5-4660-810A-4707C4D310E2}"/>
              </a:ext>
            </a:extLst>
          </p:cNvPr>
          <p:cNvSpPr/>
          <p:nvPr/>
        </p:nvSpPr>
        <p:spPr>
          <a:xfrm>
            <a:off x="3809995" y="5405263"/>
            <a:ext cx="1362641" cy="91875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1A48773-5CE9-49FD-8D13-5821AB25D2AE}"/>
              </a:ext>
            </a:extLst>
          </p:cNvPr>
          <p:cNvSpPr txBox="1"/>
          <p:nvPr/>
        </p:nvSpPr>
        <p:spPr>
          <a:xfrm>
            <a:off x="3853298" y="5522259"/>
            <a:ext cx="132830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Arial" panose="020B0604020202020204" pitchFamily="34" charset="0"/>
                <a:cs typeface="Arial" panose="020B0604020202020204" pitchFamily="34" charset="0"/>
              </a:rPr>
              <a:t>Our final Goal is "clean the desk“. </a:t>
            </a:r>
          </a:p>
          <a:p>
            <a:r>
              <a:rPr lang="en-US" altLang="ko-KR" sz="1100" dirty="0">
                <a:latin typeface="Arial" panose="020B0604020202020204" pitchFamily="34" charset="0"/>
                <a:cs typeface="Arial" panose="020B0604020202020204" pitchFamily="34" charset="0"/>
              </a:rPr>
              <a:t>What is next subtask?</a:t>
            </a:r>
            <a:endParaRPr lang="ko-KR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사각형: 잘린 위쪽 모서리 25">
            <a:extLst>
              <a:ext uri="{FF2B5EF4-FFF2-40B4-BE49-F238E27FC236}">
                <a16:creationId xmlns:a16="http://schemas.microsoft.com/office/drawing/2014/main" id="{6231DF37-496A-4405-B12F-DF7849F45C58}"/>
              </a:ext>
            </a:extLst>
          </p:cNvPr>
          <p:cNvSpPr/>
          <p:nvPr/>
        </p:nvSpPr>
        <p:spPr>
          <a:xfrm>
            <a:off x="3808473" y="4727142"/>
            <a:ext cx="1364163" cy="555811"/>
          </a:xfrm>
          <a:prstGeom prst="snip2Same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A508F2D-B91E-4C63-A39E-1C19DBC8E894}"/>
              </a:ext>
            </a:extLst>
          </p:cNvPr>
          <p:cNvSpPr txBox="1"/>
          <p:nvPr/>
        </p:nvSpPr>
        <p:spPr>
          <a:xfrm>
            <a:off x="3487268" y="4849409"/>
            <a:ext cx="20170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tokenizer</a:t>
            </a:r>
            <a:endParaRPr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9C17512-6692-4EF7-AB61-D4B67B729530}"/>
              </a:ext>
            </a:extLst>
          </p:cNvPr>
          <p:cNvSpPr/>
          <p:nvPr/>
        </p:nvSpPr>
        <p:spPr>
          <a:xfrm>
            <a:off x="4356854" y="4276164"/>
            <a:ext cx="286870" cy="28732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6CDC8F8-144D-4BE8-B52D-25D1FFC0CCCB}"/>
              </a:ext>
            </a:extLst>
          </p:cNvPr>
          <p:cNvSpPr/>
          <p:nvPr/>
        </p:nvSpPr>
        <p:spPr>
          <a:xfrm>
            <a:off x="4724407" y="4276164"/>
            <a:ext cx="286870" cy="28732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8440CE7-7DBD-4274-930D-1F34CC642244}"/>
              </a:ext>
            </a:extLst>
          </p:cNvPr>
          <p:cNvSpPr txBox="1"/>
          <p:nvPr/>
        </p:nvSpPr>
        <p:spPr>
          <a:xfrm>
            <a:off x="1550894" y="3263153"/>
            <a:ext cx="2465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VLM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183DB69-C919-4CD9-89AC-3354A42C62D8}"/>
              </a:ext>
            </a:extLst>
          </p:cNvPr>
          <p:cNvSpPr/>
          <p:nvPr/>
        </p:nvSpPr>
        <p:spPr>
          <a:xfrm>
            <a:off x="2922494" y="1592073"/>
            <a:ext cx="2250142" cy="91875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F3B4117-7026-44E3-A109-FDF61A0C2DA8}"/>
              </a:ext>
            </a:extLst>
          </p:cNvPr>
          <p:cNvSpPr txBox="1"/>
          <p:nvPr/>
        </p:nvSpPr>
        <p:spPr>
          <a:xfrm>
            <a:off x="3128687" y="1830227"/>
            <a:ext cx="190947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sz="1050" dirty="0">
                <a:latin typeface="Arial" panose="020B0604020202020204" pitchFamily="34" charset="0"/>
                <a:cs typeface="Arial" panose="020B0604020202020204" pitchFamily="34" charset="0"/>
              </a:rPr>
              <a:t>“put yellow cube into the bin”</a:t>
            </a:r>
            <a:endParaRPr lang="ko-KR" alt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8C35F6F-FB3B-46AA-89CF-67002C600920}"/>
              </a:ext>
            </a:extLst>
          </p:cNvPr>
          <p:cNvSpPr txBox="1"/>
          <p:nvPr/>
        </p:nvSpPr>
        <p:spPr>
          <a:xfrm>
            <a:off x="3433876" y="2528708"/>
            <a:ext cx="11646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>
                <a:latin typeface="Arial" panose="020B0604020202020204" pitchFamily="34" charset="0"/>
                <a:cs typeface="Arial" panose="020B0604020202020204" pitchFamily="34" charset="0"/>
              </a:rPr>
              <a:t>Next subtask</a:t>
            </a:r>
            <a:endParaRPr lang="ko-KR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433786A-BDFD-4D3B-9619-E1DCA93343BC}"/>
              </a:ext>
            </a:extLst>
          </p:cNvPr>
          <p:cNvSpPr/>
          <p:nvPr/>
        </p:nvSpPr>
        <p:spPr>
          <a:xfrm>
            <a:off x="3989293" y="4276164"/>
            <a:ext cx="286870" cy="28732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화살표: 오른쪽 35">
            <a:extLst>
              <a:ext uri="{FF2B5EF4-FFF2-40B4-BE49-F238E27FC236}">
                <a16:creationId xmlns:a16="http://schemas.microsoft.com/office/drawing/2014/main" id="{0A3B0BD3-F77B-4014-BA67-F3EF554ED432}"/>
              </a:ext>
            </a:extLst>
          </p:cNvPr>
          <p:cNvSpPr/>
          <p:nvPr/>
        </p:nvSpPr>
        <p:spPr>
          <a:xfrm>
            <a:off x="5504327" y="3218325"/>
            <a:ext cx="1030941" cy="475129"/>
          </a:xfrm>
          <a:prstGeom prst="right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9C9E5DF7-B4A4-4ED1-8E56-45F752E4C892}"/>
              </a:ext>
            </a:extLst>
          </p:cNvPr>
          <p:cNvSpPr/>
          <p:nvPr/>
        </p:nvSpPr>
        <p:spPr>
          <a:xfrm>
            <a:off x="6866959" y="2813281"/>
            <a:ext cx="4643718" cy="122816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FB37C5F-AE0C-4F3A-95D9-4FC877077CC5}"/>
              </a:ext>
            </a:extLst>
          </p:cNvPr>
          <p:cNvSpPr txBox="1"/>
          <p:nvPr/>
        </p:nvSpPr>
        <p:spPr>
          <a:xfrm>
            <a:off x="8032376" y="3244333"/>
            <a:ext cx="2465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VLA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4A50EA4D-AD6E-4A55-B273-865BEBFF99F8}"/>
              </a:ext>
            </a:extLst>
          </p:cNvPr>
          <p:cNvSpPr/>
          <p:nvPr/>
        </p:nvSpPr>
        <p:spPr>
          <a:xfrm>
            <a:off x="8722659" y="5405263"/>
            <a:ext cx="2250142" cy="91875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A75FC96-616C-42D7-B736-121D3041806B}"/>
              </a:ext>
            </a:extLst>
          </p:cNvPr>
          <p:cNvSpPr txBox="1"/>
          <p:nvPr/>
        </p:nvSpPr>
        <p:spPr>
          <a:xfrm>
            <a:off x="8928852" y="5643417"/>
            <a:ext cx="190947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sz="1050" dirty="0">
                <a:latin typeface="Arial" panose="020B0604020202020204" pitchFamily="34" charset="0"/>
                <a:cs typeface="Arial" panose="020B0604020202020204" pitchFamily="34" charset="0"/>
              </a:rPr>
              <a:t>“put yellow cube into the bin”</a:t>
            </a:r>
            <a:endParaRPr lang="ko-KR" alt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3D69B91-33BA-487D-9CC7-83CCFF5F5365}"/>
              </a:ext>
            </a:extLst>
          </p:cNvPr>
          <p:cNvSpPr txBox="1"/>
          <p:nvPr/>
        </p:nvSpPr>
        <p:spPr>
          <a:xfrm>
            <a:off x="9234041" y="6341898"/>
            <a:ext cx="11646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>
                <a:latin typeface="Arial" panose="020B0604020202020204" pitchFamily="34" charset="0"/>
                <a:cs typeface="Arial" panose="020B0604020202020204" pitchFamily="34" charset="0"/>
              </a:rPr>
              <a:t>Next subtask</a:t>
            </a:r>
            <a:endParaRPr lang="ko-KR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31257AFE-C44F-4FD4-BF03-F6EFFD24DB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0064" y="5405263"/>
            <a:ext cx="1164624" cy="90517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3" name="사각형: 잘린 위쪽 모서리 42">
            <a:extLst>
              <a:ext uri="{FF2B5EF4-FFF2-40B4-BE49-F238E27FC236}">
                <a16:creationId xmlns:a16="http://schemas.microsoft.com/office/drawing/2014/main" id="{F93740FB-D067-40A1-8A18-3CEC22650B24}"/>
              </a:ext>
            </a:extLst>
          </p:cNvPr>
          <p:cNvSpPr/>
          <p:nvPr/>
        </p:nvSpPr>
        <p:spPr>
          <a:xfrm>
            <a:off x="7450064" y="4706469"/>
            <a:ext cx="1164624" cy="555811"/>
          </a:xfrm>
          <a:prstGeom prst="snip2Same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BA519FD-5208-4678-BC41-49E039DA22E0}"/>
              </a:ext>
            </a:extLst>
          </p:cNvPr>
          <p:cNvSpPr txBox="1"/>
          <p:nvPr/>
        </p:nvSpPr>
        <p:spPr>
          <a:xfrm>
            <a:off x="7515752" y="4834020"/>
            <a:ext cx="1021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Dino v2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8AAF9D86-3824-4ACC-9B44-F7B65F0291F4}"/>
              </a:ext>
            </a:extLst>
          </p:cNvPr>
          <p:cNvSpPr/>
          <p:nvPr/>
        </p:nvSpPr>
        <p:spPr>
          <a:xfrm>
            <a:off x="7515752" y="4276164"/>
            <a:ext cx="286870" cy="28732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6D62E3AF-BCB9-4074-9198-CB7718438541}"/>
              </a:ext>
            </a:extLst>
          </p:cNvPr>
          <p:cNvSpPr/>
          <p:nvPr/>
        </p:nvSpPr>
        <p:spPr>
          <a:xfrm>
            <a:off x="7883305" y="4276164"/>
            <a:ext cx="286870" cy="28732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88651B82-743C-47D0-B225-341F2FE507DC}"/>
              </a:ext>
            </a:extLst>
          </p:cNvPr>
          <p:cNvSpPr/>
          <p:nvPr/>
        </p:nvSpPr>
        <p:spPr>
          <a:xfrm>
            <a:off x="8250858" y="4276164"/>
            <a:ext cx="286870" cy="28732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05D65A2-6813-4102-B36D-3395D982CCDB}"/>
              </a:ext>
            </a:extLst>
          </p:cNvPr>
          <p:cNvSpPr txBox="1"/>
          <p:nvPr/>
        </p:nvSpPr>
        <p:spPr>
          <a:xfrm>
            <a:off x="7450064" y="6374280"/>
            <a:ext cx="11646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>
                <a:latin typeface="Arial" panose="020B0604020202020204" pitchFamily="34" charset="0"/>
                <a:cs typeface="Arial" panose="020B0604020202020204" pitchFamily="34" charset="0"/>
              </a:rPr>
              <a:t>Current Image</a:t>
            </a:r>
            <a:endParaRPr lang="ko-KR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사각형: 잘린 위쪽 모서리 54">
            <a:extLst>
              <a:ext uri="{FF2B5EF4-FFF2-40B4-BE49-F238E27FC236}">
                <a16:creationId xmlns:a16="http://schemas.microsoft.com/office/drawing/2014/main" id="{E8006BFA-081F-4DE0-B2DE-7F93F48E3563}"/>
              </a:ext>
            </a:extLst>
          </p:cNvPr>
          <p:cNvSpPr/>
          <p:nvPr/>
        </p:nvSpPr>
        <p:spPr>
          <a:xfrm>
            <a:off x="8880695" y="4707459"/>
            <a:ext cx="1814589" cy="555811"/>
          </a:xfrm>
          <a:prstGeom prst="snip2Same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C5FD36F-9F3B-4F15-8C0F-6DFA3905D22B}"/>
              </a:ext>
            </a:extLst>
          </p:cNvPr>
          <p:cNvSpPr txBox="1"/>
          <p:nvPr/>
        </p:nvSpPr>
        <p:spPr>
          <a:xfrm>
            <a:off x="8773123" y="4849409"/>
            <a:ext cx="20170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tokenizer</a:t>
            </a:r>
            <a:endParaRPr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B1C1BC97-89D7-4973-A5C3-AE2701A4D3D9}"/>
              </a:ext>
            </a:extLst>
          </p:cNvPr>
          <p:cNvSpPr/>
          <p:nvPr/>
        </p:nvSpPr>
        <p:spPr>
          <a:xfrm>
            <a:off x="9083165" y="4276164"/>
            <a:ext cx="286870" cy="28732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D761CCE0-3613-4B83-BD94-04574D5493E9}"/>
              </a:ext>
            </a:extLst>
          </p:cNvPr>
          <p:cNvSpPr/>
          <p:nvPr/>
        </p:nvSpPr>
        <p:spPr>
          <a:xfrm>
            <a:off x="9450718" y="4276164"/>
            <a:ext cx="286870" cy="28732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3700C51B-13E1-472A-A4E6-FE9319DB7338}"/>
              </a:ext>
            </a:extLst>
          </p:cNvPr>
          <p:cNvSpPr/>
          <p:nvPr/>
        </p:nvSpPr>
        <p:spPr>
          <a:xfrm>
            <a:off x="9818271" y="4276164"/>
            <a:ext cx="286870" cy="28732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7AF98D0D-4201-416F-BE38-CC89D22F1D45}"/>
              </a:ext>
            </a:extLst>
          </p:cNvPr>
          <p:cNvSpPr/>
          <p:nvPr/>
        </p:nvSpPr>
        <p:spPr>
          <a:xfrm>
            <a:off x="10212718" y="4276164"/>
            <a:ext cx="286870" cy="28732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DDC6EEF4-8DF0-463D-83AE-1EB1F767FE74}"/>
              </a:ext>
            </a:extLst>
          </p:cNvPr>
          <p:cNvSpPr/>
          <p:nvPr/>
        </p:nvSpPr>
        <p:spPr>
          <a:xfrm>
            <a:off x="10158929" y="1995615"/>
            <a:ext cx="1351748" cy="60036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78E8451-35B3-49F2-9E88-0ED74613A126}"/>
              </a:ext>
            </a:extLst>
          </p:cNvPr>
          <p:cNvSpPr txBox="1"/>
          <p:nvPr/>
        </p:nvSpPr>
        <p:spPr>
          <a:xfrm>
            <a:off x="10409943" y="1950787"/>
            <a:ext cx="9304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Action</a:t>
            </a: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chunk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0402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85D7A8-9620-4E11-8D86-48EC5D9CE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>
                <a:latin typeface="Arial" panose="020B0604020202020204" pitchFamily="34" charset="0"/>
                <a:cs typeface="Arial" panose="020B0604020202020204" pitchFamily="34" charset="0"/>
              </a:rPr>
              <a:t>Symbolic Memory – hierarchical structure</a:t>
            </a:r>
            <a:endParaRPr lang="ko-KR" alt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C93A1C-79B3-43A6-B422-5CC7397BC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Planner is called at every iteration</a:t>
            </a: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Action chunking keeps VLM latency affordable</a:t>
            </a:r>
          </a:p>
          <a:p>
            <a:pPr lvl="1"/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But still have latency issue : latency critical tasks</a:t>
            </a: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Predicted subtasks are accumulated in the subtask history</a:t>
            </a: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Consecutive duplicate subtasks are removed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B0BB8CB-667B-4C46-A5F2-D998B42EE2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3573" y="4479838"/>
            <a:ext cx="2369511" cy="201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4253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610C69-EC5E-447A-8CD5-2AF4B3EE3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Robomme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- symbolic, simple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BC5AFF-5AE0-4E71-B01F-7C59BA1F47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Generate subtasks without grounding to the target.</a:t>
            </a: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Limited performance ceiling.</a:t>
            </a:r>
          </a:p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B228A0E-6AD0-42A4-BC48-ECC06BA309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06487"/>
            <a:ext cx="12192000" cy="2005413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B4D518A2-0638-48F0-8A44-F1A9D644E66D}"/>
              </a:ext>
            </a:extLst>
          </p:cNvPr>
          <p:cNvSpPr/>
          <p:nvPr/>
        </p:nvSpPr>
        <p:spPr>
          <a:xfrm>
            <a:off x="80682" y="5038165"/>
            <a:ext cx="11914094" cy="4571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D6F3F29-2CA2-4153-AA1A-5A2440D44F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688" y="2422366"/>
            <a:ext cx="3825311" cy="1720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473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4A3930-0CC9-4AFC-9721-B828E8A7F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Robomme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- symbolic, grounded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66C477-8213-4139-804B-AF48922008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Follows the standard subtask generation pipeline (shown below).</a:t>
            </a: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Extends each subtask with the target object's image coordinates.</a:t>
            </a:r>
          </a:p>
          <a:p>
            <a:pPr lvl="1"/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Example: </a:t>
            </a:r>
            <a:r>
              <a:rPr lang="en-US" altLang="ko-KR" i="1" dirty="0">
                <a:latin typeface="Arial" panose="020B0604020202020204" pitchFamily="34" charset="0"/>
                <a:cs typeface="Arial" panose="020B0604020202020204" pitchFamily="34" charset="0"/>
              </a:rPr>
              <a:t>Put the yellow cube at [120, 10] into the bin.</a:t>
            </a: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Requires additional annotation for target grounding.</a:t>
            </a:r>
            <a:endParaRPr lang="en-US" altLang="ko-KR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4A2B6D3-7851-480D-A605-58D4978E09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9273" y="4535762"/>
            <a:ext cx="5162727" cy="2322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4290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6FF3CB-750F-4489-9140-6E5CAB87C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Robomme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- symbolic, grounded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20136C-CCB5-41CB-B1C4-77AA6C9E22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High performance with a latency-free oracle planner.</a:t>
            </a: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A low-latency, accurate planner is sufficient without modifying the VLA.</a:t>
            </a: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Existing VLM planners (e.g., Gemini,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Qwen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) are still inadequate.</a:t>
            </a:r>
          </a:p>
          <a:p>
            <a:pPr lvl="1"/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Planner latency, weak grounding, and subtask prediction errors remain major bottlenecks.</a:t>
            </a:r>
          </a:p>
          <a:p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02B0418-9C64-4DDE-A1B8-CF7FE23615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52587"/>
            <a:ext cx="12192000" cy="2005413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0AF2E42C-0B2E-4939-87B3-FC17FBD23A7A}"/>
              </a:ext>
            </a:extLst>
          </p:cNvPr>
          <p:cNvSpPr/>
          <p:nvPr/>
        </p:nvSpPr>
        <p:spPr>
          <a:xfrm>
            <a:off x="80682" y="5773272"/>
            <a:ext cx="11914094" cy="4571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87BFC77-CAB4-4818-8789-ADE2EADB3DCA}"/>
              </a:ext>
            </a:extLst>
          </p:cNvPr>
          <p:cNvSpPr/>
          <p:nvPr/>
        </p:nvSpPr>
        <p:spPr>
          <a:xfrm>
            <a:off x="1084729" y="6526311"/>
            <a:ext cx="10919011" cy="4571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F098ABD-A9EC-48C5-9B11-CA955761F3C9}"/>
              </a:ext>
            </a:extLst>
          </p:cNvPr>
          <p:cNvSpPr/>
          <p:nvPr/>
        </p:nvSpPr>
        <p:spPr>
          <a:xfrm>
            <a:off x="1084727" y="6750431"/>
            <a:ext cx="10919011" cy="4571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46427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5A8A64-F7EB-44BD-BF40-6996B2A3C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MEM (Physical intelligence)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FED170-25E2-43DB-B064-7DF528BB0A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165557"/>
            <a:ext cx="10515600" cy="1011405"/>
          </a:xfrm>
        </p:spPr>
        <p:txBody>
          <a:bodyPr/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Introduces a video encoder with causal temporal attention.</a:t>
            </a: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History summarization 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E335278-0CB1-448A-8A9C-457B21FD14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3917" y="1495197"/>
            <a:ext cx="4944165" cy="325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733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8A5A08-A940-44BD-B30D-B094D40AC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Perceptual Memory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3482070-FFC1-4D39-B315-3DDF3E1ACD19}"/>
              </a:ext>
            </a:extLst>
          </p:cNvPr>
          <p:cNvSpPr/>
          <p:nvPr/>
        </p:nvSpPr>
        <p:spPr>
          <a:xfrm>
            <a:off x="1452282" y="2814917"/>
            <a:ext cx="9777192" cy="122816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E8BBD8-CC5F-474D-894C-E853D61D82D9}"/>
              </a:ext>
            </a:extLst>
          </p:cNvPr>
          <p:cNvSpPr txBox="1"/>
          <p:nvPr/>
        </p:nvSpPr>
        <p:spPr>
          <a:xfrm>
            <a:off x="5280607" y="3244333"/>
            <a:ext cx="2465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VLA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5F2A3F4-D015-4F78-A3FB-FBF2ADCEC6A4}"/>
              </a:ext>
            </a:extLst>
          </p:cNvPr>
          <p:cNvSpPr/>
          <p:nvPr/>
        </p:nvSpPr>
        <p:spPr>
          <a:xfrm>
            <a:off x="8965854" y="5405263"/>
            <a:ext cx="2250142" cy="91875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B06663-A77F-4DAC-89C8-375D1416024A}"/>
              </a:ext>
            </a:extLst>
          </p:cNvPr>
          <p:cNvSpPr txBox="1"/>
          <p:nvPr/>
        </p:nvSpPr>
        <p:spPr>
          <a:xfrm>
            <a:off x="9541013" y="5691543"/>
            <a:ext cx="117628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sz="1050" dirty="0">
                <a:latin typeface="Arial" panose="020B0604020202020204" pitchFamily="34" charset="0"/>
                <a:cs typeface="Arial" panose="020B0604020202020204" pitchFamily="34" charset="0"/>
              </a:rPr>
              <a:t>“clean the desk”</a:t>
            </a:r>
            <a:endParaRPr lang="ko-KR" alt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A066F8-0C24-4BFC-9A5C-EA7DAD26F4CA}"/>
              </a:ext>
            </a:extLst>
          </p:cNvPr>
          <p:cNvSpPr txBox="1"/>
          <p:nvPr/>
        </p:nvSpPr>
        <p:spPr>
          <a:xfrm>
            <a:off x="9477236" y="6422108"/>
            <a:ext cx="11646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>
                <a:latin typeface="Arial" panose="020B0604020202020204" pitchFamily="34" charset="0"/>
                <a:cs typeface="Arial" panose="020B0604020202020204" pitchFamily="34" charset="0"/>
              </a:rPr>
              <a:t>Final Goal</a:t>
            </a:r>
            <a:endParaRPr lang="ko-KR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사각형: 잘린 위쪽 모서리 9">
            <a:extLst>
              <a:ext uri="{FF2B5EF4-FFF2-40B4-BE49-F238E27FC236}">
                <a16:creationId xmlns:a16="http://schemas.microsoft.com/office/drawing/2014/main" id="{855E6661-9493-4395-80A9-426382914884}"/>
              </a:ext>
            </a:extLst>
          </p:cNvPr>
          <p:cNvSpPr/>
          <p:nvPr/>
        </p:nvSpPr>
        <p:spPr>
          <a:xfrm>
            <a:off x="1666421" y="4706469"/>
            <a:ext cx="1164624" cy="555811"/>
          </a:xfrm>
          <a:prstGeom prst="snip2Same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F0CB49-1784-443D-9F7D-1239AF86870D}"/>
              </a:ext>
            </a:extLst>
          </p:cNvPr>
          <p:cNvSpPr txBox="1"/>
          <p:nvPr/>
        </p:nvSpPr>
        <p:spPr>
          <a:xfrm>
            <a:off x="1732109" y="4834020"/>
            <a:ext cx="1021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Dino v2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21428B1-FC6C-40E8-A071-F23E9343D2AB}"/>
              </a:ext>
            </a:extLst>
          </p:cNvPr>
          <p:cNvSpPr/>
          <p:nvPr/>
        </p:nvSpPr>
        <p:spPr>
          <a:xfrm>
            <a:off x="1732109" y="4276164"/>
            <a:ext cx="286870" cy="28732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C3CB64F-E064-4456-9C44-7AA47E201C7A}"/>
              </a:ext>
            </a:extLst>
          </p:cNvPr>
          <p:cNvSpPr/>
          <p:nvPr/>
        </p:nvSpPr>
        <p:spPr>
          <a:xfrm>
            <a:off x="2099662" y="4276164"/>
            <a:ext cx="286870" cy="28732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1C296F7-0DC4-439B-85CA-376DF571E1BE}"/>
              </a:ext>
            </a:extLst>
          </p:cNvPr>
          <p:cNvSpPr/>
          <p:nvPr/>
        </p:nvSpPr>
        <p:spPr>
          <a:xfrm>
            <a:off x="2467215" y="4276164"/>
            <a:ext cx="286870" cy="28732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BB224C-B52B-4363-8338-19D97903E596}"/>
              </a:ext>
            </a:extLst>
          </p:cNvPr>
          <p:cNvSpPr txBox="1"/>
          <p:nvPr/>
        </p:nvSpPr>
        <p:spPr>
          <a:xfrm>
            <a:off x="1666421" y="6374280"/>
            <a:ext cx="11646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>
                <a:latin typeface="Arial" panose="020B0604020202020204" pitchFamily="34" charset="0"/>
                <a:cs typeface="Arial" panose="020B0604020202020204" pitchFamily="34" charset="0"/>
              </a:rPr>
              <a:t>past Image</a:t>
            </a:r>
            <a:endParaRPr lang="ko-KR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사각형: 잘린 위쪽 모서리 15">
            <a:extLst>
              <a:ext uri="{FF2B5EF4-FFF2-40B4-BE49-F238E27FC236}">
                <a16:creationId xmlns:a16="http://schemas.microsoft.com/office/drawing/2014/main" id="{37317A41-52BF-4A97-93D1-BE7C3D7F9F1F}"/>
              </a:ext>
            </a:extLst>
          </p:cNvPr>
          <p:cNvSpPr/>
          <p:nvPr/>
        </p:nvSpPr>
        <p:spPr>
          <a:xfrm>
            <a:off x="9123890" y="4707459"/>
            <a:ext cx="1814589" cy="555811"/>
          </a:xfrm>
          <a:prstGeom prst="snip2Same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BC87E39-3644-48A9-BA90-3369E4A2940D}"/>
              </a:ext>
            </a:extLst>
          </p:cNvPr>
          <p:cNvSpPr txBox="1"/>
          <p:nvPr/>
        </p:nvSpPr>
        <p:spPr>
          <a:xfrm>
            <a:off x="9016318" y="4849409"/>
            <a:ext cx="20170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tokenizer</a:t>
            </a:r>
            <a:endParaRPr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07EDA28-A7EB-4B25-961F-5D77C9FA7AC0}"/>
              </a:ext>
            </a:extLst>
          </p:cNvPr>
          <p:cNvSpPr/>
          <p:nvPr/>
        </p:nvSpPr>
        <p:spPr>
          <a:xfrm>
            <a:off x="9326360" y="4276164"/>
            <a:ext cx="286870" cy="28732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80C4878-F66A-43D7-90B4-4F0742BC1955}"/>
              </a:ext>
            </a:extLst>
          </p:cNvPr>
          <p:cNvSpPr/>
          <p:nvPr/>
        </p:nvSpPr>
        <p:spPr>
          <a:xfrm>
            <a:off x="9693913" y="4276164"/>
            <a:ext cx="286870" cy="28732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8AA859A-1EE4-4B24-9959-968DB014DCDF}"/>
              </a:ext>
            </a:extLst>
          </p:cNvPr>
          <p:cNvSpPr/>
          <p:nvPr/>
        </p:nvSpPr>
        <p:spPr>
          <a:xfrm>
            <a:off x="10061466" y="4276164"/>
            <a:ext cx="286870" cy="28732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9C984AE-B077-417A-92CF-5FC9BFB1BADA}"/>
              </a:ext>
            </a:extLst>
          </p:cNvPr>
          <p:cNvSpPr/>
          <p:nvPr/>
        </p:nvSpPr>
        <p:spPr>
          <a:xfrm>
            <a:off x="10455913" y="4276164"/>
            <a:ext cx="286870" cy="28732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8F53991-E186-420F-B845-10312ABF4991}"/>
              </a:ext>
            </a:extLst>
          </p:cNvPr>
          <p:cNvSpPr/>
          <p:nvPr/>
        </p:nvSpPr>
        <p:spPr>
          <a:xfrm>
            <a:off x="9397026" y="1904051"/>
            <a:ext cx="1351748" cy="60036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F5CB501-05F4-4C2E-B9BD-E0D1983E7763}"/>
              </a:ext>
            </a:extLst>
          </p:cNvPr>
          <p:cNvSpPr txBox="1"/>
          <p:nvPr/>
        </p:nvSpPr>
        <p:spPr>
          <a:xfrm>
            <a:off x="9648040" y="1859223"/>
            <a:ext cx="9304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Action</a:t>
            </a: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chunk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사각형: 잘린 위쪽 모서리 24">
            <a:extLst>
              <a:ext uri="{FF2B5EF4-FFF2-40B4-BE49-F238E27FC236}">
                <a16:creationId xmlns:a16="http://schemas.microsoft.com/office/drawing/2014/main" id="{64C1FD4F-95CA-47DB-9D3C-6806DA5929EC}"/>
              </a:ext>
            </a:extLst>
          </p:cNvPr>
          <p:cNvSpPr/>
          <p:nvPr/>
        </p:nvSpPr>
        <p:spPr>
          <a:xfrm>
            <a:off x="3068111" y="4706469"/>
            <a:ext cx="1164624" cy="555811"/>
          </a:xfrm>
          <a:prstGeom prst="snip2Same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3C43538-70FD-4AFF-8FCA-891EA5A78784}"/>
              </a:ext>
            </a:extLst>
          </p:cNvPr>
          <p:cNvSpPr txBox="1"/>
          <p:nvPr/>
        </p:nvSpPr>
        <p:spPr>
          <a:xfrm>
            <a:off x="3133799" y="4834020"/>
            <a:ext cx="1021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Dino v2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2B02B77-3492-4AD6-9585-955A76A86319}"/>
              </a:ext>
            </a:extLst>
          </p:cNvPr>
          <p:cNvSpPr/>
          <p:nvPr/>
        </p:nvSpPr>
        <p:spPr>
          <a:xfrm>
            <a:off x="3133799" y="4276164"/>
            <a:ext cx="286870" cy="28732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5D25B4B-A2D1-4EF8-90B7-574F48EAD10D}"/>
              </a:ext>
            </a:extLst>
          </p:cNvPr>
          <p:cNvSpPr/>
          <p:nvPr/>
        </p:nvSpPr>
        <p:spPr>
          <a:xfrm>
            <a:off x="3501352" y="4276164"/>
            <a:ext cx="286870" cy="28732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D226996-61CE-4618-8C8C-C7BF4CDA6D72}"/>
              </a:ext>
            </a:extLst>
          </p:cNvPr>
          <p:cNvSpPr/>
          <p:nvPr/>
        </p:nvSpPr>
        <p:spPr>
          <a:xfrm>
            <a:off x="3868905" y="4276164"/>
            <a:ext cx="286870" cy="28732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2272C40-7113-4F1D-8DA7-C15587208F72}"/>
              </a:ext>
            </a:extLst>
          </p:cNvPr>
          <p:cNvSpPr txBox="1"/>
          <p:nvPr/>
        </p:nvSpPr>
        <p:spPr>
          <a:xfrm>
            <a:off x="3068111" y="6374280"/>
            <a:ext cx="11646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>
                <a:latin typeface="Arial" panose="020B0604020202020204" pitchFamily="34" charset="0"/>
                <a:cs typeface="Arial" panose="020B0604020202020204" pitchFamily="34" charset="0"/>
              </a:rPr>
              <a:t>past Image</a:t>
            </a:r>
            <a:endParaRPr lang="ko-KR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사각형: 잘린 위쪽 모서리 31">
            <a:extLst>
              <a:ext uri="{FF2B5EF4-FFF2-40B4-BE49-F238E27FC236}">
                <a16:creationId xmlns:a16="http://schemas.microsoft.com/office/drawing/2014/main" id="{A176A5D6-03C3-4EAA-8753-B5B74A49C9DA}"/>
              </a:ext>
            </a:extLst>
          </p:cNvPr>
          <p:cNvSpPr/>
          <p:nvPr/>
        </p:nvSpPr>
        <p:spPr>
          <a:xfrm>
            <a:off x="4528599" y="4706469"/>
            <a:ext cx="1164624" cy="555811"/>
          </a:xfrm>
          <a:prstGeom prst="snip2Same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E2E74B1-68AC-4497-8BBB-BF73A5159581}"/>
              </a:ext>
            </a:extLst>
          </p:cNvPr>
          <p:cNvSpPr txBox="1"/>
          <p:nvPr/>
        </p:nvSpPr>
        <p:spPr>
          <a:xfrm>
            <a:off x="4594287" y="4834020"/>
            <a:ext cx="1021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Dino v2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D1A77DC-47D0-48EC-AD66-29D201BA6724}"/>
              </a:ext>
            </a:extLst>
          </p:cNvPr>
          <p:cNvSpPr/>
          <p:nvPr/>
        </p:nvSpPr>
        <p:spPr>
          <a:xfrm>
            <a:off x="4594287" y="4276164"/>
            <a:ext cx="286870" cy="28732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5777A7C5-AB09-40DF-9670-8200C94C9DBD}"/>
              </a:ext>
            </a:extLst>
          </p:cNvPr>
          <p:cNvSpPr/>
          <p:nvPr/>
        </p:nvSpPr>
        <p:spPr>
          <a:xfrm>
            <a:off x="4961840" y="4276164"/>
            <a:ext cx="286870" cy="28732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D52E17E8-CE3D-4F56-A057-A3A0029866C4}"/>
              </a:ext>
            </a:extLst>
          </p:cNvPr>
          <p:cNvSpPr/>
          <p:nvPr/>
        </p:nvSpPr>
        <p:spPr>
          <a:xfrm>
            <a:off x="5329393" y="4276164"/>
            <a:ext cx="286870" cy="28732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A77977B-2EC7-4BBA-97DC-BEB4EA57F054}"/>
              </a:ext>
            </a:extLst>
          </p:cNvPr>
          <p:cNvSpPr txBox="1"/>
          <p:nvPr/>
        </p:nvSpPr>
        <p:spPr>
          <a:xfrm>
            <a:off x="4528599" y="6374280"/>
            <a:ext cx="11646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>
                <a:latin typeface="Arial" panose="020B0604020202020204" pitchFamily="34" charset="0"/>
                <a:cs typeface="Arial" panose="020B0604020202020204" pitchFamily="34" charset="0"/>
              </a:rPr>
              <a:t>past Image</a:t>
            </a:r>
            <a:endParaRPr lang="ko-KR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사각형: 잘린 위쪽 모서리 38">
            <a:extLst>
              <a:ext uri="{FF2B5EF4-FFF2-40B4-BE49-F238E27FC236}">
                <a16:creationId xmlns:a16="http://schemas.microsoft.com/office/drawing/2014/main" id="{5F7331B7-9CF2-479C-B5A5-8F323DBC1E7A}"/>
              </a:ext>
            </a:extLst>
          </p:cNvPr>
          <p:cNvSpPr/>
          <p:nvPr/>
        </p:nvSpPr>
        <p:spPr>
          <a:xfrm>
            <a:off x="5988429" y="4706469"/>
            <a:ext cx="1164624" cy="555811"/>
          </a:xfrm>
          <a:prstGeom prst="snip2Same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907097F-D32C-4C65-BF77-D0C60EA8CEC4}"/>
              </a:ext>
            </a:extLst>
          </p:cNvPr>
          <p:cNvSpPr txBox="1"/>
          <p:nvPr/>
        </p:nvSpPr>
        <p:spPr>
          <a:xfrm>
            <a:off x="6054117" y="4834020"/>
            <a:ext cx="1021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Dino v2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4F89F3D8-8F24-4587-B036-25674BDA5A57}"/>
              </a:ext>
            </a:extLst>
          </p:cNvPr>
          <p:cNvSpPr/>
          <p:nvPr/>
        </p:nvSpPr>
        <p:spPr>
          <a:xfrm>
            <a:off x="6054117" y="4276164"/>
            <a:ext cx="286870" cy="28732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84867078-AD87-41C0-9DEE-3C8DB7A3D558}"/>
              </a:ext>
            </a:extLst>
          </p:cNvPr>
          <p:cNvSpPr/>
          <p:nvPr/>
        </p:nvSpPr>
        <p:spPr>
          <a:xfrm>
            <a:off x="6421670" y="4276164"/>
            <a:ext cx="286870" cy="28732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CA0AD592-30D6-4D91-A32B-7988B9FEA8C4}"/>
              </a:ext>
            </a:extLst>
          </p:cNvPr>
          <p:cNvSpPr/>
          <p:nvPr/>
        </p:nvSpPr>
        <p:spPr>
          <a:xfrm>
            <a:off x="6789223" y="4276164"/>
            <a:ext cx="286870" cy="28732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29C1B2E-E128-4A6D-8C9C-AA93CC3552E2}"/>
              </a:ext>
            </a:extLst>
          </p:cNvPr>
          <p:cNvSpPr txBox="1"/>
          <p:nvPr/>
        </p:nvSpPr>
        <p:spPr>
          <a:xfrm>
            <a:off x="5988429" y="6374280"/>
            <a:ext cx="11646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>
                <a:latin typeface="Arial" panose="020B0604020202020204" pitchFamily="34" charset="0"/>
                <a:cs typeface="Arial" panose="020B0604020202020204" pitchFamily="34" charset="0"/>
              </a:rPr>
              <a:t>past Image</a:t>
            </a:r>
            <a:endParaRPr lang="ko-KR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사각형: 잘린 위쪽 모서리 45">
            <a:extLst>
              <a:ext uri="{FF2B5EF4-FFF2-40B4-BE49-F238E27FC236}">
                <a16:creationId xmlns:a16="http://schemas.microsoft.com/office/drawing/2014/main" id="{FAFF32B8-B1AF-4865-A4E5-698F55D6B976}"/>
              </a:ext>
            </a:extLst>
          </p:cNvPr>
          <p:cNvSpPr/>
          <p:nvPr/>
        </p:nvSpPr>
        <p:spPr>
          <a:xfrm>
            <a:off x="7417168" y="4690098"/>
            <a:ext cx="1164624" cy="555811"/>
          </a:xfrm>
          <a:prstGeom prst="snip2Same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54755C0-F9AE-4133-803E-BE10AE51A345}"/>
              </a:ext>
            </a:extLst>
          </p:cNvPr>
          <p:cNvSpPr txBox="1"/>
          <p:nvPr/>
        </p:nvSpPr>
        <p:spPr>
          <a:xfrm>
            <a:off x="7482856" y="4817649"/>
            <a:ext cx="1021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Dino v2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092E7F39-4784-4E05-93F4-5FCAB1987B46}"/>
              </a:ext>
            </a:extLst>
          </p:cNvPr>
          <p:cNvSpPr/>
          <p:nvPr/>
        </p:nvSpPr>
        <p:spPr>
          <a:xfrm>
            <a:off x="7482856" y="4259793"/>
            <a:ext cx="286870" cy="28732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07872909-3841-430F-99E6-43C42D8E08AA}"/>
              </a:ext>
            </a:extLst>
          </p:cNvPr>
          <p:cNvSpPr/>
          <p:nvPr/>
        </p:nvSpPr>
        <p:spPr>
          <a:xfrm>
            <a:off x="7850409" y="4259793"/>
            <a:ext cx="286870" cy="28732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C1718578-613B-4719-93E9-46C8D49B9362}"/>
              </a:ext>
            </a:extLst>
          </p:cNvPr>
          <p:cNvSpPr/>
          <p:nvPr/>
        </p:nvSpPr>
        <p:spPr>
          <a:xfrm>
            <a:off x="8217962" y="4259793"/>
            <a:ext cx="286870" cy="28732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516BD96-815D-44B5-89EE-B7D8A814BCEA}"/>
              </a:ext>
            </a:extLst>
          </p:cNvPr>
          <p:cNvSpPr txBox="1"/>
          <p:nvPr/>
        </p:nvSpPr>
        <p:spPr>
          <a:xfrm>
            <a:off x="7417168" y="6357909"/>
            <a:ext cx="11646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>
                <a:latin typeface="Arial" panose="020B0604020202020204" pitchFamily="34" charset="0"/>
                <a:cs typeface="Arial" panose="020B0604020202020204" pitchFamily="34" charset="0"/>
              </a:rPr>
              <a:t>current Image</a:t>
            </a:r>
            <a:endParaRPr lang="ko-KR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2" name="그림 51">
            <a:extLst>
              <a:ext uri="{FF2B5EF4-FFF2-40B4-BE49-F238E27FC236}">
                <a16:creationId xmlns:a16="http://schemas.microsoft.com/office/drawing/2014/main" id="{340C197E-4D17-427E-BA21-2BB0F089561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" r="80850"/>
          <a:stretch/>
        </p:blipFill>
        <p:spPr>
          <a:xfrm>
            <a:off x="1666421" y="5478596"/>
            <a:ext cx="1177319" cy="72959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DC7AD949-5DEF-4824-8973-A7028AF78719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"/>
          <a:srcRect l="20778" t="-3770" r="60404"/>
          <a:stretch/>
        </p:blipFill>
        <p:spPr>
          <a:xfrm>
            <a:off x="3077280" y="5487713"/>
            <a:ext cx="1179576" cy="73152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FB70F442-467D-4D27-9144-F5F2DF03E249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"/>
          <a:srcRect l="40587" r="40595"/>
          <a:stretch/>
        </p:blipFill>
        <p:spPr>
          <a:xfrm>
            <a:off x="4518100" y="5506117"/>
            <a:ext cx="1179576" cy="73152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AE909588-2EE8-4563-B51C-DEF2CAC06126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"/>
          <a:srcRect l="59800" r="21042"/>
          <a:stretch/>
        </p:blipFill>
        <p:spPr>
          <a:xfrm>
            <a:off x="5982404" y="5506117"/>
            <a:ext cx="1179576" cy="73152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74E9B59E-5B6B-4AAB-A953-3355C3225C2E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"/>
          <a:srcRect l="79781"/>
          <a:stretch/>
        </p:blipFill>
        <p:spPr>
          <a:xfrm>
            <a:off x="7411181" y="5487713"/>
            <a:ext cx="1179576" cy="73152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948811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76BE74-E6CA-4B49-857A-02FDC67B1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Perceptual Memory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EE24A9-12A4-4CE3-8FD5-E87E9E455E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Store past keyframes or uniformly sampled frames as memory. </a:t>
            </a: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No VLM planner latency. </a:t>
            </a: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The key challenge is identifying which frames are worth storing. </a:t>
            </a:r>
          </a:p>
          <a:p>
            <a:pPr lvl="1"/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Action loss provides an extremely sparse supervision signal for keyframe selection. </a:t>
            </a:r>
          </a:p>
          <a:p>
            <a:pPr lvl="1"/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Manual keyframe annotation is not scalable. 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271551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4F9460-70AF-4D6A-B96E-06E2BB3BA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Robomme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– perceptual, sampling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4F5E08-38F7-47A8-8BE4-D970B1200B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Uniformly samples past frames as memory.</a:t>
            </a: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Current state-of-the-art memory strategy.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934FFC5-5F99-4738-875E-55B6F7DA65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1951" y="3113204"/>
            <a:ext cx="3704809" cy="190713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525B51A-49C5-41DA-BA78-B1D2F7CC7E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85863"/>
            <a:ext cx="12192000" cy="1772137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3D5580BA-F6D9-4B0A-A26F-1D7081A7B3CA}"/>
              </a:ext>
            </a:extLst>
          </p:cNvPr>
          <p:cNvSpPr/>
          <p:nvPr/>
        </p:nvSpPr>
        <p:spPr>
          <a:xfrm>
            <a:off x="1120589" y="6508379"/>
            <a:ext cx="10919011" cy="4571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8800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66909B-42EA-4B24-A476-99D7324A8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Memory VLA (ICLR 2026)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6C6A254B-0FD3-4EE7-9B23-2E6C6E210A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36028"/>
            <a:ext cx="10515600" cy="398594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B6CE5A0-48B8-4EA6-996E-D5E7960C3C10}"/>
              </a:ext>
            </a:extLst>
          </p:cNvPr>
          <p:cNvSpPr txBox="1"/>
          <p:nvPr/>
        </p:nvSpPr>
        <p:spPr>
          <a:xfrm>
            <a:off x="905435" y="5629835"/>
            <a:ext cx="102735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No qualitative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Limited ablation studies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No evaluation of whether the retrieved frames are actually informative or relevant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Compared only against naïve baselines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80154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D406E8-D6E8-4FF2-BA4C-D384AAB6C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MemER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(ICLR 2026)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1289AA-86A6-493D-B070-8183C766C9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509121"/>
            <a:ext cx="10515600" cy="1325563"/>
          </a:xfrm>
        </p:spPr>
        <p:txBody>
          <a:bodyPr>
            <a:normAutofit lnSpcReduction="10000"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Planner predicts keyframes.</a:t>
            </a: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Requires keyframe annotations.</a:t>
            </a:r>
          </a:p>
          <a:p>
            <a:pPr lvl="1"/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Scalability is limited by the need for manual annotations.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008ED33-7336-4786-80F4-9683B08CD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9363" y="1757129"/>
            <a:ext cx="6973273" cy="3343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1168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EDF910-1A70-4D6D-88EB-9FB84B22DD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823995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latin typeface="Arial" panose="020B0604020202020204" pitchFamily="34" charset="0"/>
                <a:cs typeface="Arial" panose="020B0604020202020204" pitchFamily="34" charset="0"/>
              </a:rPr>
              <a:t>Experimental Settings</a:t>
            </a:r>
            <a:endParaRPr lang="ko-KR" alt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01594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3E6954-5E3B-4C00-9F65-DBF84BEB3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Experimental Settings : Training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91496B-7649-4A7B-BCDC-18CA0713F1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Training : 4 x A100 GPUs</a:t>
            </a:r>
          </a:p>
          <a:p>
            <a:pPr lvl="1"/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Planner training : unexpected performance issue; training log is different from author’s one.</a:t>
            </a:r>
          </a:p>
          <a:p>
            <a:pPr lvl="1"/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VLA training : Running well.</a:t>
            </a:r>
          </a:p>
          <a:p>
            <a:pPr lvl="2"/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PCI (~2 days) : evaluation success</a:t>
            </a:r>
          </a:p>
          <a:p>
            <a:pPr lvl="2"/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Nvlink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: issue is resolved &amp; Training in progress.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6D90B2C-9B50-477C-8306-830D345E85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4361" y="4248451"/>
            <a:ext cx="5908381" cy="2513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8145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3EB6ED-B4AA-4C59-8A8B-E99E11B2C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Experimental Settings : Evaluation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88C478-11E2-4271-AA2B-04F16E9629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Evaluation : 2 x RTX 4090 GPUs</a:t>
            </a:r>
          </a:p>
          <a:p>
            <a:pPr lvl="1"/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Both the planner and VLA run without issues.</a:t>
            </a:r>
          </a:p>
          <a:p>
            <a:pPr lvl="2"/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Planner : 1~1.5 days</a:t>
            </a:r>
          </a:p>
          <a:p>
            <a:pPr lvl="2"/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VLA : 4~5 hours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A6345AD-F81F-4D05-8461-A15703C3C5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714" y="4001294"/>
            <a:ext cx="5257800" cy="228034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EEF1D43-B4C3-42B9-BD9A-C410714264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3513" y="4855434"/>
            <a:ext cx="6640629" cy="1200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2058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59EE32-4035-4170-97EE-0B474E408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Evaluation Settings :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ToDo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BAAD3A-A43D-408A-BAFB-E9805C3271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Successfully train Planner is the only thing we should do</a:t>
            </a:r>
            <a:r>
              <a:rPr lang="en-US" altLang="ko-KR" dirty="0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807773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EDF910-1A70-4D6D-88EB-9FB84B22DD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823995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latin typeface="Arial" panose="020B0604020202020204" pitchFamily="34" charset="0"/>
                <a:cs typeface="Arial" panose="020B0604020202020204" pitchFamily="34" charset="0"/>
              </a:rPr>
              <a:t>Ideas</a:t>
            </a:r>
            <a:endParaRPr lang="ko-KR" alt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43410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957021-F601-4984-B5CE-2023F2F0B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Ideas – Perceptual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721A15-7EED-4CB0-B782-DCF5D81022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Can a perceptual memory system identify informative past frames using only sparse supervision?</a:t>
            </a:r>
          </a:p>
          <a:p>
            <a:pPr lvl="1"/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Enabling reliable keyframe selection from sparse learning signals could have significant research impact.</a:t>
            </a: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If not, explicit keyframe annotations may be necessary.</a:t>
            </a:r>
          </a:p>
          <a:p>
            <a:pPr lvl="1"/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While this is justifiable—similar to symbolic approaches that require subtask annotations—the scalability of manual keyframe annotation remains an open question.</a:t>
            </a:r>
          </a:p>
        </p:txBody>
      </p:sp>
    </p:spTree>
    <p:extLst>
      <p:ext uri="{BB962C8B-B14F-4D97-AF65-F5344CB8AC3E}">
        <p14:creationId xmlns:p14="http://schemas.microsoft.com/office/powerpoint/2010/main" val="13660957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163917-B052-4633-949E-D7689C3E5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Ideas – Symbolic 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139829-73C6-4544-B10A-0D034BF0F8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If we pursue a symbolic approach, the grounded planner should be modular rather than relying on a monolithic VLM.</a:t>
            </a: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Instead of invoking the planner at every iteration, trigger it only when necessary (e.g., upon detecting meaningful events or uncertainty).</a:t>
            </a: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The upper performance bound is promising, making this direction worth exploring.</a:t>
            </a: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Alternatively, an agent-based planner may be a better fit.</a:t>
            </a: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Using a full VLM as the planner feels excessive for this role.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09135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EDF910-1A70-4D6D-88EB-9FB84B22DD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823995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latin typeface="Arial" panose="020B0604020202020204" pitchFamily="34" charset="0"/>
                <a:cs typeface="Arial" panose="020B0604020202020204" pitchFamily="34" charset="0"/>
              </a:rPr>
              <a:t>The End</a:t>
            </a:r>
            <a:endParaRPr lang="ko-KR" alt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67979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622</TotalTime>
  <Words>681</Words>
  <Application>Microsoft Office PowerPoint</Application>
  <PresentationFormat>와이드스크린</PresentationFormat>
  <Paragraphs>120</Paragraphs>
  <Slides>23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6" baseType="lpstr">
      <vt:lpstr>맑은 고딕</vt:lpstr>
      <vt:lpstr>Arial</vt:lpstr>
      <vt:lpstr>Office 테마</vt:lpstr>
      <vt:lpstr> Memory for VLA</vt:lpstr>
      <vt:lpstr>contents</vt:lpstr>
      <vt:lpstr>Previous Approaches</vt:lpstr>
      <vt:lpstr>Previous Approaches</vt:lpstr>
      <vt:lpstr>Symbolic Memory – hierarchical structure</vt:lpstr>
      <vt:lpstr>Symbolic Memory – hierarchical structure</vt:lpstr>
      <vt:lpstr>Robomme - symbolic, simple</vt:lpstr>
      <vt:lpstr>Robomme - symbolic, grounded</vt:lpstr>
      <vt:lpstr>Robomme - symbolic, grounded</vt:lpstr>
      <vt:lpstr>MEM (Physical intelligence)</vt:lpstr>
      <vt:lpstr>Perceptual Memory</vt:lpstr>
      <vt:lpstr>Perceptual Memory</vt:lpstr>
      <vt:lpstr>Robomme – perceptual, sampling</vt:lpstr>
      <vt:lpstr>Memory VLA (ICLR 2026)</vt:lpstr>
      <vt:lpstr>MemER (ICLR 2026)</vt:lpstr>
      <vt:lpstr>Experimental Settings</vt:lpstr>
      <vt:lpstr>Experimental Settings : Training</vt:lpstr>
      <vt:lpstr>Experimental Settings : Evaluation</vt:lpstr>
      <vt:lpstr>Evaluation Settings : ToDo</vt:lpstr>
      <vt:lpstr>Ideas</vt:lpstr>
      <vt:lpstr>Ideas – Perceptual </vt:lpstr>
      <vt:lpstr>Ideas – Symbolic </vt:lpstr>
      <vt:lpstr>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2026-07-02 meeting</dc:title>
  <dc:creator>이석민</dc:creator>
  <cp:lastModifiedBy>이석민</cp:lastModifiedBy>
  <cp:revision>62</cp:revision>
  <dcterms:created xsi:type="dcterms:W3CDTF">2026-06-30T01:21:47Z</dcterms:created>
  <dcterms:modified xsi:type="dcterms:W3CDTF">2026-07-01T02:32:41Z</dcterms:modified>
</cp:coreProperties>
</file>