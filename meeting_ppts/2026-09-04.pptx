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12c103489a4bbd" /><Relationship Type="http://schemas.openxmlformats.org/officeDocument/2006/relationships/extended-properties" Target="/docProps/app.xml" Id="R1625365ca6474756" /><Relationship Type="http://schemas.openxmlformats.org/officeDocument/2006/relationships/officeDocument" Target="/ppt/presentation.xml" Id="Rf51e410ea7d245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0adb76868240ca"/>
  </p:sldMasterIdLst>
  <p:notesMasterIdLst>
    <p:notesMasterId xmlns:r="http://schemas.openxmlformats.org/officeDocument/2006/relationships" r:id="R52b982afe80f4c45"/>
  </p:notesMasterIdLst>
  <p:sldIdLst>
    <p:sldId xmlns:r="http://schemas.openxmlformats.org/officeDocument/2006/relationships" id="256" r:id="R97eb5098be59409b"/>
    <p:sldId xmlns:r="http://schemas.openxmlformats.org/officeDocument/2006/relationships" id="257" r:id="R89f1f714f0c947f8"/>
    <p:sldId xmlns:r="http://schemas.openxmlformats.org/officeDocument/2006/relationships" id="258" r:id="R475c9197393442e3"/>
    <p:sldId xmlns:r="http://schemas.openxmlformats.org/officeDocument/2006/relationships" id="259" r:id="Rfec16e2ee9bf489b"/>
    <p:sldId xmlns:r="http://schemas.openxmlformats.org/officeDocument/2006/relationships" id="260" r:id="R0ce28fe868444a4f"/>
    <p:sldId xmlns:r="http://schemas.openxmlformats.org/officeDocument/2006/relationships" id="261" r:id="R2126c04904374a44"/>
    <p:sldId xmlns:r="http://schemas.openxmlformats.org/officeDocument/2006/relationships" id="262" r:id="R37f5fbdb2c04477d"/>
    <p:sldId xmlns:r="http://schemas.openxmlformats.org/officeDocument/2006/relationships" id="263" r:id="R06d9e12d2fda4d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ed0c7efeae40b8" /><Relationship Type="http://schemas.openxmlformats.org/officeDocument/2006/relationships/slideMaster" Target="/ppt/slideMasters/slideMaster1.xml" Id="R810adb76868240ca" /><Relationship Type="http://schemas.openxmlformats.org/officeDocument/2006/relationships/notesMaster" Target="/ppt/notesMasters/notesMaster1.xml" Id="R52b982afe80f4c45" /><Relationship Type="http://schemas.openxmlformats.org/officeDocument/2006/relationships/presProps" Target="/ppt/presProps.xml" Id="Rf3e8a0aaeaa24520" /><Relationship Type="http://schemas.openxmlformats.org/officeDocument/2006/relationships/tableStyles" Target="/ppt/tableStyles.xml" Id="R121504ffe4774b3c" /><Relationship Type="http://schemas.openxmlformats.org/officeDocument/2006/relationships/slide" Target="/ppt/slides/slide1.xml" Id="R97eb5098be59409b" /><Relationship Type="http://schemas.openxmlformats.org/officeDocument/2006/relationships/slide" Target="/ppt/slides/slide2.xml" Id="R89f1f714f0c947f8" /><Relationship Type="http://schemas.openxmlformats.org/officeDocument/2006/relationships/slide" Target="/ppt/slides/slide3.xml" Id="R475c9197393442e3" /><Relationship Type="http://schemas.openxmlformats.org/officeDocument/2006/relationships/slide" Target="/ppt/slides/slide4.xml" Id="Rfec16e2ee9bf489b" /><Relationship Type="http://schemas.openxmlformats.org/officeDocument/2006/relationships/slide" Target="/ppt/slides/slide5.xml" Id="R0ce28fe868444a4f" /><Relationship Type="http://schemas.openxmlformats.org/officeDocument/2006/relationships/slide" Target="/ppt/slides/slide6.xml" Id="R2126c04904374a44" /><Relationship Type="http://schemas.openxmlformats.org/officeDocument/2006/relationships/slide" Target="/ppt/slides/slide7.xml" Id="R37f5fbdb2c04477d" /><Relationship Type="http://schemas.openxmlformats.org/officeDocument/2006/relationships/slide" Target="/ppt/slides/slide8.xml" Id="R06d9e12d2fda4d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330a43e1f44c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2baeeb440e4451" /><Relationship Type="http://schemas.openxmlformats.org/officeDocument/2006/relationships/notesMaster" Target="/ppt/notesMasters/notesMaster1.xml" Id="R5eb5d585855d4c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e31685f1044504" /><Relationship Type="http://schemas.openxmlformats.org/officeDocument/2006/relationships/notesMaster" Target="/ppt/notesMasters/notesMaster1.xml" Id="R34600e13759c46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cbbe0df4264baa" /><Relationship Type="http://schemas.openxmlformats.org/officeDocument/2006/relationships/notesMaster" Target="/ppt/notesMasters/notesMaster1.xml" Id="Rd1b8b703c63645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56c1540eec49af" /><Relationship Type="http://schemas.openxmlformats.org/officeDocument/2006/relationships/notesMaster" Target="/ppt/notesMasters/notesMaster1.xml" Id="Ra60bd667cec44d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4462655ba44549" /><Relationship Type="http://schemas.openxmlformats.org/officeDocument/2006/relationships/notesMaster" Target="/ppt/notesMasters/notesMaster1.xml" Id="Re28d1897849c46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ad5c8ae6f945b6" /><Relationship Type="http://schemas.openxmlformats.org/officeDocument/2006/relationships/notesMaster" Target="/ppt/notesMasters/notesMaster1.xml" Id="R3b0f09733cdd43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cbb0f9d7294927" /><Relationship Type="http://schemas.openxmlformats.org/officeDocument/2006/relationships/notesMaster" Target="/ppt/notesMasters/notesMaster1.xml" Id="R73dd2162782945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f19c7c74264cb6" /><Relationship Type="http://schemas.openxmlformats.org/officeDocument/2006/relationships/notesMaster" Target="/ppt/notesMasters/notesMaster1.xml" Id="R78ddd2bcd25848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Agenda derived from the existing slide titles and meeting content.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system architecture, ports, GPU assignments, and task allocation (conversation, 2026-09-02).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launch commands, paths, terminal mapping, and task allocation (conversation, 2026-09-02).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log locations, directory structures, event schema, machine assignments, and task ranges (conversation, 2026-09-02).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post-evaluation analysis TODOs and prior slide output schemas (conversation, 2026-09-02).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collaboration, code-safety, deployment, and experiment execution workflow (conversation, 2026-09-02).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closing slide only.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50749a63644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d4d41a6b374c3e" /><Relationship Type="http://schemas.openxmlformats.org/officeDocument/2006/relationships/slideLayout" Target="/ppt/slideLayouts/slideLayout1.xml" Id="R216262ff50f54a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6262ff50f54a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a71d1ea9a4fe7" /><Relationship Type="http://schemas.openxmlformats.org/officeDocument/2006/relationships/notesSlide" Target="/ppt/notesSlides/notesSlide1.xml" Id="R557c4c45399b47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075cf4e3c4b6a" /><Relationship Type="http://schemas.openxmlformats.org/officeDocument/2006/relationships/notesSlide" Target="/ppt/notesSlides/notesSlide2.xml" Id="Rf0b0f3496e654a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7486f56f84cf6" /><Relationship Type="http://schemas.openxmlformats.org/officeDocument/2006/relationships/notesSlide" Target="/ppt/notesSlides/notesSlide3.xml" Id="R993c683f6b9347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17d4724cc4c36" /><Relationship Type="http://schemas.openxmlformats.org/officeDocument/2006/relationships/notesSlide" Target="/ppt/notesSlides/notesSlide4.xml" Id="Rfe9db267ef7e41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eb64c59f641bd" /><Relationship Type="http://schemas.openxmlformats.org/officeDocument/2006/relationships/notesSlide" Target="/ppt/notesSlides/notesSlide5.xml" Id="R756ebf7249fd46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2f9a4d7014049" /><Relationship Type="http://schemas.openxmlformats.org/officeDocument/2006/relationships/notesSlide" Target="/ppt/notesSlides/notesSlide6.xml" Id="Rd9dbe9b3c8724a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50b72ae304eda" /><Relationship Type="http://schemas.openxmlformats.org/officeDocument/2006/relationships/notesSlide" Target="/ppt/notesSlides/notesSlide7.xml" Id="Ra8857213fc3142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7308315404228" /><Relationship Type="http://schemas.openxmlformats.org/officeDocument/2006/relationships/notesSlide" Target="/ppt/notesSlides/notesSlide8.xml" Id="Rfbfb6561da4d4b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ule">
            <a:extLst xmlns:a="http://schemas.openxmlformats.org/drawingml/2006/main">
              <a:ext uri="{FF2B5EF4-FFF2-40B4-BE49-F238E27FC236}">
                <a16:creationId xmlns:a16="http://schemas.microsoft.com/office/drawing/2014/main" id="{D6C70A71-318F-4E59-B358-C4A4EA3A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0F11DB5-392C-4DAF-B645-D55D13A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 spc="18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spc="18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ROBOTICS RESEARCH</a:t>
            </a:r>
          </a:p>
        </p:txBody>
      </p:sp>
      <p:sp>
        <p:nvSpPr>
          <p:cNvPr id="3" name="date-top">
            <a:extLst xmlns:a="http://schemas.openxmlformats.org/drawingml/2006/main">
              <a:ext uri="{FF2B5EF4-FFF2-40B4-BE49-F238E27FC236}">
                <a16:creationId xmlns:a16="http://schemas.microsoft.com/office/drawing/2014/main" id="{21677A87-8FBF-43AC-9CE5-6886F1E4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86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2026. 09. 04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91B1C26D-7029-4118-B4B0-51258F79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9715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Robotics Agent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Project Meeting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F915A45E-1C73-4BD0-9EEB-A4E4983C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600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eting-label">
            <a:extLst xmlns:a="http://schemas.openxmlformats.org/drawingml/2006/main">
              <a:ext uri="{FF2B5EF4-FFF2-40B4-BE49-F238E27FC236}">
                <a16:creationId xmlns:a16="http://schemas.microsoft.com/office/drawing/2014/main" id="{B0BE61AB-CBE1-4A45-9D02-D678E34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PROJECT UPDATE &amp; DISCUSSION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A0E51C-97C5-4536-BB41-C1CD5CE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9095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ule">
            <a:extLst xmlns:a="http://schemas.openxmlformats.org/drawingml/2006/main">
              <a:ext uri="{FF2B5EF4-FFF2-40B4-BE49-F238E27FC236}">
                <a16:creationId xmlns:a16="http://schemas.microsoft.com/office/drawing/2014/main" id="{D6C70A71-318F-4E59-B358-C4A4EA3A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0F11DB5-392C-4DAF-B645-D55D13A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AGENDA</a:t>
            </a:r>
          </a:p>
        </p:txBody>
      </p:sp>
      <p:sp>
        <p:nvSpPr>
          <p:cNvPr id="3" name="date-top">
            <a:extLst xmlns:a="http://schemas.openxmlformats.org/drawingml/2006/main">
              <a:ext uri="{FF2B5EF4-FFF2-40B4-BE49-F238E27FC236}">
                <a16:creationId xmlns:a16="http://schemas.microsoft.com/office/drawing/2014/main" id="{21677A87-8FBF-43AC-9CE5-6886F1E4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86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TODAY’S FLOW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91B1C26D-7029-4118-B4B0-51258F79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Meeting Agenda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F915A45E-1C73-4BD0-9EEB-A4E4983C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eting-label">
            <a:extLst xmlns:a="http://schemas.openxmlformats.org/drawingml/2006/main">
              <a:ext uri="{FF2B5EF4-FFF2-40B4-BE49-F238E27FC236}">
                <a16:creationId xmlns:a16="http://schemas.microsoft.com/office/drawing/2014/main" id="{B0BE61AB-CBE1-4A45-9D02-D678E34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239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Setup → execution → evidence → analysis → collaboration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A0E51C-97C5-4536-BB41-C1CD5CE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agenda-accent-1">
            <a:extLst xmlns:a="http://schemas.openxmlformats.org/drawingml/2006/main">
              <a:ext uri="{FF2B5EF4-FFF2-40B4-BE49-F238E27FC236}">
                <a16:creationId xmlns:a16="http://schemas.microsoft.com/office/drawing/2014/main" id="{19F8B3CF-A865-4CAB-B5A9-5A66D263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66675" cy="495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genda-number-1">
            <a:extLst xmlns:a="http://schemas.openxmlformats.org/drawingml/2006/main">
              <a:ext uri="{FF2B5EF4-FFF2-40B4-BE49-F238E27FC236}">
                <a16:creationId xmlns:a16="http://schemas.microsoft.com/office/drawing/2014/main" id="{945100CB-29DB-4F14-89BB-D646D2B0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145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D43369EE-AAD5-477B-8081-E823F174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Experiment Environment</a:t>
            </a:r>
          </a:p>
        </p:txBody>
      </p:sp>
      <p:sp>
        <p:nvSpPr>
          <p:cNvPr id="12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210969D9-792A-4FCA-B777-FC723768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431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B300 VLM, A100 serving stack, and RTX 4090 parallel evaluation</a:t>
            </a:r>
          </a:p>
        </p:txBody>
      </p:sp>
      <p:sp>
        <p:nvSpPr>
          <p:cNvPr id="13" name="agenda-rule-1">
            <a:extLst xmlns:a="http://schemas.openxmlformats.org/drawingml/2006/main">
              <a:ext uri="{FF2B5EF4-FFF2-40B4-BE49-F238E27FC236}">
                <a16:creationId xmlns:a16="http://schemas.microsoft.com/office/drawing/2014/main" id="{C533FAAE-5782-4A60-9616-F8DDCE30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10887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agenda-accent-2">
            <a:extLst xmlns:a="http://schemas.openxmlformats.org/drawingml/2006/main">
              <a:ext uri="{FF2B5EF4-FFF2-40B4-BE49-F238E27FC236}">
                <a16:creationId xmlns:a16="http://schemas.microsoft.com/office/drawing/2014/main" id="{90E864AC-02CB-423C-B18A-48F51EFC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66675" cy="495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ber-2">
            <a:extLst xmlns:a="http://schemas.openxmlformats.org/drawingml/2006/main">
              <a:ext uri="{FF2B5EF4-FFF2-40B4-BE49-F238E27FC236}">
                <a16:creationId xmlns:a16="http://schemas.microsoft.com/office/drawing/2014/main" id="{D07DC21C-2DB8-4B48-8D2E-15B8A28A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574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6D9B653C-65EE-44CC-823B-CE313EC0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574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Launch Commands</a:t>
            </a: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1E7B53CD-5A3D-4C87-8528-8042F5C6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860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Machine-by-machine startup order and terminal assignments</a:t>
            </a:r>
          </a:p>
        </p:txBody>
      </p:sp>
      <p:sp>
        <p:nvSpPr>
          <p:cNvPr id="18" name="agenda-rule-2">
            <a:extLst xmlns:a="http://schemas.openxmlformats.org/drawingml/2006/main">
              <a:ext uri="{FF2B5EF4-FFF2-40B4-BE49-F238E27FC236}">
                <a16:creationId xmlns:a16="http://schemas.microsoft.com/office/drawing/2014/main" id="{77CA5E8E-BAAC-4839-8832-D6B0B160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67075"/>
            <a:ext cx="10887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agenda-accent-3">
            <a:extLst xmlns:a="http://schemas.openxmlformats.org/drawingml/2006/main">
              <a:ext uri="{FF2B5EF4-FFF2-40B4-BE49-F238E27FC236}">
                <a16:creationId xmlns:a16="http://schemas.microsoft.com/office/drawing/2014/main" id="{A5C17D6B-6CD5-4EAA-8C79-50922710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66675" cy="495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genda-number-3">
            <a:extLst xmlns:a="http://schemas.openxmlformats.org/drawingml/2006/main">
              <a:ext uri="{FF2B5EF4-FFF2-40B4-BE49-F238E27FC236}">
                <a16:creationId xmlns:a16="http://schemas.microsoft.com/office/drawing/2014/main" id="{7F84BD5E-4E0D-42A1-BBBB-4D137E95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004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agenda-title-3">
            <a:extLst xmlns:a="http://schemas.openxmlformats.org/drawingml/2006/main">
              <a:ext uri="{FF2B5EF4-FFF2-40B4-BE49-F238E27FC236}">
                <a16:creationId xmlns:a16="http://schemas.microsoft.com/office/drawing/2014/main" id="{771456AB-E852-4F21-A999-A45454A1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Logs &amp; Evaluation Outputs</a:t>
            </a:r>
          </a:p>
        </p:txBody>
      </p:sp>
      <p:sp>
        <p:nvSpPr>
          <p:cNvPr id="22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21F50D9E-F46A-49E0-B26E-4A8A07D9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Debug traces, timing statistics, results, and episode videos</a:t>
            </a:r>
          </a:p>
        </p:txBody>
      </p:sp>
      <p:sp>
        <p:nvSpPr>
          <p:cNvPr id="23" name="agenda-rule-3">
            <a:extLst xmlns:a="http://schemas.openxmlformats.org/drawingml/2006/main">
              <a:ext uri="{FF2B5EF4-FFF2-40B4-BE49-F238E27FC236}">
                <a16:creationId xmlns:a16="http://schemas.microsoft.com/office/drawing/2014/main" id="{6F07CCD3-F035-4FC0-BC15-54EACDA4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0025"/>
            <a:ext cx="10887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agenda-accent-4">
            <a:extLst xmlns:a="http://schemas.openxmlformats.org/drawingml/2006/main">
              <a:ext uri="{FF2B5EF4-FFF2-40B4-BE49-F238E27FC236}">
                <a16:creationId xmlns:a16="http://schemas.microsoft.com/office/drawing/2014/main" id="{14950823-355E-4C51-9D05-CA29FBC6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66675" cy="495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genda-number-4">
            <a:extLst xmlns:a="http://schemas.openxmlformats.org/drawingml/2006/main">
              <a:ext uri="{FF2B5EF4-FFF2-40B4-BE49-F238E27FC236}">
                <a16:creationId xmlns:a16="http://schemas.microsoft.com/office/drawing/2014/main" id="{D8CAD9FB-5955-4845-A9C1-D546C9BC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433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A58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A580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agenda-title-4">
            <a:extLst xmlns:a="http://schemas.openxmlformats.org/drawingml/2006/main">
              <a:ext uri="{FF2B5EF4-FFF2-40B4-BE49-F238E27FC236}">
                <a16:creationId xmlns:a16="http://schemas.microsoft.com/office/drawing/2014/main" id="{D9C964B5-DC5E-4729-9E5D-9F11CD50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Post-Evaluation Analysis</a:t>
            </a:r>
          </a:p>
        </p:txBody>
      </p:sp>
      <p:sp>
        <p:nvSpPr>
          <p:cNvPr id="27" name="agenda-desc-4">
            <a:extLst xmlns:a="http://schemas.openxmlformats.org/drawingml/2006/main">
              <a:ext uri="{FF2B5EF4-FFF2-40B4-BE49-F238E27FC236}">
                <a16:creationId xmlns:a16="http://schemas.microsoft.com/office/drawing/2014/main" id="{534E1098-C963-4852-B4E1-E6F734C5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Timing bottlenecks, failure causes, and debugging priorities</a:t>
            </a:r>
          </a:p>
        </p:txBody>
      </p:sp>
      <p:sp>
        <p:nvSpPr>
          <p:cNvPr id="28" name="agenda-rule-4">
            <a:extLst xmlns:a="http://schemas.openxmlformats.org/drawingml/2006/main">
              <a:ext uri="{FF2B5EF4-FFF2-40B4-BE49-F238E27FC236}">
                <a16:creationId xmlns:a16="http://schemas.microsoft.com/office/drawing/2014/main" id="{76057E90-74B8-436E-8566-0836AC90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52975"/>
            <a:ext cx="10887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agenda-accent-5">
            <a:extLst xmlns:a="http://schemas.openxmlformats.org/drawingml/2006/main">
              <a:ext uri="{FF2B5EF4-FFF2-40B4-BE49-F238E27FC236}">
                <a16:creationId xmlns:a16="http://schemas.microsoft.com/office/drawing/2014/main" id="{35430402-2786-461F-8E98-80213721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66675" cy="495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genda-number-5">
            <a:extLst xmlns:a="http://schemas.openxmlformats.org/drawingml/2006/main">
              <a:ext uri="{FF2B5EF4-FFF2-40B4-BE49-F238E27FC236}">
                <a16:creationId xmlns:a16="http://schemas.microsoft.com/office/drawing/2014/main" id="{BAFBA59F-B7E6-4664-A5FA-E5F98E10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863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agenda-title-5">
            <a:extLst xmlns:a="http://schemas.openxmlformats.org/drawingml/2006/main">
              <a:ext uri="{FF2B5EF4-FFF2-40B4-BE49-F238E27FC236}">
                <a16:creationId xmlns:a16="http://schemas.microsoft.com/office/drawing/2014/main" id="{198B19AA-361A-4813-A52C-8DAC2E1D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863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Team Workflow</a:t>
            </a:r>
          </a:p>
        </p:txBody>
      </p:sp>
      <p:sp>
        <p:nvSpPr>
          <p:cNvPr id="32" name="agenda-desc-5">
            <a:extLst xmlns:a="http://schemas.openxmlformats.org/drawingml/2006/main">
              <a:ext uri="{FF2B5EF4-FFF2-40B4-BE49-F238E27FC236}">
                <a16:creationId xmlns:a16="http://schemas.microsoft.com/office/drawing/2014/main" id="{54B9FFFA-937B-4C32-B6B1-C8DE1378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149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Code-only implementation, deployment, and solo versus parallel runs</a:t>
            </a:r>
          </a:p>
        </p:txBody>
      </p:sp>
      <p:sp>
        <p:nvSpPr>
          <p:cNvPr id="33" name="agenda-footer-rule">
            <a:extLst xmlns:a="http://schemas.openxmlformats.org/drawingml/2006/main">
              <a:ext uri="{FF2B5EF4-FFF2-40B4-BE49-F238E27FC236}">
                <a16:creationId xmlns:a16="http://schemas.microsoft.com/office/drawing/2014/main" id="{A046F2F4-9FA4-482B-BB51-315808CB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67425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agenda-footer">
            <a:extLst xmlns:a="http://schemas.openxmlformats.org/drawingml/2006/main">
              <a:ext uri="{FF2B5EF4-FFF2-40B4-BE49-F238E27FC236}">
                <a16:creationId xmlns:a16="http://schemas.microsoft.com/office/drawing/2014/main" id="{2552C915-41AE-497D-A48D-4D39BF58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13" b="1" spc="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spc="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START WITH THE SYSTEM  ·  END WITH HOW WE WORK</a:t>
            </a:r>
          </a:p>
        </p:txBody>
      </p:sp>
    </p:spTree>
    <p:extLst>
      <p:ext uri="{BB962C8B-B14F-4D97-AF65-F5344CB8AC3E}">
        <p14:creationId xmlns:p14="http://schemas.microsoft.com/office/powerpoint/2010/main" val="669095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ule">
            <a:extLst xmlns:a="http://schemas.openxmlformats.org/drawingml/2006/main">
              <a:ext uri="{FF2B5EF4-FFF2-40B4-BE49-F238E27FC236}">
                <a16:creationId xmlns:a16="http://schemas.microsoft.com/office/drawing/2014/main" id="{D6C70A71-318F-4E59-B358-C4A4EA3A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0F11DB5-392C-4DAF-B645-D55D13A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 SETUP</a:t>
            </a:r>
          </a:p>
        </p:txBody>
      </p:sp>
      <p:sp>
        <p:nvSpPr>
          <p:cNvPr id="3" name="date-top">
            <a:extLst xmlns:a="http://schemas.openxmlformats.org/drawingml/2006/main">
              <a:ext uri="{FF2B5EF4-FFF2-40B4-BE49-F238E27FC236}">
                <a16:creationId xmlns:a16="http://schemas.microsoft.com/office/drawing/2014/main" id="{21677A87-8FBF-43AC-9CE5-6886F1E4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86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PARALLEL × 4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91B1C26D-7029-4118-B4B0-51258F79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 Environment &amp; Parallel Evaluation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F915A45E-1C73-4BD0-9EEB-A4E4983C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eting-label">
            <a:extLst xmlns:a="http://schemas.openxmlformats.org/drawingml/2006/main">
              <a:ext uri="{FF2B5EF4-FFF2-40B4-BE49-F238E27FC236}">
                <a16:creationId xmlns:a16="http://schemas.microsoft.com/office/drawing/2014/main" id="{B0BE61AB-CBE1-4A45-9D02-D678E34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239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B300 VLM → A100 orchestration / VLA → RTX 4090 Isaac Sim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A0E51C-97C5-4536-BB41-C1CD5CE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b300-lane">
            <a:extLst xmlns:a="http://schemas.openxmlformats.org/drawingml/2006/main">
              <a:ext uri="{FF2B5EF4-FFF2-40B4-BE49-F238E27FC236}">
                <a16:creationId xmlns:a16="http://schemas.microsoft.com/office/drawing/2014/main" id="{45C7C652-2D1F-4AF5-BAE9-EDA9BE32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85925"/>
            <a:ext cx="11391900" cy="723900"/>
          </a:xfrm>
          <a:prstGeom xmlns:a="http://schemas.openxmlformats.org/drawingml/2006/main" prst="roundRect">
            <a:avLst>
              <a:gd name="adj" fmla="val 1052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E5FF"/>
            </a:solidFill>
            <a:prstDash val="solid"/>
          </a:ln>
        </p:spPr>
      </p:sp>
      <p:sp>
        <p:nvSpPr>
          <p:cNvPr id="10" name="a100-lane">
            <a:extLst xmlns:a="http://schemas.openxmlformats.org/drawingml/2006/main">
              <a:ext uri="{FF2B5EF4-FFF2-40B4-BE49-F238E27FC236}">
                <a16:creationId xmlns:a16="http://schemas.microsoft.com/office/drawing/2014/main" id="{2140545C-4196-433F-8DD1-08A14A2D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4125"/>
            <a:ext cx="11391900" cy="1857375"/>
          </a:xfrm>
          <a:prstGeom xmlns:a="http://schemas.openxmlformats.org/drawingml/2006/main" prst="roundRect">
            <a:avLst>
              <a:gd name="adj" fmla="val 410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DDFE"/>
            </a:solidFill>
            <a:prstDash val="solid"/>
          </a:ln>
        </p:spPr>
      </p:sp>
      <p:sp>
        <p:nvSpPr>
          <p:cNvPr id="11" name="gpu4090-lane">
            <a:extLst xmlns:a="http://schemas.openxmlformats.org/drawingml/2006/main">
              <a:ext uri="{FF2B5EF4-FFF2-40B4-BE49-F238E27FC236}">
                <a16:creationId xmlns:a16="http://schemas.microsoft.com/office/drawing/2014/main" id="{0098D9DD-2763-4580-87A2-A672E02A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2F2DC"/>
            </a:solidFill>
            <a:prstDash val="solid"/>
          </a:ln>
        </p:spPr>
      </p:sp>
      <p:sp>
        <p:nvSpPr>
          <p:cNvPr id="12" name="vlm-trunk">
            <a:extLst xmlns:a="http://schemas.openxmlformats.org/drawingml/2006/main">
              <a:ext uri="{FF2B5EF4-FFF2-40B4-BE49-F238E27FC236}">
                <a16:creationId xmlns:a16="http://schemas.microsoft.com/office/drawing/2014/main" id="{B4CA7DE6-6A42-4511-925E-3E215551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295525"/>
            <a:ext cx="952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13" name="vlm-bus">
            <a:extLst xmlns:a="http://schemas.openxmlformats.org/drawingml/2006/main">
              <a:ext uri="{FF2B5EF4-FFF2-40B4-BE49-F238E27FC236}">
                <a16:creationId xmlns:a16="http://schemas.microsoft.com/office/drawing/2014/main" id="{E634BC9A-9AC9-44D1-8ACD-B6D21E76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24150"/>
            <a:ext cx="571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14" name="vlm-branch-1">
            <a:extLst xmlns:a="http://schemas.openxmlformats.org/drawingml/2006/main">
              <a:ext uri="{FF2B5EF4-FFF2-40B4-BE49-F238E27FC236}">
                <a16:creationId xmlns:a16="http://schemas.microsoft.com/office/drawing/2014/main" id="{8DA2526B-5372-45E8-8BA7-0142C99E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24150"/>
            <a:ext cx="95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15" name="vlm-arrow-1">
            <a:extLst xmlns:a="http://schemas.openxmlformats.org/drawingml/2006/main">
              <a:ext uri="{FF2B5EF4-FFF2-40B4-BE49-F238E27FC236}">
                <a16:creationId xmlns:a16="http://schemas.microsoft.com/office/drawing/2014/main" id="{987A2B24-4ACE-4C16-9EB4-EF557DA3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086350" y="3009900"/>
            <a:ext cx="952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al-link-1">
            <a:extLst xmlns:a="http://schemas.openxmlformats.org/drawingml/2006/main">
              <a:ext uri="{FF2B5EF4-FFF2-40B4-BE49-F238E27FC236}">
                <a16:creationId xmlns:a16="http://schemas.microsoft.com/office/drawing/2014/main" id="{D7688AF8-2153-4D14-95FC-B01FD384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91000"/>
            <a:ext cx="9525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7" name="eval-arrow-1">
            <a:extLst xmlns:a="http://schemas.openxmlformats.org/drawingml/2006/main">
              <a:ext uri="{FF2B5EF4-FFF2-40B4-BE49-F238E27FC236}">
                <a16:creationId xmlns:a16="http://schemas.microsoft.com/office/drawing/2014/main" id="{5EED422D-B8A7-46DD-B3FB-0319B694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171950"/>
            <a:ext cx="952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lm-branch-2">
            <a:extLst xmlns:a="http://schemas.openxmlformats.org/drawingml/2006/main">
              <a:ext uri="{FF2B5EF4-FFF2-40B4-BE49-F238E27FC236}">
                <a16:creationId xmlns:a16="http://schemas.microsoft.com/office/drawing/2014/main" id="{D97CE03F-3B58-45B0-8B52-C5225D60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724150"/>
            <a:ext cx="95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19" name="vlm-arrow-2">
            <a:extLst xmlns:a="http://schemas.openxmlformats.org/drawingml/2006/main">
              <a:ext uri="{FF2B5EF4-FFF2-40B4-BE49-F238E27FC236}">
                <a16:creationId xmlns:a16="http://schemas.microsoft.com/office/drawing/2014/main" id="{254BBF2C-326B-4CEC-AB64-1A2669A1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991350" y="3009900"/>
            <a:ext cx="952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al-link-2">
            <a:extLst xmlns:a="http://schemas.openxmlformats.org/drawingml/2006/main">
              <a:ext uri="{FF2B5EF4-FFF2-40B4-BE49-F238E27FC236}">
                <a16:creationId xmlns:a16="http://schemas.microsoft.com/office/drawing/2014/main" id="{CD3645DC-0C04-4414-9124-2E6BB794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91000"/>
            <a:ext cx="9525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1" name="eval-arrow-2">
            <a:extLst xmlns:a="http://schemas.openxmlformats.org/drawingml/2006/main">
              <a:ext uri="{FF2B5EF4-FFF2-40B4-BE49-F238E27FC236}">
                <a16:creationId xmlns:a16="http://schemas.microsoft.com/office/drawing/2014/main" id="{DA2AAEBE-1BDC-4BD0-86A4-74D58759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4171950"/>
            <a:ext cx="952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vlm-branch-3">
            <a:extLst xmlns:a="http://schemas.openxmlformats.org/drawingml/2006/main">
              <a:ext uri="{FF2B5EF4-FFF2-40B4-BE49-F238E27FC236}">
                <a16:creationId xmlns:a16="http://schemas.microsoft.com/office/drawing/2014/main" id="{0ED1A67F-D1F9-43AC-9C41-425392D1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24150"/>
            <a:ext cx="95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3" name="vlm-arrow-3">
            <a:extLst xmlns:a="http://schemas.openxmlformats.org/drawingml/2006/main">
              <a:ext uri="{FF2B5EF4-FFF2-40B4-BE49-F238E27FC236}">
                <a16:creationId xmlns:a16="http://schemas.microsoft.com/office/drawing/2014/main" id="{18FB122F-480C-49C2-9481-159C6C33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896350" y="3009900"/>
            <a:ext cx="952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val-link-3">
            <a:extLst xmlns:a="http://schemas.openxmlformats.org/drawingml/2006/main">
              <a:ext uri="{FF2B5EF4-FFF2-40B4-BE49-F238E27FC236}">
                <a16:creationId xmlns:a16="http://schemas.microsoft.com/office/drawing/2014/main" id="{005C2D08-BEAC-4B13-ABC2-8988082D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91000"/>
            <a:ext cx="9525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5" name="eval-arrow-3">
            <a:extLst xmlns:a="http://schemas.openxmlformats.org/drawingml/2006/main">
              <a:ext uri="{FF2B5EF4-FFF2-40B4-BE49-F238E27FC236}">
                <a16:creationId xmlns:a16="http://schemas.microsoft.com/office/drawing/2014/main" id="{0071955B-8265-4401-AD3E-7A0E8FCC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4171950"/>
            <a:ext cx="952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vlm-branch-4">
            <a:extLst xmlns:a="http://schemas.openxmlformats.org/drawingml/2006/main">
              <a:ext uri="{FF2B5EF4-FFF2-40B4-BE49-F238E27FC236}">
                <a16:creationId xmlns:a16="http://schemas.microsoft.com/office/drawing/2014/main" id="{49571872-CEB5-4ECA-8622-934B8551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2724150"/>
            <a:ext cx="95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7" name="vlm-arrow-4">
            <a:extLst xmlns:a="http://schemas.openxmlformats.org/drawingml/2006/main">
              <a:ext uri="{FF2B5EF4-FFF2-40B4-BE49-F238E27FC236}">
                <a16:creationId xmlns:a16="http://schemas.microsoft.com/office/drawing/2014/main" id="{46309BEE-0C6D-478C-A55A-127DDDF2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801350" y="3009900"/>
            <a:ext cx="952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val-link-4">
            <a:extLst xmlns:a="http://schemas.openxmlformats.org/drawingml/2006/main">
              <a:ext uri="{FF2B5EF4-FFF2-40B4-BE49-F238E27FC236}">
                <a16:creationId xmlns:a16="http://schemas.microsoft.com/office/drawing/2014/main" id="{7741868D-BAC3-4EF2-971F-B3C14A00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4191000"/>
            <a:ext cx="9525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9" name="eval-arrow-4">
            <a:extLst xmlns:a="http://schemas.openxmlformats.org/drawingml/2006/main">
              <a:ext uri="{FF2B5EF4-FFF2-40B4-BE49-F238E27FC236}">
                <a16:creationId xmlns:a16="http://schemas.microsoft.com/office/drawing/2014/main" id="{DB076153-4BC5-44A8-94C9-17B3E9CF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4171950"/>
            <a:ext cx="952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300-label">
            <a:extLst xmlns:a="http://schemas.openxmlformats.org/drawingml/2006/main">
              <a:ext uri="{FF2B5EF4-FFF2-40B4-BE49-F238E27FC236}">
                <a16:creationId xmlns:a16="http://schemas.microsoft.com/office/drawing/2014/main" id="{8AEF4CCF-CFE1-4620-A71E-8DE704ED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383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B300</a:t>
            </a:r>
          </a:p>
        </p:txBody>
      </p:sp>
      <p:sp>
        <p:nvSpPr>
          <p:cNvPr id="31" name="b300-role">
            <a:extLst xmlns:a="http://schemas.openxmlformats.org/drawingml/2006/main">
              <a:ext uri="{FF2B5EF4-FFF2-40B4-BE49-F238E27FC236}">
                <a16:creationId xmlns:a16="http://schemas.microsoft.com/office/drawing/2014/main" id="{8A89CCFD-2236-4791-8123-9C373E82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597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VLM SERVER</a:t>
            </a:r>
          </a:p>
        </p:txBody>
      </p:sp>
      <p:sp>
        <p:nvSpPr>
          <p:cNvPr id="32" name="a100-label">
            <a:extLst xmlns:a="http://schemas.openxmlformats.org/drawingml/2006/main">
              <a:ext uri="{FF2B5EF4-FFF2-40B4-BE49-F238E27FC236}">
                <a16:creationId xmlns:a16="http://schemas.microsoft.com/office/drawing/2014/main" id="{D93C1866-6844-4469-9EFA-732967D6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A100</a:t>
            </a:r>
          </a:p>
        </p:txBody>
      </p:sp>
      <p:sp>
        <p:nvSpPr>
          <p:cNvPr id="33" name="a100-role">
            <a:extLst xmlns:a="http://schemas.openxmlformats.org/drawingml/2006/main">
              <a:ext uri="{FF2B5EF4-FFF2-40B4-BE49-F238E27FC236}">
                <a16:creationId xmlns:a16="http://schemas.microsoft.com/office/drawing/2014/main" id="{01E37A37-45D8-431A-9225-643CE312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SERVING</a:t>
            </a:r>
          </a:p>
        </p:txBody>
      </p:sp>
      <p:sp>
        <p:nvSpPr>
          <p:cNvPr id="34" name="gpu-label">
            <a:extLst xmlns:a="http://schemas.openxmlformats.org/drawingml/2006/main">
              <a:ext uri="{FF2B5EF4-FFF2-40B4-BE49-F238E27FC236}">
                <a16:creationId xmlns:a16="http://schemas.microsoft.com/office/drawing/2014/main" id="{1926E2C7-0004-43A6-AFB3-92681B7C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RTX 4090</a:t>
            </a:r>
          </a:p>
        </p:txBody>
      </p:sp>
      <p:sp>
        <p:nvSpPr>
          <p:cNvPr id="35" name="gpu-role">
            <a:extLst xmlns:a="http://schemas.openxmlformats.org/drawingml/2006/main">
              <a:ext uri="{FF2B5EF4-FFF2-40B4-BE49-F238E27FC236}">
                <a16:creationId xmlns:a16="http://schemas.microsoft.com/office/drawing/2014/main" id="{07574692-C454-4C55-BFBD-F12AC4C0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ADE80"/>
                </a:solidFill>
                <a:latin typeface="Helvetica Neue"/>
                <a:ea typeface="Helvetica Neue"/>
                <a:cs typeface="Helvetica Neue"/>
              </a:rPr>
              <a:t>ISAAC SIM</a:t>
            </a:r>
          </a:p>
        </p:txBody>
      </p:sp>
      <p:sp>
        <p:nvSpPr>
          <p:cNvPr id="36" name="vlm-node">
            <a:extLst xmlns:a="http://schemas.openxmlformats.org/drawingml/2006/main">
              <a:ext uri="{FF2B5EF4-FFF2-40B4-BE49-F238E27FC236}">
                <a16:creationId xmlns:a16="http://schemas.microsoft.com/office/drawing/2014/main" id="{6A4A1216-FFA5-4887-874D-6C9AFC6C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90700"/>
            <a:ext cx="7524750" cy="504825"/>
          </a:xfrm>
          <a:prstGeom xmlns:a="http://schemas.openxmlformats.org/drawingml/2006/main" prst="roundRect">
            <a:avLst>
              <a:gd name="adj" fmla="val 150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37" name="vlm-title">
            <a:extLst xmlns:a="http://schemas.openxmlformats.org/drawingml/2006/main">
              <a:ext uri="{FF2B5EF4-FFF2-40B4-BE49-F238E27FC236}">
                <a16:creationId xmlns:a16="http://schemas.microsoft.com/office/drawing/2014/main" id="{61174E1F-BE2A-4F6B-996E-58CE8FAA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09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Qwen3-27B VLM Server</a:t>
            </a:r>
          </a:p>
        </p:txBody>
      </p:sp>
      <p:sp>
        <p:nvSpPr>
          <p:cNvPr id="38" name="vlm-meta">
            <a:extLst xmlns:a="http://schemas.openxmlformats.org/drawingml/2006/main">
              <a:ext uri="{FF2B5EF4-FFF2-40B4-BE49-F238E27FC236}">
                <a16:creationId xmlns:a16="http://schemas.microsoft.com/office/drawing/2014/main" id="{0AF25B79-CF4B-4F26-86B8-3E5510CD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47875"/>
            <a:ext cx="7162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192.168.0.213:13333   ·   subgoal / failure monitor / subgoal check   ·   always on</a:t>
            </a:r>
          </a:p>
        </p:txBody>
      </p:sp>
      <p:sp>
        <p:nvSpPr>
          <p:cNvPr id="39" name="vlm-edge-label">
            <a:extLst xmlns:a="http://schemas.openxmlformats.org/drawingml/2006/main">
              <a:ext uri="{FF2B5EF4-FFF2-40B4-BE49-F238E27FC236}">
                <a16:creationId xmlns:a16="http://schemas.microsoft.com/office/drawing/2014/main" id="{63A27D84-830A-4934-AE82-43D461E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vlm-base-url</a:t>
            </a:r>
          </a:p>
        </p:txBody>
      </p:sp>
      <p:sp>
        <p:nvSpPr>
          <p:cNvPr id="40" name="shared-services">
            <a:extLst xmlns:a="http://schemas.openxmlformats.org/drawingml/2006/main">
              <a:ext uri="{FF2B5EF4-FFF2-40B4-BE49-F238E27FC236}">
                <a16:creationId xmlns:a16="http://schemas.microsoft.com/office/drawing/2014/main" id="{AE98C39F-AD17-4AB3-99ED-161D9E76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62250"/>
            <a:ext cx="2266950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41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DB2B2D31-921B-4FBB-A3CE-E74AD715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57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rPr>
              <a:t>SHARED · ALL STREAMS</a:t>
            </a:r>
          </a:p>
        </p:txBody>
      </p:sp>
      <p:sp>
        <p:nvSpPr>
          <p:cNvPr id="42" name="molmo-title">
            <a:extLst xmlns:a="http://schemas.openxmlformats.org/drawingml/2006/main">
              <a:ext uri="{FF2B5EF4-FFF2-40B4-BE49-F238E27FC236}">
                <a16:creationId xmlns:a16="http://schemas.microsoft.com/office/drawing/2014/main" id="{AC791F84-965B-479A-9153-1F972509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1527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Molmo2  ·  GPU1  ·  :8122</a:t>
            </a:r>
          </a:p>
        </p:txBody>
      </p:sp>
      <p:sp>
        <p:nvSpPr>
          <p:cNvPr id="43" name="molmo-role">
            <a:extLst xmlns:a="http://schemas.openxmlformats.org/drawingml/2006/main">
              <a:ext uri="{FF2B5EF4-FFF2-40B4-BE49-F238E27FC236}">
                <a16:creationId xmlns:a16="http://schemas.microsoft.com/office/drawing/2014/main" id="{9ED8A9E6-5F43-4B0A-9249-1412F65B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3528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place segmentation</a:t>
            </a:r>
          </a:p>
        </p:txBody>
      </p:sp>
      <p:sp>
        <p:nvSpPr>
          <p:cNvPr id="44" name="shared-rule">
            <a:extLst xmlns:a="http://schemas.openxmlformats.org/drawingml/2006/main">
              <a:ext uri="{FF2B5EF4-FFF2-40B4-BE49-F238E27FC236}">
                <a16:creationId xmlns:a16="http://schemas.microsoft.com/office/drawing/2014/main" id="{11551973-1D81-44AB-AE63-CB156C13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60045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45" name="grasp-title">
            <a:extLst xmlns:a="http://schemas.openxmlformats.org/drawingml/2006/main">
              <a:ext uri="{FF2B5EF4-FFF2-40B4-BE49-F238E27FC236}">
                <a16:creationId xmlns:a16="http://schemas.microsoft.com/office/drawing/2014/main" id="{599FF352-A5C3-43BC-978F-2FC0FAA4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667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Grasp  ·  GPU0  ·  :8003</a:t>
            </a:r>
          </a:p>
        </p:txBody>
      </p:sp>
      <p:sp>
        <p:nvSpPr>
          <p:cNvPr id="46" name="grasp-role">
            <a:extLst xmlns:a="http://schemas.openxmlformats.org/drawingml/2006/main">
              <a:ext uri="{FF2B5EF4-FFF2-40B4-BE49-F238E27FC236}">
                <a16:creationId xmlns:a16="http://schemas.microsoft.com/office/drawing/2014/main" id="{0274584B-E7B1-4924-834A-0290282B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67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GraspGen + SAM3 + cuRobo</a:t>
            </a:r>
          </a:p>
        </p:txBody>
      </p:sp>
      <p:sp>
        <p:nvSpPr>
          <p:cNvPr id="47" name="stream-1">
            <a:extLst xmlns:a="http://schemas.openxmlformats.org/drawingml/2006/main">
              <a:ext uri="{FF2B5EF4-FFF2-40B4-BE49-F238E27FC236}">
                <a16:creationId xmlns:a16="http://schemas.microsoft.com/office/drawing/2014/main" id="{D561CB2B-7158-4884-AD10-179701AF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86100"/>
            <a:ext cx="1790700" cy="110490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8" name="stream-1-header">
            <a:extLst xmlns:a="http://schemas.openxmlformats.org/drawingml/2006/main">
              <a:ext uri="{FF2B5EF4-FFF2-40B4-BE49-F238E27FC236}">
                <a16:creationId xmlns:a16="http://schemas.microsoft.com/office/drawing/2014/main" id="{C66B1A95-177D-4D75-B55C-BF3D69EC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86100"/>
            <a:ext cx="17907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tream-1-label">
            <a:extLst xmlns:a="http://schemas.openxmlformats.org/drawingml/2006/main">
              <a:ext uri="{FF2B5EF4-FFF2-40B4-BE49-F238E27FC236}">
                <a16:creationId xmlns:a16="http://schemas.microsoft.com/office/drawing/2014/main" id="{CDC388E7-606B-4132-943A-96104D2A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24200"/>
            <a:ext cx="1600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rPr>
              <a:t>STREAM 1  ·  GPU0</a:t>
            </a:r>
          </a:p>
        </p:txBody>
      </p:sp>
      <p:sp>
        <p:nvSpPr>
          <p:cNvPr id="50" name="stream-1-orch">
            <a:extLst xmlns:a="http://schemas.openxmlformats.org/drawingml/2006/main">
              <a:ext uri="{FF2B5EF4-FFF2-40B4-BE49-F238E27FC236}">
                <a16:creationId xmlns:a16="http://schemas.microsoft.com/office/drawing/2014/main" id="{BAE5E1F1-E285-4BB2-8EE3-4F2F3032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290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orch_1  ·  CPU  ·  :8001</a:t>
            </a:r>
          </a:p>
        </p:txBody>
      </p:sp>
      <p:sp>
        <p:nvSpPr>
          <p:cNvPr id="51" name="stream-1-arrow">
            <a:extLst xmlns:a="http://schemas.openxmlformats.org/drawingml/2006/main">
              <a:ext uri="{FF2B5EF4-FFF2-40B4-BE49-F238E27FC236}">
                <a16:creationId xmlns:a16="http://schemas.microsoft.com/office/drawing/2014/main" id="{8C39A6BC-874B-46F1-9852-E153E316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29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B5C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B5CF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52" name="stream-1-vla">
            <a:extLst xmlns:a="http://schemas.openxmlformats.org/drawingml/2006/main">
              <a:ext uri="{FF2B5EF4-FFF2-40B4-BE49-F238E27FC236}">
                <a16:creationId xmlns:a16="http://schemas.microsoft.com/office/drawing/2014/main" id="{B25A8309-A56B-419B-94C2-6C827BAF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952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openpi_1  ·  :8002</a:t>
            </a:r>
          </a:p>
        </p:txBody>
      </p:sp>
      <p:sp>
        <p:nvSpPr>
          <p:cNvPr id="53" name="stream-2">
            <a:extLst xmlns:a="http://schemas.openxmlformats.org/drawingml/2006/main">
              <a:ext uri="{FF2B5EF4-FFF2-40B4-BE49-F238E27FC236}">
                <a16:creationId xmlns:a16="http://schemas.microsoft.com/office/drawing/2014/main" id="{4FDEEB42-B826-4D4A-80B8-0689B17C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1790700" cy="110490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54" name="stream-2-header">
            <a:extLst xmlns:a="http://schemas.openxmlformats.org/drawingml/2006/main">
              <a:ext uri="{FF2B5EF4-FFF2-40B4-BE49-F238E27FC236}">
                <a16:creationId xmlns:a16="http://schemas.microsoft.com/office/drawing/2014/main" id="{2C03407E-0469-4A8B-8FEA-6E7833D2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17907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tream-2-label">
            <a:extLst xmlns:a="http://schemas.openxmlformats.org/drawingml/2006/main">
              <a:ext uri="{FF2B5EF4-FFF2-40B4-BE49-F238E27FC236}">
                <a16:creationId xmlns:a16="http://schemas.microsoft.com/office/drawing/2014/main" id="{CCBF4B73-E16A-42A2-B038-68B76ED4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24200"/>
            <a:ext cx="1600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rPr>
              <a:t>STREAM 2  ·  GPU1</a:t>
            </a:r>
          </a:p>
        </p:txBody>
      </p:sp>
      <p:sp>
        <p:nvSpPr>
          <p:cNvPr id="56" name="stream-2-orch">
            <a:extLst xmlns:a="http://schemas.openxmlformats.org/drawingml/2006/main">
              <a:ext uri="{FF2B5EF4-FFF2-40B4-BE49-F238E27FC236}">
                <a16:creationId xmlns:a16="http://schemas.microsoft.com/office/drawing/2014/main" id="{63619526-9434-4FE2-B459-EE08C4DE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290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orch_2  ·  CPU  ·  :8011</a:t>
            </a:r>
          </a:p>
        </p:txBody>
      </p:sp>
      <p:sp>
        <p:nvSpPr>
          <p:cNvPr id="57" name="stream-2-arrow">
            <a:extLst xmlns:a="http://schemas.openxmlformats.org/drawingml/2006/main">
              <a:ext uri="{FF2B5EF4-FFF2-40B4-BE49-F238E27FC236}">
                <a16:creationId xmlns:a16="http://schemas.microsoft.com/office/drawing/2014/main" id="{0CAE06B4-1524-4F5F-B2B3-1823E2CD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29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B5C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B5CF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58" name="stream-2-vla">
            <a:extLst xmlns:a="http://schemas.openxmlformats.org/drawingml/2006/main">
              <a:ext uri="{FF2B5EF4-FFF2-40B4-BE49-F238E27FC236}">
                <a16:creationId xmlns:a16="http://schemas.microsoft.com/office/drawing/2014/main" id="{D5F9BD44-4E5C-48E8-B232-F954507B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952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openpi_2  ·  :8012</a:t>
            </a:r>
          </a:p>
        </p:txBody>
      </p:sp>
      <p:sp>
        <p:nvSpPr>
          <p:cNvPr id="59" name="stream-3">
            <a:extLst xmlns:a="http://schemas.openxmlformats.org/drawingml/2006/main">
              <a:ext uri="{FF2B5EF4-FFF2-40B4-BE49-F238E27FC236}">
                <a16:creationId xmlns:a16="http://schemas.microsoft.com/office/drawing/2014/main" id="{BF54AB68-CFA7-41CE-84E6-3A05F7FB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86100"/>
            <a:ext cx="1790700" cy="110490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60" name="stream-3-header">
            <a:extLst xmlns:a="http://schemas.openxmlformats.org/drawingml/2006/main">
              <a:ext uri="{FF2B5EF4-FFF2-40B4-BE49-F238E27FC236}">
                <a16:creationId xmlns:a16="http://schemas.microsoft.com/office/drawing/2014/main" id="{300024BB-89FC-4FE9-B547-298FA15A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86100"/>
            <a:ext cx="17907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tream-3-label">
            <a:extLst xmlns:a="http://schemas.openxmlformats.org/drawingml/2006/main">
              <a:ext uri="{FF2B5EF4-FFF2-40B4-BE49-F238E27FC236}">
                <a16:creationId xmlns:a16="http://schemas.microsoft.com/office/drawing/2014/main" id="{A0DFE80B-8AC7-4F43-8170-5579B019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24200"/>
            <a:ext cx="1600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rPr>
              <a:t>STREAM 3  ·  GPU2</a:t>
            </a:r>
          </a:p>
        </p:txBody>
      </p:sp>
      <p:sp>
        <p:nvSpPr>
          <p:cNvPr id="62" name="stream-3-orch">
            <a:extLst xmlns:a="http://schemas.openxmlformats.org/drawingml/2006/main">
              <a:ext uri="{FF2B5EF4-FFF2-40B4-BE49-F238E27FC236}">
                <a16:creationId xmlns:a16="http://schemas.microsoft.com/office/drawing/2014/main" id="{4D19D4AA-330C-496D-BD46-6B1A2B6D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orch_3  ·  CPU  ·  :8021</a:t>
            </a:r>
          </a:p>
        </p:txBody>
      </p:sp>
      <p:sp>
        <p:nvSpPr>
          <p:cNvPr id="63" name="stream-3-arrow">
            <a:extLst xmlns:a="http://schemas.openxmlformats.org/drawingml/2006/main">
              <a:ext uri="{FF2B5EF4-FFF2-40B4-BE49-F238E27FC236}">
                <a16:creationId xmlns:a16="http://schemas.microsoft.com/office/drawing/2014/main" id="{688EFF53-CF31-4545-B441-9A6AD249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29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B5C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B5CF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64" name="stream-3-vla">
            <a:extLst xmlns:a="http://schemas.openxmlformats.org/drawingml/2006/main">
              <a:ext uri="{FF2B5EF4-FFF2-40B4-BE49-F238E27FC236}">
                <a16:creationId xmlns:a16="http://schemas.microsoft.com/office/drawing/2014/main" id="{CB9A63FB-E343-407D-AA42-F61BE8B5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952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openpi_3  ·  :8022</a:t>
            </a:r>
          </a:p>
        </p:txBody>
      </p:sp>
      <p:sp>
        <p:nvSpPr>
          <p:cNvPr id="65" name="stream-4">
            <a:extLst xmlns:a="http://schemas.openxmlformats.org/drawingml/2006/main">
              <a:ext uri="{FF2B5EF4-FFF2-40B4-BE49-F238E27FC236}">
                <a16:creationId xmlns:a16="http://schemas.microsoft.com/office/drawing/2014/main" id="{27C33835-595E-4F98-A0A0-DDEA8CC2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86100"/>
            <a:ext cx="1790700" cy="110490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66" name="stream-4-header">
            <a:extLst xmlns:a="http://schemas.openxmlformats.org/drawingml/2006/main">
              <a:ext uri="{FF2B5EF4-FFF2-40B4-BE49-F238E27FC236}">
                <a16:creationId xmlns:a16="http://schemas.microsoft.com/office/drawing/2014/main" id="{E15027BC-C00B-434E-9F40-313C9BFA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86100"/>
            <a:ext cx="17907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tream-4-label">
            <a:extLst xmlns:a="http://schemas.openxmlformats.org/drawingml/2006/main">
              <a:ext uri="{FF2B5EF4-FFF2-40B4-BE49-F238E27FC236}">
                <a16:creationId xmlns:a16="http://schemas.microsoft.com/office/drawing/2014/main" id="{212CA430-C52F-4008-8C9F-EFE9D31B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1600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rPr>
              <a:t>STREAM 4  ·  GPU3</a:t>
            </a:r>
          </a:p>
        </p:txBody>
      </p:sp>
      <p:sp>
        <p:nvSpPr>
          <p:cNvPr id="68" name="stream-4-orch">
            <a:extLst xmlns:a="http://schemas.openxmlformats.org/drawingml/2006/main">
              <a:ext uri="{FF2B5EF4-FFF2-40B4-BE49-F238E27FC236}">
                <a16:creationId xmlns:a16="http://schemas.microsoft.com/office/drawing/2014/main" id="{2EFC4412-93F4-4C39-A992-F398161D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290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orch_4  ·  CPU  ·  :8031</a:t>
            </a:r>
          </a:p>
        </p:txBody>
      </p:sp>
      <p:sp>
        <p:nvSpPr>
          <p:cNvPr id="69" name="stream-4-arrow">
            <a:extLst xmlns:a="http://schemas.openxmlformats.org/drawingml/2006/main">
              <a:ext uri="{FF2B5EF4-FFF2-40B4-BE49-F238E27FC236}">
                <a16:creationId xmlns:a16="http://schemas.microsoft.com/office/drawing/2014/main" id="{32809D94-1A43-4307-965E-DA61542C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29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B5C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B5CF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70" name="stream-4-vla">
            <a:extLst xmlns:a="http://schemas.openxmlformats.org/drawingml/2006/main">
              <a:ext uri="{FF2B5EF4-FFF2-40B4-BE49-F238E27FC236}">
                <a16:creationId xmlns:a16="http://schemas.microsoft.com/office/drawing/2014/main" id="{4B083156-2AD1-42B5-BA27-705BA618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81952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openpi_4  ·  :8032</a:t>
            </a:r>
          </a:p>
        </p:txBody>
      </p:sp>
      <p:sp>
        <p:nvSpPr>
          <p:cNvPr id="71" name="remote-label">
            <a:extLst xmlns:a="http://schemas.openxmlformats.org/drawingml/2006/main">
              <a:ext uri="{FF2B5EF4-FFF2-40B4-BE49-F238E27FC236}">
                <a16:creationId xmlns:a16="http://schemas.microsoft.com/office/drawing/2014/main" id="{C4643AFC-583C-4368-8B7D-FB6F6993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67200"/>
            <a:ext cx="752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remote-host / port</a:t>
            </a:r>
          </a:p>
        </p:txBody>
      </p:sp>
      <p:sp>
        <p:nvSpPr>
          <p:cNvPr id="72" name="eval-1">
            <a:extLst xmlns:a="http://schemas.openxmlformats.org/drawingml/2006/main">
              <a:ext uri="{FF2B5EF4-FFF2-40B4-BE49-F238E27FC236}">
                <a16:creationId xmlns:a16="http://schemas.microsoft.com/office/drawing/2014/main" id="{71102731-1879-4BE4-B9BF-731FB175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33925"/>
            <a:ext cx="1790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73" name="eval-1-machine">
            <a:extLst xmlns:a="http://schemas.openxmlformats.org/drawingml/2006/main">
              <a:ext uri="{FF2B5EF4-FFF2-40B4-BE49-F238E27FC236}">
                <a16:creationId xmlns:a16="http://schemas.microsoft.com/office/drawing/2014/main" id="{4D75ED15-7389-4776-8AF3-415030DD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91075"/>
            <a:ext cx="1600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4090_1 · GPU0</a:t>
            </a:r>
          </a:p>
        </p:txBody>
      </p:sp>
      <p:sp>
        <p:nvSpPr>
          <p:cNvPr id="74" name="eval-1-route">
            <a:extLst xmlns:a="http://schemas.openxmlformats.org/drawingml/2006/main">
              <a:ext uri="{FF2B5EF4-FFF2-40B4-BE49-F238E27FC236}">
                <a16:creationId xmlns:a16="http://schemas.microsoft.com/office/drawing/2014/main" id="{B6A2DDDA-566C-4176-B0A7-4BBA5C96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02920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robolab-eval → orch :8001</a:t>
            </a:r>
          </a:p>
        </p:txBody>
      </p:sp>
      <p:sp>
        <p:nvSpPr>
          <p:cNvPr id="75" name="eval-1-tasks">
            <a:extLst xmlns:a="http://schemas.openxmlformats.org/drawingml/2006/main">
              <a:ext uri="{FF2B5EF4-FFF2-40B4-BE49-F238E27FC236}">
                <a16:creationId xmlns:a16="http://schemas.microsoft.com/office/drawing/2014/main" id="{31BAD818-29E9-4586-9FD9-1E2A7E3C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482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tasks 1–30</a:t>
            </a:r>
          </a:p>
        </p:txBody>
      </p:sp>
      <p:sp>
        <p:nvSpPr>
          <p:cNvPr id="76" name="eval-2">
            <a:extLst xmlns:a="http://schemas.openxmlformats.org/drawingml/2006/main">
              <a:ext uri="{FF2B5EF4-FFF2-40B4-BE49-F238E27FC236}">
                <a16:creationId xmlns:a16="http://schemas.microsoft.com/office/drawing/2014/main" id="{418CA571-902E-47CA-97DE-295D43D5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33925"/>
            <a:ext cx="1790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77" name="eval-2-machine">
            <a:extLst xmlns:a="http://schemas.openxmlformats.org/drawingml/2006/main">
              <a:ext uri="{FF2B5EF4-FFF2-40B4-BE49-F238E27FC236}">
                <a16:creationId xmlns:a16="http://schemas.microsoft.com/office/drawing/2014/main" id="{6712E450-E065-4748-91F2-6CF4CA38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91075"/>
            <a:ext cx="1600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4090_1 · GPU1</a:t>
            </a:r>
          </a:p>
        </p:txBody>
      </p:sp>
      <p:sp>
        <p:nvSpPr>
          <p:cNvPr id="78" name="eval-2-route">
            <a:extLst xmlns:a="http://schemas.openxmlformats.org/drawingml/2006/main">
              <a:ext uri="{FF2B5EF4-FFF2-40B4-BE49-F238E27FC236}">
                <a16:creationId xmlns:a16="http://schemas.microsoft.com/office/drawing/2014/main" id="{BDC5AF69-A0D9-4352-8BA1-D467A625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2920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robolab-eval → orch :8011</a:t>
            </a:r>
          </a:p>
        </p:txBody>
      </p:sp>
      <p:sp>
        <p:nvSpPr>
          <p:cNvPr id="79" name="eval-2-tasks">
            <a:extLst xmlns:a="http://schemas.openxmlformats.org/drawingml/2006/main">
              <a:ext uri="{FF2B5EF4-FFF2-40B4-BE49-F238E27FC236}">
                <a16:creationId xmlns:a16="http://schemas.microsoft.com/office/drawing/2014/main" id="{B7B0EDEF-A143-4846-9466-0B74CFB8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482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tasks 31–60</a:t>
            </a:r>
          </a:p>
        </p:txBody>
      </p:sp>
      <p:sp>
        <p:nvSpPr>
          <p:cNvPr id="80" name="eval-3">
            <a:extLst xmlns:a="http://schemas.openxmlformats.org/drawingml/2006/main">
              <a:ext uri="{FF2B5EF4-FFF2-40B4-BE49-F238E27FC236}">
                <a16:creationId xmlns:a16="http://schemas.microsoft.com/office/drawing/2014/main" id="{FDDACA21-1DDD-435F-826A-2173EE64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33925"/>
            <a:ext cx="1790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81" name="eval-3-machine">
            <a:extLst xmlns:a="http://schemas.openxmlformats.org/drawingml/2006/main">
              <a:ext uri="{FF2B5EF4-FFF2-40B4-BE49-F238E27FC236}">
                <a16:creationId xmlns:a16="http://schemas.microsoft.com/office/drawing/2014/main" id="{CC21F708-BAE1-4688-825D-40746204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91075"/>
            <a:ext cx="1600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4090_2 · GPU0</a:t>
            </a:r>
          </a:p>
        </p:txBody>
      </p:sp>
      <p:sp>
        <p:nvSpPr>
          <p:cNvPr id="82" name="eval-3-route">
            <a:extLst xmlns:a="http://schemas.openxmlformats.org/drawingml/2006/main">
              <a:ext uri="{FF2B5EF4-FFF2-40B4-BE49-F238E27FC236}">
                <a16:creationId xmlns:a16="http://schemas.microsoft.com/office/drawing/2014/main" id="{FF9BCCFF-9205-4766-A904-ECF14E8A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02920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robolab-eval → orch :8021</a:t>
            </a:r>
          </a:p>
        </p:txBody>
      </p:sp>
      <p:sp>
        <p:nvSpPr>
          <p:cNvPr id="83" name="eval-3-tasks">
            <a:extLst xmlns:a="http://schemas.openxmlformats.org/drawingml/2006/main">
              <a:ext uri="{FF2B5EF4-FFF2-40B4-BE49-F238E27FC236}">
                <a16:creationId xmlns:a16="http://schemas.microsoft.com/office/drawing/2014/main" id="{ECF5C7A9-E343-4FD4-94F5-9DFC26FC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482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tasks 61–90</a:t>
            </a:r>
          </a:p>
        </p:txBody>
      </p:sp>
      <p:sp>
        <p:nvSpPr>
          <p:cNvPr id="84" name="eval-4">
            <a:extLst xmlns:a="http://schemas.openxmlformats.org/drawingml/2006/main">
              <a:ext uri="{FF2B5EF4-FFF2-40B4-BE49-F238E27FC236}">
                <a16:creationId xmlns:a16="http://schemas.microsoft.com/office/drawing/2014/main" id="{59070C2F-4C78-406E-A872-CE54FC73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733925"/>
            <a:ext cx="1790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85" name="eval-4-machine">
            <a:extLst xmlns:a="http://schemas.openxmlformats.org/drawingml/2006/main">
              <a:ext uri="{FF2B5EF4-FFF2-40B4-BE49-F238E27FC236}">
                <a16:creationId xmlns:a16="http://schemas.microsoft.com/office/drawing/2014/main" id="{E2351078-B048-43B2-87D7-F3D7EC07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91075"/>
            <a:ext cx="1600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4090_3 · GPU0</a:t>
            </a:r>
          </a:p>
        </p:txBody>
      </p:sp>
      <p:sp>
        <p:nvSpPr>
          <p:cNvPr id="86" name="eval-4-route">
            <a:extLst xmlns:a="http://schemas.openxmlformats.org/drawingml/2006/main">
              <a:ext uri="{FF2B5EF4-FFF2-40B4-BE49-F238E27FC236}">
                <a16:creationId xmlns:a16="http://schemas.microsoft.com/office/drawing/2014/main" id="{94FE6C0F-2C34-4609-A80F-3D781B47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2920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robolab-eval → orch :8031</a:t>
            </a:r>
          </a:p>
        </p:txBody>
      </p:sp>
      <p:sp>
        <p:nvSpPr>
          <p:cNvPr id="87" name="eval-4-tasks">
            <a:extLst xmlns:a="http://schemas.openxmlformats.org/drawingml/2006/main">
              <a:ext uri="{FF2B5EF4-FFF2-40B4-BE49-F238E27FC236}">
                <a16:creationId xmlns:a16="http://schemas.microsoft.com/office/drawing/2014/main" id="{98FD3526-9182-4A9E-9041-1DF74C1D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2482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tasks 91–120</a:t>
            </a:r>
          </a:p>
        </p:txBody>
      </p:sp>
    </p:spTree>
    <p:extLst>
      <p:ext uri="{BB962C8B-B14F-4D97-AF65-F5344CB8AC3E}">
        <p14:creationId xmlns:p14="http://schemas.microsoft.com/office/powerpoint/2010/main" val="669095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ule">
            <a:extLst xmlns:a="http://schemas.openxmlformats.org/drawingml/2006/main">
              <a:ext uri="{FF2B5EF4-FFF2-40B4-BE49-F238E27FC236}">
                <a16:creationId xmlns:a16="http://schemas.microsoft.com/office/drawing/2014/main" id="{D6C70A71-318F-4E59-B358-C4A4EA3A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0F11DB5-392C-4DAF-B645-D55D13A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 SETUP</a:t>
            </a:r>
          </a:p>
        </p:txBody>
      </p:sp>
      <p:sp>
        <p:nvSpPr>
          <p:cNvPr id="3" name="date-top">
            <a:extLst xmlns:a="http://schemas.openxmlformats.org/drawingml/2006/main">
              <a:ext uri="{FF2B5EF4-FFF2-40B4-BE49-F238E27FC236}">
                <a16:creationId xmlns:a16="http://schemas.microsoft.com/office/drawing/2014/main" id="{21677A87-8FBF-43AC-9CE5-6886F1E4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86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ORDER  1 → 2 → 3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91B1C26D-7029-4118-B4B0-51258F79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Launch Commands by Machine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F915A45E-1C73-4BD0-9EEB-A4E4983C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eting-label">
            <a:extLst xmlns:a="http://schemas.openxmlformats.org/drawingml/2006/main">
              <a:ext uri="{FF2B5EF4-FFF2-40B4-BE49-F238E27FC236}">
                <a16:creationId xmlns:a16="http://schemas.microsoft.com/office/drawing/2014/main" id="{B0BE61AB-CBE1-4A45-9D02-D678E34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239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Start services in order: B300 → A100 → RTX 4090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A0E51C-97C5-4536-BB41-C1CD5CE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9" name="command-column-1">
            <a:extLst xmlns:a="http://schemas.openxmlformats.org/drawingml/2006/main">
              <a:ext uri="{FF2B5EF4-FFF2-40B4-BE49-F238E27FC236}">
                <a16:creationId xmlns:a16="http://schemas.microsoft.com/office/drawing/2014/main" id="{794BC01B-3D87-410E-B286-BDB4673E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2381250" cy="4076700"/>
          </a:xfrm>
          <a:prstGeom xmlns:a="http://schemas.openxmlformats.org/drawingml/2006/main" prst="roundRect">
            <a:avLst>
              <a:gd name="adj" fmla="val 32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0" name="command-accent-1">
            <a:extLst xmlns:a="http://schemas.openxmlformats.org/drawingml/2006/main">
              <a:ext uri="{FF2B5EF4-FFF2-40B4-BE49-F238E27FC236}">
                <a16:creationId xmlns:a16="http://schemas.microsoft.com/office/drawing/2014/main" id="{434549C1-01BF-40A9-B435-EDA4C3E8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2381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mand-column-2">
            <a:extLst xmlns:a="http://schemas.openxmlformats.org/drawingml/2006/main">
              <a:ext uri="{FF2B5EF4-FFF2-40B4-BE49-F238E27FC236}">
                <a16:creationId xmlns:a16="http://schemas.microsoft.com/office/drawing/2014/main" id="{BDF9E23C-9672-4355-B96E-8F47FD6E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4114800" cy="4076700"/>
          </a:xfrm>
          <a:prstGeom xmlns:a="http://schemas.openxmlformats.org/drawingml/2006/main" prst="roundRect">
            <a:avLst>
              <a:gd name="adj" fmla="val 18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DE9FE"/>
            </a:solidFill>
            <a:prstDash val="solid"/>
          </a:ln>
        </p:spPr>
      </p:sp>
      <p:sp>
        <p:nvSpPr>
          <p:cNvPr id="12" name="command-accent-2">
            <a:extLst xmlns:a="http://schemas.openxmlformats.org/drawingml/2006/main">
              <a:ext uri="{FF2B5EF4-FFF2-40B4-BE49-F238E27FC236}">
                <a16:creationId xmlns:a16="http://schemas.microsoft.com/office/drawing/2014/main" id="{956040DF-6C21-467F-A7E0-A02B2444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4114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mmand-column-3">
            <a:extLst xmlns:a="http://schemas.openxmlformats.org/drawingml/2006/main">
              <a:ext uri="{FF2B5EF4-FFF2-40B4-BE49-F238E27FC236}">
                <a16:creationId xmlns:a16="http://schemas.microsoft.com/office/drawing/2014/main" id="{A819D38D-F15B-4EAD-86C4-886ADE32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4552950" cy="4076700"/>
          </a:xfrm>
          <a:prstGeom xmlns:a="http://schemas.openxmlformats.org/drawingml/2006/main" prst="roundRect">
            <a:avLst>
              <a:gd name="adj" fmla="val 18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14" name="command-accent-3">
            <a:extLst xmlns:a="http://schemas.openxmlformats.org/drawingml/2006/main">
              <a:ext uri="{FF2B5EF4-FFF2-40B4-BE49-F238E27FC236}">
                <a16:creationId xmlns:a16="http://schemas.microsoft.com/office/drawing/2014/main" id="{4E661E7D-5C70-412C-8C4F-59F7797E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45529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300-step">
            <a:extLst xmlns:a="http://schemas.openxmlformats.org/drawingml/2006/main">
              <a:ext uri="{FF2B5EF4-FFF2-40B4-BE49-F238E27FC236}">
                <a16:creationId xmlns:a16="http://schemas.microsoft.com/office/drawing/2014/main" id="{4BF56183-A986-42ED-A04F-0ED11B9F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97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6" name="b300-title">
            <a:extLst xmlns:a="http://schemas.openxmlformats.org/drawingml/2006/main">
              <a:ext uri="{FF2B5EF4-FFF2-40B4-BE49-F238E27FC236}">
                <a16:creationId xmlns:a16="http://schemas.microsoft.com/office/drawing/2014/main" id="{853D6DF5-F730-4299-808B-2B95B644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B300</a:t>
            </a:r>
          </a:p>
        </p:txBody>
      </p:sp>
      <p:sp>
        <p:nvSpPr>
          <p:cNvPr id="17" name="b300-meta">
            <a:extLst xmlns:a="http://schemas.openxmlformats.org/drawingml/2006/main">
              <a:ext uri="{FF2B5EF4-FFF2-40B4-BE49-F238E27FC236}">
                <a16:creationId xmlns:a16="http://schemas.microsoft.com/office/drawing/2014/main" id="{DCC17592-5B25-49C2-B812-B1F345ED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526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Qwen3-27B VLM · 1 terminal</a:t>
            </a:r>
          </a:p>
        </p:txBody>
      </p:sp>
      <p:sp>
        <p:nvSpPr>
          <p:cNvPr id="18" name="b300-code-rule">
            <a:extLst xmlns:a="http://schemas.openxmlformats.org/drawingml/2006/main">
              <a:ext uri="{FF2B5EF4-FFF2-40B4-BE49-F238E27FC236}">
                <a16:creationId xmlns:a16="http://schemas.microsoft.com/office/drawing/2014/main" id="{467BDB11-8948-42D7-8E05-C949D324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9525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3C5FD"/>
            </a:solidFill>
            <a:prstDash val="solid"/>
          </a:ln>
        </p:spPr>
      </p:sp>
      <p:sp>
        <p:nvSpPr>
          <p:cNvPr id="19" name="b300-code">
            <a:extLst xmlns:a="http://schemas.openxmlformats.org/drawingml/2006/main">
              <a:ext uri="{FF2B5EF4-FFF2-40B4-BE49-F238E27FC236}">
                <a16:creationId xmlns:a16="http://schemas.microsoft.com/office/drawing/2014/main" id="{2421A1B3-B03E-4AD0-9E56-ED942A35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885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# B300 · 192.168.0.213</a:t>
            </a:r>
          </a:p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/raid/seokmin_agent/\</a:t>
            </a:r>
          </a:p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run_qwen38_gpu0.sh</a:t>
            </a:r>
          </a:p>
        </p:txBody>
      </p:sp>
      <p:sp>
        <p:nvSpPr>
          <p:cNvPr id="20" name="b300-note-title">
            <a:extLst xmlns:a="http://schemas.openxmlformats.org/drawingml/2006/main">
              <a:ext uri="{FF2B5EF4-FFF2-40B4-BE49-F238E27FC236}">
                <a16:creationId xmlns:a16="http://schemas.microsoft.com/office/drawing/2014/main" id="{6F69F3F0-5AB2-4792-8AC1-59FA1673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KEEP IT RUNNING</a:t>
            </a:r>
          </a:p>
        </p:txBody>
      </p:sp>
      <p:sp>
        <p:nvSpPr>
          <p:cNvPr id="21" name="b300-note">
            <a:extLst xmlns:a="http://schemas.openxmlformats.org/drawingml/2006/main">
              <a:ext uri="{FF2B5EF4-FFF2-40B4-BE49-F238E27FC236}">
                <a16:creationId xmlns:a16="http://schemas.microsoft.com/office/drawing/2014/main" id="{4E41050C-AD7A-499E-A987-12A9375A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2025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Start this first and keep :13333 alive before launching the A100 stack.</a:t>
            </a:r>
          </a:p>
        </p:txBody>
      </p:sp>
      <p:sp>
        <p:nvSpPr>
          <p:cNvPr id="22" name="a100-step">
            <a:extLst xmlns:a="http://schemas.openxmlformats.org/drawingml/2006/main">
              <a:ext uri="{FF2B5EF4-FFF2-40B4-BE49-F238E27FC236}">
                <a16:creationId xmlns:a16="http://schemas.microsoft.com/office/drawing/2014/main" id="{64400FE9-EB08-4D86-A5D5-9F61E9B5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97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3" name="a100-title">
            <a:extLst xmlns:a="http://schemas.openxmlformats.org/drawingml/2006/main">
              <a:ext uri="{FF2B5EF4-FFF2-40B4-BE49-F238E27FC236}">
                <a16:creationId xmlns:a16="http://schemas.microsoft.com/office/drawing/2014/main" id="{7A846FFA-25CC-4A2B-88CC-5A08385D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rPr>
              <a:t>A100</a:t>
            </a:r>
          </a:p>
        </p:txBody>
      </p:sp>
      <p:sp>
        <p:nvSpPr>
          <p:cNvPr id="24" name="a100-meta">
            <a:extLst xmlns:a="http://schemas.openxmlformats.org/drawingml/2006/main">
              <a:ext uri="{FF2B5EF4-FFF2-40B4-BE49-F238E27FC236}">
                <a16:creationId xmlns:a16="http://schemas.microsoft.com/office/drawing/2014/main" id="{82A360E4-B9B1-4670-90A9-34893F99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526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Serving stack · 10 terminals</a:t>
            </a:r>
          </a:p>
        </p:txBody>
      </p:sp>
      <p:sp>
        <p:nvSpPr>
          <p:cNvPr id="25" name="a100-code-rule">
            <a:extLst xmlns:a="http://schemas.openxmlformats.org/drawingml/2006/main">
              <a:ext uri="{FF2B5EF4-FFF2-40B4-BE49-F238E27FC236}">
                <a16:creationId xmlns:a16="http://schemas.microsoft.com/office/drawing/2014/main" id="{E32132A3-B61B-4540-A589-836DC120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67000"/>
            <a:ext cx="9525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B5FD"/>
            </a:solidFill>
            <a:prstDash val="solid"/>
          </a:ln>
        </p:spPr>
      </p:sp>
      <p:sp>
        <p:nvSpPr>
          <p:cNvPr id="26" name="a100-code">
            <a:extLst xmlns:a="http://schemas.openxmlformats.org/drawingml/2006/main">
              <a:ext uri="{FF2B5EF4-FFF2-40B4-BE49-F238E27FC236}">
                <a16:creationId xmlns:a16="http://schemas.microsoft.com/office/drawing/2014/main" id="{A70F093B-5CAC-465D-A9FA-FE704CC1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19375"/>
            <a:ext cx="3619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source seokmins/exp_script/robovolo/\</a:t>
            </a:r>
          </a:p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parallel_4/a100/all_terminal_init.sh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terminal1.sh    # openpi_1</a:t>
            </a:r>
          </a:p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terminal2.sh    # openpi_2</a:t>
            </a:r>
          </a:p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terminal3.sh    # molmo2_server</a:t>
            </a:r>
          </a:p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terminal4.sh    # grasp_server</a:t>
            </a:r>
          </a:p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terminal5.sh    # openpi_3</a:t>
            </a:r>
          </a:p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terminal6.sh    # openpi_4</a:t>
            </a:r>
          </a:p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terminal7.sh    # orch_1</a:t>
            </a:r>
          </a:p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terminal8.sh    # orch_2</a:t>
            </a:r>
          </a:p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terminal9.sh    # orch_3</a:t>
            </a:r>
          </a:p>
          <a:p xmlns:a="http://schemas.openxmlformats.org/drawingml/2006/main">
            <a:pPr>
              <a:buNone/>
              <a:def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terminal10.sh   # orch_4</a:t>
            </a:r>
          </a:p>
        </p:txBody>
      </p:sp>
      <p:sp>
        <p:nvSpPr>
          <p:cNvPr id="27" name="a100-note">
            <a:extLst xmlns:a="http://schemas.openxmlformats.org/drawingml/2006/main">
              <a:ext uri="{FF2B5EF4-FFF2-40B4-BE49-F238E27FC236}">
                <a16:creationId xmlns:a16="http://schemas.microsoft.com/office/drawing/2014/main" id="{8ACFCE79-78F3-4102-9844-9C025E41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543550"/>
            <a:ext cx="3733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4× OpenPI  ·  4× orchestrator  ·  2× shared service</a:t>
            </a:r>
          </a:p>
        </p:txBody>
      </p:sp>
      <p:sp>
        <p:nvSpPr>
          <p:cNvPr id="28" name="gpu-step">
            <a:extLst xmlns:a="http://schemas.openxmlformats.org/drawingml/2006/main">
              <a:ext uri="{FF2B5EF4-FFF2-40B4-BE49-F238E27FC236}">
                <a16:creationId xmlns:a16="http://schemas.microsoft.com/office/drawing/2014/main" id="{BF4D9CD4-12CC-4281-93C8-22BC2734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97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9" name="gpu-title">
            <a:extLst xmlns:a="http://schemas.openxmlformats.org/drawingml/2006/main">
              <a:ext uri="{FF2B5EF4-FFF2-40B4-BE49-F238E27FC236}">
                <a16:creationId xmlns:a16="http://schemas.microsoft.com/office/drawing/2014/main" id="{DB8C47D5-0E57-49D0-8630-761B69B5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52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RTX 4090</a:t>
            </a:r>
          </a:p>
        </p:txBody>
      </p:sp>
      <p:sp>
        <p:nvSpPr>
          <p:cNvPr id="30" name="gpu-meta">
            <a:extLst xmlns:a="http://schemas.openxmlformats.org/drawingml/2006/main">
              <a:ext uri="{FF2B5EF4-FFF2-40B4-BE49-F238E27FC236}">
                <a16:creationId xmlns:a16="http://schemas.microsoft.com/office/drawing/2014/main" id="{A627DD2C-523E-4FFF-BCE3-ED66CFB8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526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Isaac Sim evaluation · 4 terminals · 3 machines</a:t>
            </a:r>
          </a:p>
        </p:txBody>
      </p:sp>
      <p:sp>
        <p:nvSpPr>
          <p:cNvPr id="31" name="gpu-code-rule">
            <a:extLst xmlns:a="http://schemas.openxmlformats.org/drawingml/2006/main">
              <a:ext uri="{FF2B5EF4-FFF2-40B4-BE49-F238E27FC236}">
                <a16:creationId xmlns:a16="http://schemas.microsoft.com/office/drawing/2014/main" id="{2692A116-B810-4926-9120-60550380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67000"/>
            <a:ext cx="9525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EFAC"/>
            </a:solidFill>
            <a:prstDash val="solid"/>
          </a:ln>
        </p:spPr>
      </p:sp>
      <p:sp>
        <p:nvSpPr>
          <p:cNvPr id="32" name="gpu-code">
            <a:extLst xmlns:a="http://schemas.openxmlformats.org/drawingml/2006/main">
              <a:ext uri="{FF2B5EF4-FFF2-40B4-BE49-F238E27FC236}">
                <a16:creationId xmlns:a16="http://schemas.microsoft.com/office/drawing/2014/main" id="{363B620C-6036-47B1-A26F-5CDAC671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4000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# 4090_1</a:t>
            </a:r>
          </a:p>
          <a:p xmlns:a="http://schemas.openxmlformats.org/drawingml/2006/main">
            <a:pPr>
              <a:buNone/>
              <a:def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source seokmins/exp_script/robovolo/\</a:t>
            </a:r>
          </a:p>
          <a:p xmlns:a="http://schemas.openxmlformats.org/drawingml/2006/main">
            <a:pPr>
              <a:buNone/>
              <a:def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parallel_4/4090_1/all_terminal_init.sh</a:t>
            </a:r>
          </a:p>
          <a:p xmlns:a="http://schemas.openxmlformats.org/drawingml/2006/main">
            <a:pPr>
              <a:buNone/>
              <a:def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terminal1.sh  # tasks 1–30</a:t>
            </a:r>
          </a:p>
          <a:p xmlns:a="http://schemas.openxmlformats.org/drawingml/2006/main">
            <a:pPr>
              <a:buNone/>
              <a:def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terminal2.sh  # tasks 31–60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# 4090_2</a:t>
            </a:r>
          </a:p>
          <a:p xmlns:a="http://schemas.openxmlformats.org/drawingml/2006/main">
            <a:pPr>
              <a:buNone/>
              <a:def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source seokmins/exp_script/robovolo/\</a:t>
            </a:r>
          </a:p>
          <a:p xmlns:a="http://schemas.openxmlformats.org/drawingml/2006/main">
            <a:pPr>
              <a:buNone/>
              <a:def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parallel_4/4090_2/all_terminal_init.sh</a:t>
            </a:r>
          </a:p>
          <a:p xmlns:a="http://schemas.openxmlformats.org/drawingml/2006/main">
            <a:pPr>
              <a:buNone/>
              <a:def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terminal1.sh  # tasks 61–90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# 4090_3</a:t>
            </a:r>
          </a:p>
          <a:p xmlns:a="http://schemas.openxmlformats.org/drawingml/2006/main">
            <a:pPr>
              <a:buNone/>
              <a:def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source seokmins/exp_script/robovolo/\</a:t>
            </a:r>
          </a:p>
          <a:p xmlns:a="http://schemas.openxmlformats.org/drawingml/2006/main">
            <a:pPr>
              <a:buNone/>
              <a:def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parallel_4/4090_3/all_terminal_init.sh</a:t>
            </a:r>
          </a:p>
          <a:p xmlns:a="http://schemas.openxmlformats.org/drawingml/2006/main">
            <a:pPr>
              <a:buNone/>
              <a:def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bash terminal1.sh  # tasks 91–120</a:t>
            </a:r>
          </a:p>
        </p:txBody>
      </p:sp>
      <p:sp>
        <p:nvSpPr>
          <p:cNvPr id="33" name="launch-footer-rule">
            <a:extLst xmlns:a="http://schemas.openxmlformats.org/drawingml/2006/main">
              <a:ext uri="{FF2B5EF4-FFF2-40B4-BE49-F238E27FC236}">
                <a16:creationId xmlns:a16="http://schemas.microsoft.com/office/drawing/2014/main" id="{4712C13F-53AD-4A8C-9B0C-A183DEB5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launch-footer">
            <a:extLst xmlns:a="http://schemas.openxmlformats.org/drawingml/2006/main">
              <a:ext uri="{FF2B5EF4-FFF2-40B4-BE49-F238E27FC236}">
                <a16:creationId xmlns:a16="http://schemas.microsoft.com/office/drawing/2014/main" id="{11B5DC77-80AD-4839-9416-CCAAF9C5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Launch the 4090 evaluators only after the A100 servers and orchestrators are ready.</a:t>
            </a:r>
          </a:p>
        </p:txBody>
      </p:sp>
    </p:spTree>
    <p:extLst>
      <p:ext uri="{BB962C8B-B14F-4D97-AF65-F5344CB8AC3E}">
        <p14:creationId xmlns:p14="http://schemas.microsoft.com/office/powerpoint/2010/main" val="669095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ule">
            <a:extLst xmlns:a="http://schemas.openxmlformats.org/drawingml/2006/main">
              <a:ext uri="{FF2B5EF4-FFF2-40B4-BE49-F238E27FC236}">
                <a16:creationId xmlns:a16="http://schemas.microsoft.com/office/drawing/2014/main" id="{D6C70A71-318F-4E59-B358-C4A4EA3A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0F11DB5-392C-4DAF-B645-D55D13A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 OUTPUTS</a:t>
            </a:r>
          </a:p>
        </p:txBody>
      </p:sp>
      <p:sp>
        <p:nvSpPr>
          <p:cNvPr id="3" name="date-top">
            <a:extLst xmlns:a="http://schemas.openxmlformats.org/drawingml/2006/main">
              <a:ext uri="{FF2B5EF4-FFF2-40B4-BE49-F238E27FC236}">
                <a16:creationId xmlns:a16="http://schemas.microsoft.com/office/drawing/2014/main" id="{21677A87-8FBF-43AC-9CE5-6886F1E4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86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DEBUG → RESULTS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91B1C26D-7029-4118-B4B0-51258F79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Log Locations &amp; Contents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F915A45E-1C73-4BD0-9EEB-A4E4983C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eting-label">
            <a:extLst xmlns:a="http://schemas.openxmlformats.org/drawingml/2006/main">
              <a:ext uri="{FF2B5EF4-FFF2-40B4-BE49-F238E27FC236}">
                <a16:creationId xmlns:a16="http://schemas.microsoft.com/office/drawing/2014/main" id="{B0BE61AB-CBE1-4A45-9D02-D678E34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239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A100 orchestrator traces → RTX 4090 evaluation artifacts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A0E51C-97C5-4536-BB41-C1CD5CE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9" name="a100-log-region">
            <a:extLst xmlns:a="http://schemas.openxmlformats.org/drawingml/2006/main">
              <a:ext uri="{FF2B5EF4-FFF2-40B4-BE49-F238E27FC236}">
                <a16:creationId xmlns:a16="http://schemas.microsoft.com/office/drawing/2014/main" id="{2B43230C-7187-4100-9FB8-71FE6132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6705600" cy="4105275"/>
          </a:xfrm>
          <a:prstGeom xmlns:a="http://schemas.openxmlformats.org/drawingml/2006/main" prst="roundRect">
            <a:avLst>
              <a:gd name="adj" fmla="val 18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DDFE"/>
            </a:solidFill>
            <a:prstDash val="solid"/>
          </a:ln>
        </p:spPr>
      </p:sp>
      <p:sp>
        <p:nvSpPr>
          <p:cNvPr id="10" name="gpu-log-region">
            <a:extLst xmlns:a="http://schemas.openxmlformats.org/drawingml/2006/main">
              <a:ext uri="{FF2B5EF4-FFF2-40B4-BE49-F238E27FC236}">
                <a16:creationId xmlns:a16="http://schemas.microsoft.com/office/drawing/2014/main" id="{92D50DEF-2F6D-4EE9-9C37-6E866AA7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4514850" cy="4105275"/>
          </a:xfrm>
          <a:prstGeom xmlns:a="http://schemas.openxmlformats.org/drawingml/2006/main" prst="roundRect">
            <a:avLst>
              <a:gd name="adj" fmla="val 18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2F2DC"/>
            </a:solidFill>
            <a:prstDash val="solid"/>
          </a:ln>
        </p:spPr>
      </p:sp>
      <p:sp>
        <p:nvSpPr>
          <p:cNvPr id="11" name="a100-log-accent">
            <a:extLst xmlns:a="http://schemas.openxmlformats.org/drawingml/2006/main">
              <a:ext uri="{FF2B5EF4-FFF2-40B4-BE49-F238E27FC236}">
                <a16:creationId xmlns:a16="http://schemas.microsoft.com/office/drawing/2014/main" id="{C0813398-6E3C-41AE-8422-7D379EA0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6705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pu-log-accent">
            <a:extLst xmlns:a="http://schemas.openxmlformats.org/drawingml/2006/main">
              <a:ext uri="{FF2B5EF4-FFF2-40B4-BE49-F238E27FC236}">
                <a16:creationId xmlns:a16="http://schemas.microsoft.com/office/drawing/2014/main" id="{BBFDDC05-EA55-4FD2-BB96-DC4AD5C9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45148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100-log-title">
            <a:extLst xmlns:a="http://schemas.openxmlformats.org/drawingml/2006/main">
              <a:ext uri="{FF2B5EF4-FFF2-40B4-BE49-F238E27FC236}">
                <a16:creationId xmlns:a16="http://schemas.microsoft.com/office/drawing/2014/main" id="{C9136618-B978-49D2-AAE1-0955D256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D28D9"/>
                </a:solidFill>
                <a:latin typeface="Helvetica Neue"/>
                <a:ea typeface="Helvetica Neue"/>
                <a:cs typeface="Helvetica Neue"/>
              </a:rPr>
              <a:t>A100  ·  /tmp/debug*</a:t>
            </a:r>
          </a:p>
        </p:txBody>
      </p:sp>
      <p:sp>
        <p:nvSpPr>
          <p:cNvPr id="14" name="a100-mount">
            <a:extLst xmlns:a="http://schemas.openxmlformats.org/drawingml/2006/main">
              <a:ext uri="{FF2B5EF4-FFF2-40B4-BE49-F238E27FC236}">
                <a16:creationId xmlns:a16="http://schemas.microsoft.com/office/drawing/2014/main" id="{ED1BBF37-31AB-4C6B-993B-508FB2DC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container /logs/debug  →  host /tmp/debugN</a:t>
            </a:r>
          </a:p>
        </p:txBody>
      </p:sp>
      <p:sp>
        <p:nvSpPr>
          <p:cNvPr id="15" name="debug-path-1">
            <a:extLst xmlns:a="http://schemas.openxmlformats.org/drawingml/2006/main">
              <a:ext uri="{FF2B5EF4-FFF2-40B4-BE49-F238E27FC236}">
                <a16:creationId xmlns:a16="http://schemas.microsoft.com/office/drawing/2014/main" id="{E047FC29-994C-4192-9C42-4F46C972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1381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63" b="1">
                <a:solidFill>
                  <a:srgbClr val="4C1D95"/>
                </a:solidFill>
                <a:latin typeface="Courier New"/>
                <a:ea typeface="Courier New"/>
                <a:cs typeface="Courier New"/>
              </a:defRPr>
            </a:pPr>
            <a:r>
              <a:rPr sz="863" b="1">
                <a:solidFill>
                  <a:srgbClr val="4C1D95"/>
                </a:solidFill>
                <a:latin typeface="Courier New"/>
                <a:ea typeface="Courier New"/>
                <a:cs typeface="Courier New"/>
              </a:rPr>
              <a:t>/tmp/debug1/</a:t>
            </a:r>
          </a:p>
        </p:txBody>
      </p:sp>
      <p:sp>
        <p:nvSpPr>
          <p:cNvPr id="16" name="debug-map-1">
            <a:extLst xmlns:a="http://schemas.openxmlformats.org/drawingml/2006/main">
              <a:ext uri="{FF2B5EF4-FFF2-40B4-BE49-F238E27FC236}">
                <a16:creationId xmlns:a16="http://schemas.microsoft.com/office/drawing/2014/main" id="{827340AB-2014-47A7-A17C-8F689A72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28900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→  orch_1 · stream 1</a:t>
            </a:r>
          </a:p>
        </p:txBody>
      </p:sp>
      <p:sp>
        <p:nvSpPr>
          <p:cNvPr id="17" name="debug-path-2">
            <a:extLst xmlns:a="http://schemas.openxmlformats.org/drawingml/2006/main">
              <a:ext uri="{FF2B5EF4-FFF2-40B4-BE49-F238E27FC236}">
                <a16:creationId xmlns:a16="http://schemas.microsoft.com/office/drawing/2014/main" id="{9EEA966C-0B1A-4195-8C63-B41CB50C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381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63" b="1">
                <a:solidFill>
                  <a:srgbClr val="4C1D95"/>
                </a:solidFill>
                <a:latin typeface="Courier New"/>
                <a:ea typeface="Courier New"/>
                <a:cs typeface="Courier New"/>
              </a:defRPr>
            </a:pPr>
            <a:r>
              <a:rPr sz="863" b="1">
                <a:solidFill>
                  <a:srgbClr val="4C1D95"/>
                </a:solidFill>
                <a:latin typeface="Courier New"/>
                <a:ea typeface="Courier New"/>
                <a:cs typeface="Courier New"/>
              </a:rPr>
              <a:t>/tmp/debug2/</a:t>
            </a:r>
          </a:p>
        </p:txBody>
      </p:sp>
      <p:sp>
        <p:nvSpPr>
          <p:cNvPr id="18" name="debug-map-2">
            <a:extLst xmlns:a="http://schemas.openxmlformats.org/drawingml/2006/main">
              <a:ext uri="{FF2B5EF4-FFF2-40B4-BE49-F238E27FC236}">
                <a16:creationId xmlns:a16="http://schemas.microsoft.com/office/drawing/2014/main" id="{FC9386B2-7AAE-4C99-B376-F0C46215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38450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→  orch_2 · stream 2</a:t>
            </a:r>
          </a:p>
        </p:txBody>
      </p:sp>
      <p:sp>
        <p:nvSpPr>
          <p:cNvPr id="19" name="debug-path-3">
            <a:extLst xmlns:a="http://schemas.openxmlformats.org/drawingml/2006/main">
              <a:ext uri="{FF2B5EF4-FFF2-40B4-BE49-F238E27FC236}">
                <a16:creationId xmlns:a16="http://schemas.microsoft.com/office/drawing/2014/main" id="{4B65937C-E7A2-4BAC-BC7B-7E7986D5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1381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63" b="1">
                <a:solidFill>
                  <a:srgbClr val="4C1D95"/>
                </a:solidFill>
                <a:latin typeface="Courier New"/>
                <a:ea typeface="Courier New"/>
                <a:cs typeface="Courier New"/>
              </a:defRPr>
            </a:pPr>
            <a:r>
              <a:rPr sz="863" b="1">
                <a:solidFill>
                  <a:srgbClr val="4C1D95"/>
                </a:solidFill>
                <a:latin typeface="Courier New"/>
                <a:ea typeface="Courier New"/>
                <a:cs typeface="Courier New"/>
              </a:rPr>
              <a:t>/tmp/debug3/</a:t>
            </a:r>
          </a:p>
        </p:txBody>
      </p:sp>
      <p:sp>
        <p:nvSpPr>
          <p:cNvPr id="20" name="debug-map-3">
            <a:extLst xmlns:a="http://schemas.openxmlformats.org/drawingml/2006/main">
              <a:ext uri="{FF2B5EF4-FFF2-40B4-BE49-F238E27FC236}">
                <a16:creationId xmlns:a16="http://schemas.microsoft.com/office/drawing/2014/main" id="{7A3B946B-7765-40E0-AEB6-B852B637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48000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→  orch_3 · stream 3</a:t>
            </a:r>
          </a:p>
        </p:txBody>
      </p:sp>
      <p:sp>
        <p:nvSpPr>
          <p:cNvPr id="21" name="debug-path-4">
            <a:extLst xmlns:a="http://schemas.openxmlformats.org/drawingml/2006/main">
              <a:ext uri="{FF2B5EF4-FFF2-40B4-BE49-F238E27FC236}">
                <a16:creationId xmlns:a16="http://schemas.microsoft.com/office/drawing/2014/main" id="{AD23071E-1BF0-4656-A8BC-92EB0CA4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1381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63" b="1">
                <a:solidFill>
                  <a:srgbClr val="4C1D95"/>
                </a:solidFill>
                <a:latin typeface="Courier New"/>
                <a:ea typeface="Courier New"/>
                <a:cs typeface="Courier New"/>
              </a:defRPr>
            </a:pPr>
            <a:r>
              <a:rPr sz="863" b="1">
                <a:solidFill>
                  <a:srgbClr val="4C1D95"/>
                </a:solidFill>
                <a:latin typeface="Courier New"/>
                <a:ea typeface="Courier New"/>
                <a:cs typeface="Courier New"/>
              </a:rPr>
              <a:t>/tmp/debug4/</a:t>
            </a:r>
          </a:p>
        </p:txBody>
      </p:sp>
      <p:sp>
        <p:nvSpPr>
          <p:cNvPr id="22" name="debug-map-4">
            <a:extLst xmlns:a="http://schemas.openxmlformats.org/drawingml/2006/main">
              <a:ext uri="{FF2B5EF4-FFF2-40B4-BE49-F238E27FC236}">
                <a16:creationId xmlns:a16="http://schemas.microsoft.com/office/drawing/2014/main" id="{63334AEA-3418-4802-83DB-5B322EF0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57550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→  orch_4 · stream 4</a:t>
            </a:r>
          </a:p>
        </p:txBody>
      </p:sp>
      <p:sp>
        <p:nvSpPr>
          <p:cNvPr id="23" name="debug-tree-label">
            <a:extLst xmlns:a="http://schemas.openxmlformats.org/drawingml/2006/main">
              <a:ext uri="{FF2B5EF4-FFF2-40B4-BE49-F238E27FC236}">
                <a16:creationId xmlns:a16="http://schemas.microsoft.com/office/drawing/2014/main" id="{F6A4973B-3A5C-47D0-A41B-81C462EA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EPISODE DIRECTORY</a:t>
            </a:r>
          </a:p>
        </p:txBody>
      </p:sp>
      <p:sp>
        <p:nvSpPr>
          <p:cNvPr id="24" name="debug-tree">
            <a:extLst xmlns:a="http://schemas.openxmlformats.org/drawingml/2006/main">
              <a:ext uri="{FF2B5EF4-FFF2-40B4-BE49-F238E27FC236}">
                <a16:creationId xmlns:a16="http://schemas.microsoft.com/office/drawing/2014/main" id="{2BF22F42-AFD8-4C2E-B9EB-D64DA623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28925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/tmp/debugN/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ep_001_pick_up_the_banana/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step.jsonl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vlm/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  s0000_decompose.jpg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  s0050_check.jpg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grasp/s0080_grasp.jpg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ep_002_.../</a:t>
            </a:r>
          </a:p>
        </p:txBody>
      </p:sp>
      <p:sp>
        <p:nvSpPr>
          <p:cNvPr id="25" name="events-rule">
            <a:extLst xmlns:a="http://schemas.openxmlformats.org/drawingml/2006/main">
              <a:ext uri="{FF2B5EF4-FFF2-40B4-BE49-F238E27FC236}">
                <a16:creationId xmlns:a16="http://schemas.microsoft.com/office/drawing/2014/main" id="{9B5925A2-B8B3-4857-9A24-3A5ABB82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00525"/>
            <a:ext cx="6305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26" name="events-title">
            <a:extLst xmlns:a="http://schemas.openxmlformats.org/drawingml/2006/main">
              <a:ext uri="{FF2B5EF4-FFF2-40B4-BE49-F238E27FC236}">
                <a16:creationId xmlns:a16="http://schemas.microsoft.com/office/drawing/2014/main" id="{39B80867-C970-4CC6-A902-DCEC8F46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6D28D9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6D28D9"/>
                </a:solidFill>
                <a:latin typeface="Courier New"/>
                <a:ea typeface="Courier New"/>
                <a:cs typeface="Courier New"/>
              </a:rPr>
              <a:t>step.jsonl events</a:t>
            </a:r>
          </a:p>
        </p:txBody>
      </p:sp>
      <p:sp>
        <p:nvSpPr>
          <p:cNvPr id="27" name="event-name-1">
            <a:extLst xmlns:a="http://schemas.openxmlformats.org/drawingml/2006/main">
              <a:ext uri="{FF2B5EF4-FFF2-40B4-BE49-F238E27FC236}">
                <a16:creationId xmlns:a16="http://schemas.microsoft.com/office/drawing/2014/main" id="{39472250-7BE9-4837-8114-EB230A1D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rPr>
              <a:t>obs_received</a:t>
            </a:r>
          </a:p>
        </p:txBody>
      </p:sp>
      <p:sp>
        <p:nvSpPr>
          <p:cNvPr id="28" name="event-desc-1">
            <a:extLst xmlns:a="http://schemas.openxmlformats.org/drawingml/2006/main">
              <a:ext uri="{FF2B5EF4-FFF2-40B4-BE49-F238E27FC236}">
                <a16:creationId xmlns:a16="http://schemas.microsoft.com/office/drawing/2014/main" id="{EC70ED26-368C-4E58-90E8-9937792E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obs keys &amp; shapes</a:t>
            </a:r>
          </a:p>
        </p:txBody>
      </p:sp>
      <p:sp>
        <p:nvSpPr>
          <p:cNvPr id="29" name="event-name-6">
            <a:extLst xmlns:a="http://schemas.openxmlformats.org/drawingml/2006/main">
              <a:ext uri="{FF2B5EF4-FFF2-40B4-BE49-F238E27FC236}">
                <a16:creationId xmlns:a16="http://schemas.microsoft.com/office/drawing/2014/main" id="{84D805B7-528F-49A5-A374-3919A171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720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rPr>
              <a:t>grasp_call</a:t>
            </a:r>
          </a:p>
        </p:txBody>
      </p:sp>
      <p:sp>
        <p:nvSpPr>
          <p:cNvPr id="30" name="event-desc-6">
            <a:extLst xmlns:a="http://schemas.openxmlformats.org/drawingml/2006/main">
              <a:ext uri="{FF2B5EF4-FFF2-40B4-BE49-F238E27FC236}">
                <a16:creationId xmlns:a16="http://schemas.microsoft.com/office/drawing/2014/main" id="{EB4B3A4D-620E-4AD6-80F9-AF454DD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target / pose / result / latency</a:t>
            </a:r>
          </a:p>
        </p:txBody>
      </p:sp>
      <p:sp>
        <p:nvSpPr>
          <p:cNvPr id="31" name="event-name-2">
            <a:extLst xmlns:a="http://schemas.openxmlformats.org/drawingml/2006/main">
              <a:ext uri="{FF2B5EF4-FFF2-40B4-BE49-F238E27FC236}">
                <a16:creationId xmlns:a16="http://schemas.microsoft.com/office/drawing/2014/main" id="{9080D469-7755-4D5F-B520-7217D94B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006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rPr>
              <a:t>vlm_call</a:t>
            </a:r>
          </a:p>
        </p:txBody>
      </p:sp>
      <p:sp>
        <p:nvSpPr>
          <p:cNvPr id="32" name="event-desc-2">
            <a:extLst xmlns:a="http://schemas.openxmlformats.org/drawingml/2006/main">
              <a:ext uri="{FF2B5EF4-FFF2-40B4-BE49-F238E27FC236}">
                <a16:creationId xmlns:a16="http://schemas.microsoft.com/office/drawing/2014/main" id="{83836F1F-EB0E-4415-9A70-C64B5724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800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prompt / raw / parsed / latency / fallback</a:t>
            </a:r>
          </a:p>
        </p:txBody>
      </p:sp>
      <p:sp>
        <p:nvSpPr>
          <p:cNvPr id="33" name="event-name-7">
            <a:extLst xmlns:a="http://schemas.openxmlformats.org/drawingml/2006/main">
              <a:ext uri="{FF2B5EF4-FFF2-40B4-BE49-F238E27FC236}">
                <a16:creationId xmlns:a16="http://schemas.microsoft.com/office/drawing/2014/main" id="{116AB1D3-2517-4278-83B1-8BB33B47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006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rPr>
              <a:t>action_routing</a:t>
            </a:r>
          </a:p>
        </p:txBody>
      </p:sp>
      <p:sp>
        <p:nvSpPr>
          <p:cNvPr id="34" name="event-desc-7">
            <a:extLst xmlns:a="http://schemas.openxmlformats.org/drawingml/2006/main">
              <a:ext uri="{FF2B5EF4-FFF2-40B4-BE49-F238E27FC236}">
                <a16:creationId xmlns:a16="http://schemas.microsoft.com/office/drawing/2014/main" id="{6505612F-A0F1-4262-8575-45F1500F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800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source / instruction / joint summary</a:t>
            </a:r>
          </a:p>
        </p:txBody>
      </p:sp>
      <p:sp>
        <p:nvSpPr>
          <p:cNvPr id="35" name="event-name-3">
            <a:extLst xmlns:a="http://schemas.openxmlformats.org/drawingml/2006/main">
              <a:ext uri="{FF2B5EF4-FFF2-40B4-BE49-F238E27FC236}">
                <a16:creationId xmlns:a16="http://schemas.microsoft.com/office/drawing/2014/main" id="{6B417E63-AE39-4536-A92A-047229DF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rPr>
              <a:t>subgoal_list</a:t>
            </a:r>
          </a:p>
        </p:txBody>
      </p:sp>
      <p:sp>
        <p:nvSpPr>
          <p:cNvPr id="36" name="event-desc-3">
            <a:extLst xmlns:a="http://schemas.openxmlformats.org/drawingml/2006/main">
              <a:ext uri="{FF2B5EF4-FFF2-40B4-BE49-F238E27FC236}">
                <a16:creationId xmlns:a16="http://schemas.microsoft.com/office/drawing/2014/main" id="{59F666BB-0E28-4631-9374-F8C9ECE5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029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full decomposed subgoal list</a:t>
            </a:r>
          </a:p>
        </p:txBody>
      </p:sp>
      <p:sp>
        <p:nvSpPr>
          <p:cNvPr id="37" name="event-name-8">
            <a:extLst xmlns:a="http://schemas.openxmlformats.org/drawingml/2006/main">
              <a:ext uri="{FF2B5EF4-FFF2-40B4-BE49-F238E27FC236}">
                <a16:creationId xmlns:a16="http://schemas.microsoft.com/office/drawing/2014/main" id="{3AC746F4-1F2C-41F8-8318-07283A9B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292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rPr>
              <a:t>gt_state</a:t>
            </a:r>
          </a:p>
        </p:txBody>
      </p:sp>
      <p:sp>
        <p:nvSpPr>
          <p:cNvPr id="38" name="event-desc-8">
            <a:extLst xmlns:a="http://schemas.openxmlformats.org/drawingml/2006/main">
              <a:ext uri="{FF2B5EF4-FFF2-40B4-BE49-F238E27FC236}">
                <a16:creationId xmlns:a16="http://schemas.microsoft.com/office/drawing/2014/main" id="{F60CBFEA-79D4-4F14-9F3B-5DCB9EB2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029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EE / gripper / object / z_lift</a:t>
            </a:r>
          </a:p>
        </p:txBody>
      </p:sp>
      <p:sp>
        <p:nvSpPr>
          <p:cNvPr id="39" name="event-name-4">
            <a:extLst xmlns:a="http://schemas.openxmlformats.org/drawingml/2006/main">
              <a:ext uri="{FF2B5EF4-FFF2-40B4-BE49-F238E27FC236}">
                <a16:creationId xmlns:a16="http://schemas.microsoft.com/office/drawing/2014/main" id="{DE0EBD98-6243-4D85-9EFF-E704D63B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rPr>
              <a:t>subgoal_state</a:t>
            </a:r>
          </a:p>
        </p:txBody>
      </p:sp>
      <p:sp>
        <p:nvSpPr>
          <p:cNvPr id="40" name="event-desc-4">
            <a:extLst xmlns:a="http://schemas.openxmlformats.org/drawingml/2006/main">
              <a:ext uri="{FF2B5EF4-FFF2-40B4-BE49-F238E27FC236}">
                <a16:creationId xmlns:a16="http://schemas.microsoft.com/office/drawing/2014/main" id="{4A2F0F2A-D11E-49CD-BD01-D2A37302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257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idx / text / steps / advance / timeout</a:t>
            </a:r>
          </a:p>
        </p:txBody>
      </p:sp>
      <p:sp>
        <p:nvSpPr>
          <p:cNvPr id="41" name="event-name-9">
            <a:extLst xmlns:a="http://schemas.openxmlformats.org/drawingml/2006/main">
              <a:ext uri="{FF2B5EF4-FFF2-40B4-BE49-F238E27FC236}">
                <a16:creationId xmlns:a16="http://schemas.microsoft.com/office/drawing/2014/main" id="{EC205CAA-BD3E-4218-B963-0D198261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578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rPr>
              <a:t>timing</a:t>
            </a:r>
          </a:p>
        </p:txBody>
      </p:sp>
      <p:sp>
        <p:nvSpPr>
          <p:cNvPr id="42" name="event-desc-9">
            <a:extLst xmlns:a="http://schemas.openxmlformats.org/drawingml/2006/main">
              <a:ext uri="{FF2B5EF4-FFF2-40B4-BE49-F238E27FC236}">
                <a16:creationId xmlns:a16="http://schemas.microsoft.com/office/drawing/2014/main" id="{4DECCD2F-D5A0-450C-9B14-7A1FA9A9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257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component-level latency</a:t>
            </a:r>
          </a:p>
        </p:txBody>
      </p:sp>
      <p:sp>
        <p:nvSpPr>
          <p:cNvPr id="43" name="event-name-5">
            <a:extLst xmlns:a="http://schemas.openxmlformats.org/drawingml/2006/main">
              <a:ext uri="{FF2B5EF4-FFF2-40B4-BE49-F238E27FC236}">
                <a16:creationId xmlns:a16="http://schemas.microsoft.com/office/drawing/2014/main" id="{D0856A48-42F1-41AD-9064-248F90CA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rPr>
              <a:t>failure_detection</a:t>
            </a:r>
          </a:p>
        </p:txBody>
      </p:sp>
      <p:sp>
        <p:nvSpPr>
          <p:cNvPr id="44" name="event-desc-5">
            <a:extLst xmlns:a="http://schemas.openxmlformats.org/drawingml/2006/main">
              <a:ext uri="{FF2B5EF4-FFF2-40B4-BE49-F238E27FC236}">
                <a16:creationId xmlns:a16="http://schemas.microsoft.com/office/drawing/2014/main" id="{A7A09301-1A60-41BD-91AF-4B2CAD86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4864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type / confidence / recovery / reason</a:t>
            </a:r>
          </a:p>
        </p:txBody>
      </p:sp>
      <p:sp>
        <p:nvSpPr>
          <p:cNvPr id="45" name="event-name-10">
            <a:extLst xmlns:a="http://schemas.openxmlformats.org/drawingml/2006/main">
              <a:ext uri="{FF2B5EF4-FFF2-40B4-BE49-F238E27FC236}">
                <a16:creationId xmlns:a16="http://schemas.microsoft.com/office/drawing/2014/main" id="{70E6707A-8296-4DD8-94A2-D96A6F33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4864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6D28D9"/>
                </a:solidFill>
                <a:latin typeface="Courier New"/>
                <a:ea typeface="Courier New"/>
                <a:cs typeface="Courier New"/>
              </a:rPr>
              <a:t>step_wall</a:t>
            </a:r>
          </a:p>
        </p:txBody>
      </p:sp>
      <p:sp>
        <p:nvSpPr>
          <p:cNvPr id="46" name="event-desc-10">
            <a:extLst xmlns:a="http://schemas.openxmlformats.org/drawingml/2006/main">
              <a:ext uri="{FF2B5EF4-FFF2-40B4-BE49-F238E27FC236}">
                <a16:creationId xmlns:a16="http://schemas.microsoft.com/office/drawing/2014/main" id="{94617A5B-AE91-42AE-96D4-CFA22118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4864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orchestrator step wall time</a:t>
            </a:r>
          </a:p>
        </p:txBody>
      </p:sp>
      <p:sp>
        <p:nvSpPr>
          <p:cNvPr id="47" name="gpu-log-title">
            <a:extLst xmlns:a="http://schemas.openxmlformats.org/drawingml/2006/main">
              <a:ext uri="{FF2B5EF4-FFF2-40B4-BE49-F238E27FC236}">
                <a16:creationId xmlns:a16="http://schemas.microsoft.com/office/drawing/2014/main" id="{D4597FEC-115B-4157-BE99-C32B1E4B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RTX 4090  ·  $VIDEOS/p4_stack*</a:t>
            </a:r>
          </a:p>
        </p:txBody>
      </p:sp>
      <p:sp>
        <p:nvSpPr>
          <p:cNvPr id="48" name="gpu-root">
            <a:extLst xmlns:a="http://schemas.openxmlformats.org/drawingml/2006/main">
              <a:ext uri="{FF2B5EF4-FFF2-40B4-BE49-F238E27FC236}">
                <a16:creationId xmlns:a16="http://schemas.microsoft.com/office/drawing/2014/main" id="{B6D656E0-F1E8-44B9-898D-B81D6B27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475569"/>
                </a:solidFill>
                <a:latin typeface="Courier New"/>
                <a:ea typeface="Courier New"/>
                <a:cs typeface="Courier New"/>
              </a:rPr>
              <a:t>~/seokmin/seokmin_agent/videos/</a:t>
            </a:r>
          </a:p>
        </p:txBody>
      </p:sp>
      <p:sp>
        <p:nvSpPr>
          <p:cNvPr id="49" name="stack-name-1">
            <a:extLst xmlns:a="http://schemas.openxmlformats.org/drawingml/2006/main">
              <a:ext uri="{FF2B5EF4-FFF2-40B4-BE49-F238E27FC236}">
                <a16:creationId xmlns:a16="http://schemas.microsoft.com/office/drawing/2014/main" id="{D416E89A-8814-48B8-B3C1-B5FFF3C2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66534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166534"/>
                </a:solidFill>
                <a:latin typeface="Courier New"/>
                <a:ea typeface="Courier New"/>
                <a:cs typeface="Courier New"/>
              </a:rPr>
              <a:t>p4_stack1</a:t>
            </a:r>
          </a:p>
        </p:txBody>
      </p:sp>
      <p:sp>
        <p:nvSpPr>
          <p:cNvPr id="50" name="stack-machine-1">
            <a:extLst xmlns:a="http://schemas.openxmlformats.org/drawingml/2006/main">
              <a:ext uri="{FF2B5EF4-FFF2-40B4-BE49-F238E27FC236}">
                <a16:creationId xmlns:a16="http://schemas.microsoft.com/office/drawing/2014/main" id="{6C60B82C-92BE-40F6-B6DE-4FA39D6F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28900"/>
            <a:ext cx="120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4090_1 · GPU0</a:t>
            </a:r>
          </a:p>
        </p:txBody>
      </p:sp>
      <p:sp>
        <p:nvSpPr>
          <p:cNvPr id="51" name="stack-tasks-1">
            <a:extLst xmlns:a="http://schemas.openxmlformats.org/drawingml/2006/main">
              <a:ext uri="{FF2B5EF4-FFF2-40B4-BE49-F238E27FC236}">
                <a16:creationId xmlns:a16="http://schemas.microsoft.com/office/drawing/2014/main" id="{234D9F02-427A-4EB1-829D-A64D2331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tasks 1–30</a:t>
            </a:r>
          </a:p>
        </p:txBody>
      </p:sp>
      <p:sp>
        <p:nvSpPr>
          <p:cNvPr id="52" name="stack-name-2">
            <a:extLst xmlns:a="http://schemas.openxmlformats.org/drawingml/2006/main">
              <a:ext uri="{FF2B5EF4-FFF2-40B4-BE49-F238E27FC236}">
                <a16:creationId xmlns:a16="http://schemas.microsoft.com/office/drawing/2014/main" id="{F8F98308-AD10-4302-8B3A-75AC8D79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47975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66534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166534"/>
                </a:solidFill>
                <a:latin typeface="Courier New"/>
                <a:ea typeface="Courier New"/>
                <a:cs typeface="Courier New"/>
              </a:rPr>
              <a:t>p4_stack2</a:t>
            </a:r>
          </a:p>
        </p:txBody>
      </p:sp>
      <p:sp>
        <p:nvSpPr>
          <p:cNvPr id="53" name="stack-machine-2">
            <a:extLst xmlns:a="http://schemas.openxmlformats.org/drawingml/2006/main">
              <a:ext uri="{FF2B5EF4-FFF2-40B4-BE49-F238E27FC236}">
                <a16:creationId xmlns:a16="http://schemas.microsoft.com/office/drawing/2014/main" id="{A4C2D7D5-5E66-4DDA-8E23-FF9F9198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847975"/>
            <a:ext cx="120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4090_1 · GPU1</a:t>
            </a:r>
          </a:p>
        </p:txBody>
      </p:sp>
      <p:sp>
        <p:nvSpPr>
          <p:cNvPr id="54" name="stack-tasks-2">
            <a:extLst xmlns:a="http://schemas.openxmlformats.org/drawingml/2006/main">
              <a:ext uri="{FF2B5EF4-FFF2-40B4-BE49-F238E27FC236}">
                <a16:creationId xmlns:a16="http://schemas.microsoft.com/office/drawing/2014/main" id="{CB68B886-6351-4DEA-B9E5-B4913995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47975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tasks 31–60</a:t>
            </a:r>
          </a:p>
        </p:txBody>
      </p:sp>
      <p:sp>
        <p:nvSpPr>
          <p:cNvPr id="55" name="stack-name-3">
            <a:extLst xmlns:a="http://schemas.openxmlformats.org/drawingml/2006/main">
              <a:ext uri="{FF2B5EF4-FFF2-40B4-BE49-F238E27FC236}">
                <a16:creationId xmlns:a16="http://schemas.microsoft.com/office/drawing/2014/main" id="{2D5ED954-2833-4A29-8AF4-0F11BD09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66534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166534"/>
                </a:solidFill>
                <a:latin typeface="Courier New"/>
                <a:ea typeface="Courier New"/>
                <a:cs typeface="Courier New"/>
              </a:rPr>
              <a:t>p4_stack3</a:t>
            </a:r>
          </a:p>
        </p:txBody>
      </p:sp>
      <p:sp>
        <p:nvSpPr>
          <p:cNvPr id="56" name="stack-machine-3">
            <a:extLst xmlns:a="http://schemas.openxmlformats.org/drawingml/2006/main">
              <a:ext uri="{FF2B5EF4-FFF2-40B4-BE49-F238E27FC236}">
                <a16:creationId xmlns:a16="http://schemas.microsoft.com/office/drawing/2014/main" id="{3DE0AB04-0FD6-4596-B54B-E612C38C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67050"/>
            <a:ext cx="120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4090_2 · GPU0</a:t>
            </a:r>
          </a:p>
        </p:txBody>
      </p:sp>
      <p:sp>
        <p:nvSpPr>
          <p:cNvPr id="57" name="stack-tasks-3">
            <a:extLst xmlns:a="http://schemas.openxmlformats.org/drawingml/2006/main">
              <a:ext uri="{FF2B5EF4-FFF2-40B4-BE49-F238E27FC236}">
                <a16:creationId xmlns:a16="http://schemas.microsoft.com/office/drawing/2014/main" id="{4D984653-6853-438A-9D80-63A33AF3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tasks 61–90</a:t>
            </a:r>
          </a:p>
        </p:txBody>
      </p:sp>
      <p:sp>
        <p:nvSpPr>
          <p:cNvPr id="58" name="stack-name-4">
            <a:extLst xmlns:a="http://schemas.openxmlformats.org/drawingml/2006/main">
              <a:ext uri="{FF2B5EF4-FFF2-40B4-BE49-F238E27FC236}">
                <a16:creationId xmlns:a16="http://schemas.microsoft.com/office/drawing/2014/main" id="{993DAC6C-F2CB-4907-8BB5-A0A6A1DE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66534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166534"/>
                </a:solidFill>
                <a:latin typeface="Courier New"/>
                <a:ea typeface="Courier New"/>
                <a:cs typeface="Courier New"/>
              </a:rPr>
              <a:t>p4_stack4</a:t>
            </a:r>
          </a:p>
        </p:txBody>
      </p:sp>
      <p:sp>
        <p:nvSpPr>
          <p:cNvPr id="59" name="stack-machine-4">
            <a:extLst xmlns:a="http://schemas.openxmlformats.org/drawingml/2006/main">
              <a:ext uri="{FF2B5EF4-FFF2-40B4-BE49-F238E27FC236}">
                <a16:creationId xmlns:a16="http://schemas.microsoft.com/office/drawing/2014/main" id="{8D7F0143-71D8-466B-AB1A-A184C5DB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86125"/>
            <a:ext cx="120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4090_3 · GPU0</a:t>
            </a:r>
          </a:p>
        </p:txBody>
      </p:sp>
      <p:sp>
        <p:nvSpPr>
          <p:cNvPr id="60" name="stack-tasks-4">
            <a:extLst xmlns:a="http://schemas.openxmlformats.org/drawingml/2006/main">
              <a:ext uri="{FF2B5EF4-FFF2-40B4-BE49-F238E27FC236}">
                <a16:creationId xmlns:a16="http://schemas.microsoft.com/office/drawing/2014/main" id="{C0A9C52C-5CA8-42A6-927B-2292D7C8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86125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tasks 91–120</a:t>
            </a:r>
          </a:p>
        </p:txBody>
      </p:sp>
      <p:sp>
        <p:nvSpPr>
          <p:cNvPr id="61" name="gpu-tree-rule">
            <a:extLst xmlns:a="http://schemas.openxmlformats.org/drawingml/2006/main">
              <a:ext uri="{FF2B5EF4-FFF2-40B4-BE49-F238E27FC236}">
                <a16:creationId xmlns:a16="http://schemas.microsoft.com/office/drawing/2014/main" id="{8F871BDF-FF5E-40C9-A695-1FFB6367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90925"/>
            <a:ext cx="4095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62" name="gpu-tree-label">
            <a:extLst xmlns:a="http://schemas.openxmlformats.org/drawingml/2006/main">
              <a:ext uri="{FF2B5EF4-FFF2-40B4-BE49-F238E27FC236}">
                <a16:creationId xmlns:a16="http://schemas.microsoft.com/office/drawing/2014/main" id="{5965DCC5-8286-4AC5-81C5-808145E5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766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RUN DIRECTORY</a:t>
            </a:r>
          </a:p>
        </p:txBody>
      </p:sp>
      <p:sp>
        <p:nvSpPr>
          <p:cNvPr id="63" name="gpu-tree">
            <a:extLst xmlns:a="http://schemas.openxmlformats.org/drawingml/2006/main">
              <a:ext uri="{FF2B5EF4-FFF2-40B4-BE49-F238E27FC236}">
                <a16:creationId xmlns:a16="http://schemas.microsoft.com/office/drawing/2014/main" id="{F7520094-BEA9-45A9-8E18-6106A342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p4_stackN/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&lt;timestamp&gt;_pi05_vague/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results.json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timing.json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&lt;TaskName&gt;/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  &lt;instruction&gt;_ep0.mp4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  &lt;instruction&gt;_ep1.mp4</a:t>
            </a:r>
          </a:p>
          <a:p xmlns:a="http://schemas.openxmlformats.org/drawingml/2006/main">
            <a:pPr>
              <a:buNone/>
              <a:def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788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  &lt;instruction&gt;_ep2.mp4</a:t>
            </a:r>
          </a:p>
        </p:txBody>
      </p:sp>
      <p:sp>
        <p:nvSpPr>
          <p:cNvPr id="64" name="results-desc">
            <a:extLst xmlns:a="http://schemas.openxmlformats.org/drawingml/2006/main">
              <a:ext uri="{FF2B5EF4-FFF2-40B4-BE49-F238E27FC236}">
                <a16:creationId xmlns:a16="http://schemas.microsoft.com/office/drawing/2014/main" id="{4003F0DD-B2FD-4F3C-986D-7C842EBC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914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>
                <a:solidFill>
                  <a:srgbClr val="166534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166534"/>
                </a:solidFill>
                <a:latin typeface="Courier New"/>
                <a:ea typeface="Courier New"/>
                <a:cs typeface="Courier New"/>
              </a:rPr>
              <a:t>results.json</a:t>
            </a:r>
          </a:p>
        </p:txBody>
      </p:sp>
      <p:sp>
        <p:nvSpPr>
          <p:cNvPr id="65" name="results-meaning">
            <a:extLst xmlns:a="http://schemas.openxmlformats.org/drawingml/2006/main">
              <a:ext uri="{FF2B5EF4-FFF2-40B4-BE49-F238E27FC236}">
                <a16:creationId xmlns:a16="http://schemas.microsoft.com/office/drawing/2014/main" id="{8575FCE7-6258-47DC-9B3C-0A6A3AF9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episode success / failure</a:t>
            </a:r>
          </a:p>
        </p:txBody>
      </p:sp>
      <p:sp>
        <p:nvSpPr>
          <p:cNvPr id="66" name="timing-desc">
            <a:extLst xmlns:a="http://schemas.openxmlformats.org/drawingml/2006/main">
              <a:ext uri="{FF2B5EF4-FFF2-40B4-BE49-F238E27FC236}">
                <a16:creationId xmlns:a16="http://schemas.microsoft.com/office/drawing/2014/main" id="{DFECEAD3-3E3D-4171-AB67-AEE73A5D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005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>
                <a:solidFill>
                  <a:srgbClr val="166534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166534"/>
                </a:solidFill>
                <a:latin typeface="Courier New"/>
                <a:ea typeface="Courier New"/>
                <a:cs typeface="Courier New"/>
              </a:rPr>
              <a:t>timing.json</a:t>
            </a:r>
          </a:p>
        </p:txBody>
      </p:sp>
      <p:sp>
        <p:nvSpPr>
          <p:cNvPr id="67" name="timing-meaning">
            <a:extLst xmlns:a="http://schemas.openxmlformats.org/drawingml/2006/main">
              <a:ext uri="{FF2B5EF4-FFF2-40B4-BE49-F238E27FC236}">
                <a16:creationId xmlns:a16="http://schemas.microsoft.com/office/drawing/2014/main" id="{1648CD09-A283-44D3-9214-04FBFA25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5815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per-task episode timing</a:t>
            </a:r>
          </a:p>
        </p:txBody>
      </p:sp>
      <p:sp>
        <p:nvSpPr>
          <p:cNvPr id="68" name="video-desc">
            <a:extLst xmlns:a="http://schemas.openxmlformats.org/drawingml/2006/main">
              <a:ext uri="{FF2B5EF4-FFF2-40B4-BE49-F238E27FC236}">
                <a16:creationId xmlns:a16="http://schemas.microsoft.com/office/drawing/2014/main" id="{7DD1D4BC-E0DA-4AC1-9966-4B38E3A6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863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>
                <a:solidFill>
                  <a:srgbClr val="166534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166534"/>
                </a:solidFill>
                <a:latin typeface="Courier New"/>
                <a:ea typeface="Courier New"/>
                <a:cs typeface="Courier New"/>
              </a:rPr>
              <a:t>ep0 / ep1 / ep2.mp4</a:t>
            </a:r>
          </a:p>
        </p:txBody>
      </p:sp>
      <p:sp>
        <p:nvSpPr>
          <p:cNvPr id="69" name="video-meaning">
            <a:extLst xmlns:a="http://schemas.openxmlformats.org/drawingml/2006/main">
              <a:ext uri="{FF2B5EF4-FFF2-40B4-BE49-F238E27FC236}">
                <a16:creationId xmlns:a16="http://schemas.microsoft.com/office/drawing/2014/main" id="{5E032B0A-5F83-442F-813A-629F5EFC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067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sensor camera · 3 runs</a:t>
            </a:r>
          </a:p>
        </p:txBody>
      </p:sp>
      <p:sp>
        <p:nvSpPr>
          <p:cNvPr id="70" name="log-footer-rule">
            <a:extLst xmlns:a="http://schemas.openxmlformats.org/drawingml/2006/main">
              <a:ext uri="{FF2B5EF4-FFF2-40B4-BE49-F238E27FC236}">
                <a16:creationId xmlns:a16="http://schemas.microsoft.com/office/drawing/2014/main" id="{590AE867-E162-4A59-822A-E54999DB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67425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1" name="log-footer">
            <a:extLst xmlns:a="http://schemas.openxmlformats.org/drawingml/2006/main">
              <a:ext uri="{FF2B5EF4-FFF2-40B4-BE49-F238E27FC236}">
                <a16:creationId xmlns:a16="http://schemas.microsoft.com/office/drawing/2014/main" id="{6CC1B0E0-AFBC-49A8-B508-53A88E0A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A100 explains why the agent acted; RTX 4090 records whether each episode succeeded and how long it took.</a:t>
            </a:r>
          </a:p>
        </p:txBody>
      </p:sp>
    </p:spTree>
    <p:extLst>
      <p:ext uri="{BB962C8B-B14F-4D97-AF65-F5344CB8AC3E}">
        <p14:creationId xmlns:p14="http://schemas.microsoft.com/office/powerpoint/2010/main" val="669095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ule">
            <a:extLst xmlns:a="http://schemas.openxmlformats.org/drawingml/2006/main">
              <a:ext uri="{FF2B5EF4-FFF2-40B4-BE49-F238E27FC236}">
                <a16:creationId xmlns:a16="http://schemas.microsoft.com/office/drawing/2014/main" id="{D6C70A71-318F-4E59-B358-C4A4EA3A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0F11DB5-392C-4DAF-B645-D55D13A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  <p:sp>
        <p:nvSpPr>
          <p:cNvPr id="3" name="date-top">
            <a:extLst xmlns:a="http://schemas.openxmlformats.org/drawingml/2006/main">
              <a:ext uri="{FF2B5EF4-FFF2-40B4-BE49-F238E27FC236}">
                <a16:creationId xmlns:a16="http://schemas.microsoft.com/office/drawing/2014/main" id="{21677A87-8FBF-43AC-9CE5-6886F1E4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86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RESULTS → DIAGNOSIS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91B1C26D-7029-4118-B4B0-51258F79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Post-Evaluation Analysis Plan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F915A45E-1C73-4BD0-9EEB-A4E4983C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eting-label">
            <a:extLst xmlns:a="http://schemas.openxmlformats.org/drawingml/2006/main">
              <a:ext uri="{FF2B5EF4-FFF2-40B4-BE49-F238E27FC236}">
                <a16:creationId xmlns:a16="http://schemas.microsoft.com/office/drawing/2014/main" id="{B0BE61AB-CBE1-4A45-9D02-D678E34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239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Time → failure causes → debugging priorities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A0E51C-97C5-4536-BB41-C1CD5CE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9" name="analysis-01-region">
            <a:extLst xmlns:a="http://schemas.openxmlformats.org/drawingml/2006/main">
              <a:ext uri="{FF2B5EF4-FFF2-40B4-BE49-F238E27FC236}">
                <a16:creationId xmlns:a16="http://schemas.microsoft.com/office/drawing/2014/main" id="{B2C1B63B-2C9C-403D-8DF1-9C1BE93C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600450" cy="4095750"/>
          </a:xfrm>
          <a:prstGeom xmlns:a="http://schemas.openxmlformats.org/drawingml/2006/main" prst="roundRect">
            <a:avLst>
              <a:gd name="adj" fmla="val 211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analysis-01-accent">
            <a:extLst xmlns:a="http://schemas.openxmlformats.org/drawingml/2006/main">
              <a:ext uri="{FF2B5EF4-FFF2-40B4-BE49-F238E27FC236}">
                <a16:creationId xmlns:a16="http://schemas.microsoft.com/office/drawing/2014/main" id="{DD3C21B3-7C7A-4B15-98CD-C6A89839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6004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nalysis-01-number">
            <a:extLst xmlns:a="http://schemas.openxmlformats.org/drawingml/2006/main">
              <a:ext uri="{FF2B5EF4-FFF2-40B4-BE49-F238E27FC236}">
                <a16:creationId xmlns:a16="http://schemas.microsoft.com/office/drawing/2014/main" id="{7C3D9E1D-B96C-4CD1-88E4-01BD376E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analysis-01-title">
            <a:extLst xmlns:a="http://schemas.openxmlformats.org/drawingml/2006/main">
              <a:ext uri="{FF2B5EF4-FFF2-40B4-BE49-F238E27FC236}">
                <a16:creationId xmlns:a16="http://schemas.microsoft.com/office/drawing/2014/main" id="{56F08FCC-0B8E-4A67-B5F0-10229E8F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97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TIME ANALYSIS</a:t>
            </a:r>
          </a:p>
        </p:txBody>
      </p:sp>
      <p:sp>
        <p:nvSpPr>
          <p:cNvPr id="13" name="analysis-01-q-label">
            <a:extLst xmlns:a="http://schemas.openxmlformats.org/drawingml/2006/main">
              <a:ext uri="{FF2B5EF4-FFF2-40B4-BE49-F238E27FC236}">
                <a16:creationId xmlns:a16="http://schemas.microsoft.com/office/drawing/2014/main" id="{8DC814B8-543A-4DF4-A3FA-CB467265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05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 spc="90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90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14" name="analysis-01-question">
            <a:extLst xmlns:a="http://schemas.openxmlformats.org/drawingml/2006/main">
              <a:ext uri="{FF2B5EF4-FFF2-40B4-BE49-F238E27FC236}">
                <a16:creationId xmlns:a16="http://schemas.microsoft.com/office/drawing/2014/main" id="{D480404B-AD2A-4B3B-B899-14160D59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321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Which tasks and episodes are slow?</a:t>
            </a:r>
          </a:p>
        </p:txBody>
      </p:sp>
      <p:sp>
        <p:nvSpPr>
          <p:cNvPr id="15" name="analysis-01-e-label">
            <a:extLst xmlns:a="http://schemas.openxmlformats.org/drawingml/2006/main">
              <a:ext uri="{FF2B5EF4-FFF2-40B4-BE49-F238E27FC236}">
                <a16:creationId xmlns:a16="http://schemas.microsoft.com/office/drawing/2014/main" id="{7D9E6096-65D3-418D-9AA4-8A85F1FF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 spc="90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90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6" name="analysis-01-evidence">
            <a:extLst xmlns:a="http://schemas.openxmlformats.org/drawingml/2006/main">
              <a:ext uri="{FF2B5EF4-FFF2-40B4-BE49-F238E27FC236}">
                <a16:creationId xmlns:a16="http://schemas.microsoft.com/office/drawing/2014/main" id="{F93F0CC3-A679-4FB1-8430-DCEC2A5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38525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38" b="1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pPr>
            <a:r>
              <a:rPr sz="938" b="1">
                <a:solidFill>
                  <a:srgbClr val="475569"/>
                </a:solidFill>
                <a:latin typeface="Courier New"/>
                <a:ea typeface="Courier New"/>
                <a:cs typeface="Courier New"/>
              </a:rPr>
              <a:t>timing.json  ·  timing  ·  step_wall</a:t>
            </a:r>
          </a:p>
        </p:txBody>
      </p:sp>
      <p:sp>
        <p:nvSpPr>
          <p:cNvPr id="17" name="analysis-01-rule">
            <a:extLst xmlns:a="http://schemas.openxmlformats.org/drawingml/2006/main">
              <a:ext uri="{FF2B5EF4-FFF2-40B4-BE49-F238E27FC236}">
                <a16:creationId xmlns:a16="http://schemas.microsoft.com/office/drawing/2014/main" id="{E556A1B9-C7B5-4565-ADF5-9D366CA5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3219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8" name="analysis-01-a-label">
            <a:extLst xmlns:a="http://schemas.openxmlformats.org/drawingml/2006/main">
              <a:ext uri="{FF2B5EF4-FFF2-40B4-BE49-F238E27FC236}">
                <a16:creationId xmlns:a16="http://schemas.microsoft.com/office/drawing/2014/main" id="{5C1BB7AB-CCA0-4794-9D9C-9CFB0A47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 spc="90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90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ANALYZE</a:t>
            </a:r>
          </a:p>
        </p:txBody>
      </p:sp>
      <p:sp>
        <p:nvSpPr>
          <p:cNvPr id="19" name="analysis-01-bullets">
            <a:extLst xmlns:a="http://schemas.openxmlformats.org/drawingml/2006/main">
              <a:ext uri="{FF2B5EF4-FFF2-40B4-BE49-F238E27FC236}">
                <a16:creationId xmlns:a16="http://schemas.microsoft.com/office/drawing/2014/main" id="{FDD7889F-D28F-47FD-BA24-AEC521F8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00525"/>
            <a:ext cx="321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• Compare episode time by task</a:t>
            </a:r>
          </a:p>
          <a:p xmlns:a="http://schemas.openxmlformats.org/drawingml/2006/main">
            <a:pPr>
              <a:buNone/>
              <a:def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• Break down component latency</a:t>
            </a:r>
          </a:p>
          <a:p xmlns:a="http://schemas.openxmlformats.org/drawingml/2006/main">
            <a:pPr>
              <a:buNone/>
              <a:def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• Locate VLM / grasp / Sim bottlenecks</a:t>
            </a:r>
          </a:p>
        </p:txBody>
      </p:sp>
      <p:sp>
        <p:nvSpPr>
          <p:cNvPr id="20" name="analysis-01-output-rule">
            <a:extLst xmlns:a="http://schemas.openxmlformats.org/drawingml/2006/main">
              <a:ext uri="{FF2B5EF4-FFF2-40B4-BE49-F238E27FC236}">
                <a16:creationId xmlns:a16="http://schemas.microsoft.com/office/drawing/2014/main" id="{F2BEEC93-CA1A-4E8F-BAB3-35CFB128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53025"/>
            <a:ext cx="3219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1" name="analysis-01-output-label">
            <a:extLst xmlns:a="http://schemas.openxmlformats.org/drawingml/2006/main">
              <a:ext uri="{FF2B5EF4-FFF2-40B4-BE49-F238E27FC236}">
                <a16:creationId xmlns:a16="http://schemas.microsoft.com/office/drawing/2014/main" id="{57C6E9F5-DFB0-40D3-8808-FA93405B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 spc="90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1" spc="90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22" name="analysis-01-output">
            <a:extLst xmlns:a="http://schemas.openxmlformats.org/drawingml/2006/main">
              <a:ext uri="{FF2B5EF4-FFF2-40B4-BE49-F238E27FC236}">
                <a16:creationId xmlns:a16="http://schemas.microsoft.com/office/drawing/2014/main" id="{9B98AA92-0E47-4450-B96C-7FCF2925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387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Task timing table + bottleneck breakdown</a:t>
            </a:r>
          </a:p>
        </p:txBody>
      </p:sp>
      <p:sp>
        <p:nvSpPr>
          <p:cNvPr id="23" name="analysis-02-region">
            <a:extLst xmlns:a="http://schemas.openxmlformats.org/drawingml/2006/main">
              <a:ext uri="{FF2B5EF4-FFF2-40B4-BE49-F238E27FC236}">
                <a16:creationId xmlns:a16="http://schemas.microsoft.com/office/drawing/2014/main" id="{95E222DA-D13F-40E1-8F0B-B0B0BF99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3600450" cy="4095750"/>
          </a:xfrm>
          <a:prstGeom xmlns:a="http://schemas.openxmlformats.org/drawingml/2006/main" prst="roundRect">
            <a:avLst>
              <a:gd name="adj" fmla="val 211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24" name="analysis-02-accent">
            <a:extLst xmlns:a="http://schemas.openxmlformats.org/drawingml/2006/main">
              <a:ext uri="{FF2B5EF4-FFF2-40B4-BE49-F238E27FC236}">
                <a16:creationId xmlns:a16="http://schemas.microsoft.com/office/drawing/2014/main" id="{591450F5-64E2-481A-ACF5-460E14A9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36004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nalysis-02-number">
            <a:extLst xmlns:a="http://schemas.openxmlformats.org/drawingml/2006/main">
              <a:ext uri="{FF2B5EF4-FFF2-40B4-BE49-F238E27FC236}">
                <a16:creationId xmlns:a16="http://schemas.microsoft.com/office/drawing/2014/main" id="{777BC2FD-0B9E-4DFF-8E39-BB5B4F72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28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6" name="analysis-02-title">
            <a:extLst xmlns:a="http://schemas.openxmlformats.org/drawingml/2006/main">
              <a:ext uri="{FF2B5EF4-FFF2-40B4-BE49-F238E27FC236}">
                <a16:creationId xmlns:a16="http://schemas.microsoft.com/office/drawing/2014/main" id="{CFCF5D2B-1990-4ADC-A309-1F961F33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97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FAILURE CAUSES</a:t>
            </a:r>
          </a:p>
        </p:txBody>
      </p:sp>
      <p:sp>
        <p:nvSpPr>
          <p:cNvPr id="27" name="analysis-02-q-label">
            <a:extLst xmlns:a="http://schemas.openxmlformats.org/drawingml/2006/main">
              <a:ext uri="{FF2B5EF4-FFF2-40B4-BE49-F238E27FC236}">
                <a16:creationId xmlns:a16="http://schemas.microsoft.com/office/drawing/2014/main" id="{1F6F4875-2861-420A-BD40-87CCEE75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05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 spc="9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9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28" name="analysis-02-question">
            <a:extLst xmlns:a="http://schemas.openxmlformats.org/drawingml/2006/main">
              <a:ext uri="{FF2B5EF4-FFF2-40B4-BE49-F238E27FC236}">
                <a16:creationId xmlns:a16="http://schemas.microsoft.com/office/drawing/2014/main" id="{241C9CC4-D467-4E60-938C-3C6530BC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05100"/>
            <a:ext cx="321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Why did each episode fail?</a:t>
            </a:r>
          </a:p>
        </p:txBody>
      </p:sp>
      <p:sp>
        <p:nvSpPr>
          <p:cNvPr id="29" name="analysis-02-e-label">
            <a:extLst xmlns:a="http://schemas.openxmlformats.org/drawingml/2006/main">
              <a:ext uri="{FF2B5EF4-FFF2-40B4-BE49-F238E27FC236}">
                <a16:creationId xmlns:a16="http://schemas.microsoft.com/office/drawing/2014/main" id="{E3941ADF-6F13-46A7-A23C-00B51067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38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 spc="9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9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30" name="analysis-02-evidence">
            <a:extLst xmlns:a="http://schemas.openxmlformats.org/drawingml/2006/main">
              <a:ext uri="{FF2B5EF4-FFF2-40B4-BE49-F238E27FC236}">
                <a16:creationId xmlns:a16="http://schemas.microsoft.com/office/drawing/2014/main" id="{7728C8C4-C5A8-4033-8076-1866C334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38525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38" b="1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pPr>
            <a:r>
              <a:rPr sz="938" b="1">
                <a:solidFill>
                  <a:srgbClr val="475569"/>
                </a:solidFill>
                <a:latin typeface="Courier New"/>
                <a:ea typeface="Courier New"/>
                <a:cs typeface="Courier New"/>
              </a:rPr>
              <a:t>results.json  ·  videos  ·  step.jsonl</a:t>
            </a:r>
          </a:p>
        </p:txBody>
      </p:sp>
      <p:sp>
        <p:nvSpPr>
          <p:cNvPr id="31" name="analysis-02-rule">
            <a:extLst xmlns:a="http://schemas.openxmlformats.org/drawingml/2006/main">
              <a:ext uri="{FF2B5EF4-FFF2-40B4-BE49-F238E27FC236}">
                <a16:creationId xmlns:a16="http://schemas.microsoft.com/office/drawing/2014/main" id="{360CFD0C-91DC-428C-967D-EE4716AD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57625"/>
            <a:ext cx="3219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32" name="analysis-02-a-label">
            <a:extLst xmlns:a="http://schemas.openxmlformats.org/drawingml/2006/main">
              <a:ext uri="{FF2B5EF4-FFF2-40B4-BE49-F238E27FC236}">
                <a16:creationId xmlns:a16="http://schemas.microsoft.com/office/drawing/2014/main" id="{14D49D55-2AF9-4F40-9819-76F0F0BB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719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 spc="9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9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ANALYZE</a:t>
            </a:r>
          </a:p>
        </p:txBody>
      </p:sp>
      <p:sp>
        <p:nvSpPr>
          <p:cNvPr id="33" name="analysis-02-bullets">
            <a:extLst xmlns:a="http://schemas.openxmlformats.org/drawingml/2006/main">
              <a:ext uri="{FF2B5EF4-FFF2-40B4-BE49-F238E27FC236}">
                <a16:creationId xmlns:a16="http://schemas.microsoft.com/office/drawing/2014/main" id="{6987C407-3A21-4CFF-9159-6F8AB2FC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00525"/>
            <a:ext cx="321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• Grasp execution failure</a:t>
            </a:r>
          </a:p>
          <a:p xmlns:a="http://schemas.openxmlformats.org/drawingml/2006/main">
            <a:pPr>
              <a:buNone/>
              <a:def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• Subgoal decomposition / check error</a:t>
            </a:r>
          </a:p>
          <a:p xmlns:a="http://schemas.openxmlformats.org/drawingml/2006/main">
            <a:pPr>
              <a:buNone/>
              <a:def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• VLA motion or action anomaly</a:t>
            </a:r>
          </a:p>
        </p:txBody>
      </p:sp>
      <p:sp>
        <p:nvSpPr>
          <p:cNvPr id="34" name="analysis-02-output-rule">
            <a:extLst xmlns:a="http://schemas.openxmlformats.org/drawingml/2006/main">
              <a:ext uri="{FF2B5EF4-FFF2-40B4-BE49-F238E27FC236}">
                <a16:creationId xmlns:a16="http://schemas.microsoft.com/office/drawing/2014/main" id="{F0710E64-6206-4E32-9D3D-3A19F779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53025"/>
            <a:ext cx="3219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35" name="analysis-02-output-label">
            <a:extLst xmlns:a="http://schemas.openxmlformats.org/drawingml/2006/main">
              <a:ext uri="{FF2B5EF4-FFF2-40B4-BE49-F238E27FC236}">
                <a16:creationId xmlns:a16="http://schemas.microsoft.com/office/drawing/2014/main" id="{1A309952-2AFD-465D-81DB-14F595C3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673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 spc="9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1" spc="9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36" name="analysis-02-output">
            <a:extLst xmlns:a="http://schemas.openxmlformats.org/drawingml/2006/main">
              <a:ext uri="{FF2B5EF4-FFF2-40B4-BE49-F238E27FC236}">
                <a16:creationId xmlns:a16="http://schemas.microsoft.com/office/drawing/2014/main" id="{AE84C950-8421-4F96-BC7C-E7BF1D8F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387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Failure taxonomy + frequency by task</a:t>
            </a:r>
          </a:p>
        </p:txBody>
      </p:sp>
      <p:sp>
        <p:nvSpPr>
          <p:cNvPr id="37" name="analysis-03-region">
            <a:extLst xmlns:a="http://schemas.openxmlformats.org/drawingml/2006/main">
              <a:ext uri="{FF2B5EF4-FFF2-40B4-BE49-F238E27FC236}">
                <a16:creationId xmlns:a16="http://schemas.microsoft.com/office/drawing/2014/main" id="{9635BA2C-5DAE-4788-B7C0-BBF10C57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90700"/>
            <a:ext cx="3848100" cy="4095750"/>
          </a:xfrm>
          <a:prstGeom xmlns:a="http://schemas.openxmlformats.org/drawingml/2006/main" prst="roundRect">
            <a:avLst>
              <a:gd name="adj" fmla="val 198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38" name="analysis-03-accent">
            <a:extLst xmlns:a="http://schemas.openxmlformats.org/drawingml/2006/main">
              <a:ext uri="{FF2B5EF4-FFF2-40B4-BE49-F238E27FC236}">
                <a16:creationId xmlns:a16="http://schemas.microsoft.com/office/drawing/2014/main" id="{67BA887C-B119-4029-885B-EE7714D4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90700"/>
            <a:ext cx="3848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analysis-03-number">
            <a:extLst xmlns:a="http://schemas.openxmlformats.org/drawingml/2006/main">
              <a:ext uri="{FF2B5EF4-FFF2-40B4-BE49-F238E27FC236}">
                <a16:creationId xmlns:a16="http://schemas.microsoft.com/office/drawing/2014/main" id="{39E933B5-E977-4F17-9AB5-15B1386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28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0" name="analysis-03-title">
            <a:extLst xmlns:a="http://schemas.openxmlformats.org/drawingml/2006/main">
              <a:ext uri="{FF2B5EF4-FFF2-40B4-BE49-F238E27FC236}">
                <a16:creationId xmlns:a16="http://schemas.microsoft.com/office/drawing/2014/main" id="{FFA29DE8-18A3-4089-AE64-D9AD8A92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DEBUG PRIORITY</a:t>
            </a:r>
          </a:p>
        </p:txBody>
      </p:sp>
      <p:sp>
        <p:nvSpPr>
          <p:cNvPr id="41" name="analysis-03-q-label">
            <a:extLst xmlns:a="http://schemas.openxmlformats.org/drawingml/2006/main">
              <a:ext uri="{FF2B5EF4-FFF2-40B4-BE49-F238E27FC236}">
                <a16:creationId xmlns:a16="http://schemas.microsoft.com/office/drawing/2014/main" id="{E2178C5B-98A0-45BB-B1A1-682D495F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05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 spc="90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90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42" name="analysis-03-question">
            <a:extLst xmlns:a="http://schemas.openxmlformats.org/drawingml/2006/main">
              <a:ext uri="{FF2B5EF4-FFF2-40B4-BE49-F238E27FC236}">
                <a16:creationId xmlns:a16="http://schemas.microsoft.com/office/drawing/2014/main" id="{898FCE74-8A59-414F-BD52-D795F216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05100"/>
            <a:ext cx="346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What must be fixed before the next run?</a:t>
            </a:r>
          </a:p>
        </p:txBody>
      </p:sp>
      <p:sp>
        <p:nvSpPr>
          <p:cNvPr id="43" name="analysis-03-e-label">
            <a:extLst xmlns:a="http://schemas.openxmlformats.org/drawingml/2006/main">
              <a:ext uri="{FF2B5EF4-FFF2-40B4-BE49-F238E27FC236}">
                <a16:creationId xmlns:a16="http://schemas.microsoft.com/office/drawing/2014/main" id="{F35CC3F4-4432-4D2C-8CB6-FC68BBB9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 spc="90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90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44" name="analysis-03-evidence">
            <a:extLst xmlns:a="http://schemas.openxmlformats.org/drawingml/2006/main">
              <a:ext uri="{FF2B5EF4-FFF2-40B4-BE49-F238E27FC236}">
                <a16:creationId xmlns:a16="http://schemas.microsoft.com/office/drawing/2014/main" id="{8D811955-9935-4B5D-8CF7-19C095D1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385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38" b="1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pPr>
            <a:r>
              <a:rPr sz="938" b="1">
                <a:solidFill>
                  <a:srgbClr val="475569"/>
                </a:solidFill>
                <a:latin typeface="Courier New"/>
                <a:ea typeface="Courier New"/>
                <a:cs typeface="Courier New"/>
              </a:rPr>
              <a:t>recurring patterns across debug logs</a:t>
            </a:r>
          </a:p>
        </p:txBody>
      </p:sp>
      <p:sp>
        <p:nvSpPr>
          <p:cNvPr id="45" name="analysis-03-rule">
            <a:extLst xmlns:a="http://schemas.openxmlformats.org/drawingml/2006/main">
              <a:ext uri="{FF2B5EF4-FFF2-40B4-BE49-F238E27FC236}">
                <a16:creationId xmlns:a16="http://schemas.microsoft.com/office/drawing/2014/main" id="{3C70451E-B882-4C99-B7B4-43A8FDD1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57625"/>
            <a:ext cx="3467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46" name="analysis-03-a-label">
            <a:extLst xmlns:a="http://schemas.openxmlformats.org/drawingml/2006/main">
              <a:ext uri="{FF2B5EF4-FFF2-40B4-BE49-F238E27FC236}">
                <a16:creationId xmlns:a16="http://schemas.microsoft.com/office/drawing/2014/main" id="{C47B04A5-193C-4A03-AEC6-260ECD6D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719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825" b="1" spc="90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spc="90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ANALYZE</a:t>
            </a:r>
          </a:p>
        </p:txBody>
      </p:sp>
      <p:sp>
        <p:nvSpPr>
          <p:cNvPr id="47" name="analysis-03-bullets">
            <a:extLst xmlns:a="http://schemas.openxmlformats.org/drawingml/2006/main">
              <a:ext uri="{FF2B5EF4-FFF2-40B4-BE49-F238E27FC236}">
                <a16:creationId xmlns:a16="http://schemas.microsoft.com/office/drawing/2014/main" id="{AEBA9E33-38E9-41C3-B950-AD1BDEDE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00525"/>
            <a:ext cx="346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• Check whether more logging is needed</a:t>
            </a:r>
          </a:p>
          <a:p xmlns:a="http://schemas.openxmlformats.org/drawingml/2006/main">
            <a:pPr>
              <a:buNone/>
              <a:def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• Rank fixes by frequency and impact</a:t>
            </a:r>
          </a:p>
          <a:p xmlns:a="http://schemas.openxmlformats.org/drawingml/2006/main">
            <a:pPr>
              <a:buNone/>
              <a:def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• Define the targeted rerun checklist</a:t>
            </a:r>
          </a:p>
        </p:txBody>
      </p:sp>
      <p:sp>
        <p:nvSpPr>
          <p:cNvPr id="48" name="analysis-03-output-rule">
            <a:extLst xmlns:a="http://schemas.openxmlformats.org/drawingml/2006/main">
              <a:ext uri="{FF2B5EF4-FFF2-40B4-BE49-F238E27FC236}">
                <a16:creationId xmlns:a16="http://schemas.microsoft.com/office/drawing/2014/main" id="{7D0C7E4D-3950-4C1F-89E5-36E373E9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53025"/>
            <a:ext cx="3467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49" name="analysis-03-output-label">
            <a:extLst xmlns:a="http://schemas.openxmlformats.org/drawingml/2006/main">
              <a:ext uri="{FF2B5EF4-FFF2-40B4-BE49-F238E27FC236}">
                <a16:creationId xmlns:a16="http://schemas.microsoft.com/office/drawing/2014/main" id="{568D1AE2-F4AC-4A9A-8017-E2EC95D2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673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788" b="1" spc="90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1" spc="90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50" name="analysis-03-output">
            <a:extLst xmlns:a="http://schemas.openxmlformats.org/drawingml/2006/main">
              <a:ext uri="{FF2B5EF4-FFF2-40B4-BE49-F238E27FC236}">
                <a16:creationId xmlns:a16="http://schemas.microsoft.com/office/drawing/2014/main" id="{DFAA33C0-84B7-45B9-9F7E-B1199764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3875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Prioritized fixes + rerun plan</a:t>
            </a:r>
          </a:p>
        </p:txBody>
      </p:sp>
      <p:sp>
        <p:nvSpPr>
          <p:cNvPr id="51" name="analysis-footer-rule">
            <a:extLst xmlns:a="http://schemas.openxmlformats.org/drawingml/2006/main">
              <a:ext uri="{FF2B5EF4-FFF2-40B4-BE49-F238E27FC236}">
                <a16:creationId xmlns:a16="http://schemas.microsoft.com/office/drawing/2014/main" id="{DF5A3996-5C82-4F62-A35A-EC2CE130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67425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analysis-footer">
            <a:extLst xmlns:a="http://schemas.openxmlformats.org/drawingml/2006/main">
              <a:ext uri="{FF2B5EF4-FFF2-40B4-BE49-F238E27FC236}">
                <a16:creationId xmlns:a16="http://schemas.microsoft.com/office/drawing/2014/main" id="{6623EBA2-4885-4A2B-9DDC-A58D93A5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13" b="1" spc="2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spc="2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DELIVERABLES  ·  task timing table  ·  failure taxonomy  ·  prioritized fix list</a:t>
            </a:r>
          </a:p>
        </p:txBody>
      </p:sp>
    </p:spTree>
    <p:extLst>
      <p:ext uri="{BB962C8B-B14F-4D97-AF65-F5344CB8AC3E}">
        <p14:creationId xmlns:p14="http://schemas.microsoft.com/office/powerpoint/2010/main" val="669095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ule">
            <a:extLst xmlns:a="http://schemas.openxmlformats.org/drawingml/2006/main">
              <a:ext uri="{FF2B5EF4-FFF2-40B4-BE49-F238E27FC236}">
                <a16:creationId xmlns:a16="http://schemas.microsoft.com/office/drawing/2014/main" id="{D6C70A71-318F-4E59-B358-C4A4EA3A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0F11DB5-392C-4DAF-B645-D55D13A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TEAM WORKFLOW</a:t>
            </a:r>
          </a:p>
        </p:txBody>
      </p:sp>
      <p:sp>
        <p:nvSpPr>
          <p:cNvPr id="3" name="date-top">
            <a:extLst xmlns:a="http://schemas.openxmlformats.org/drawingml/2006/main">
              <a:ext uri="{FF2B5EF4-FFF2-40B4-BE49-F238E27FC236}">
                <a16:creationId xmlns:a16="http://schemas.microsoft.com/office/drawing/2014/main" id="{21677A87-8FBF-43AC-9CE5-6886F1E4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86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CODE ONLY → RUN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91B1C26D-7029-4118-B4B0-51258F79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We Work Going Forward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F915A45E-1C73-4BD0-9EEB-A4E4983C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eting-label">
            <a:extLst xmlns:a="http://schemas.openxmlformats.org/drawingml/2006/main">
              <a:ext uri="{FF2B5EF4-FFF2-40B4-BE49-F238E27FC236}">
                <a16:creationId xmlns:a16="http://schemas.microsoft.com/office/drawing/2014/main" id="{B0BE61AB-CBE1-4A45-9D02-D678E34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239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Own repo → implement → swap code → launch experiment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A0E51C-97C5-4536-BB41-C1CD5CE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9" name="guardrail-region">
            <a:extLst xmlns:a="http://schemas.openxmlformats.org/drawingml/2006/main">
              <a:ext uri="{FF2B5EF4-FFF2-40B4-BE49-F238E27FC236}">
                <a16:creationId xmlns:a16="http://schemas.microsoft.com/office/drawing/2014/main" id="{9B0377A1-A6E8-4713-9E36-A1C80F61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0" name="guardrail-accent">
            <a:extLst xmlns:a="http://schemas.openxmlformats.org/drawingml/2006/main">
              <a:ext uri="{FF2B5EF4-FFF2-40B4-BE49-F238E27FC236}">
                <a16:creationId xmlns:a16="http://schemas.microsoft.com/office/drawing/2014/main" id="{129463E7-0024-4D82-A334-B4B5206E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uardrail-label">
            <a:extLst xmlns:a="http://schemas.openxmlformats.org/drawingml/2006/main">
              <a:ext uri="{FF2B5EF4-FFF2-40B4-BE49-F238E27FC236}">
                <a16:creationId xmlns:a16="http://schemas.microsoft.com/office/drawing/2014/main" id="{55A9F4AA-CC21-436C-90A2-B1A2057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00" b="1" spc="100">
                <a:solidFill>
                  <a:srgbClr val="DC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spc="100">
                <a:solidFill>
                  <a:srgbClr val="DC2626"/>
                </a:solidFill>
                <a:latin typeface="Helvetica Neue"/>
                <a:ea typeface="Helvetica Neue"/>
                <a:cs typeface="Helvetica Neue"/>
              </a:rPr>
              <a:t>GUARDRAIL</a:t>
            </a:r>
          </a:p>
        </p:txBody>
      </p:sp>
      <p:sp>
        <p:nvSpPr>
          <p:cNvPr id="12" name="guardrail-main">
            <a:extLst xmlns:a="http://schemas.openxmlformats.org/drawingml/2006/main">
              <a:ext uri="{FF2B5EF4-FFF2-40B4-BE49-F238E27FC236}">
                <a16:creationId xmlns:a16="http://schemas.microsoft.com/office/drawing/2014/main" id="{14A1E0CF-A404-4BD3-BD54-86AE4083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866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F1D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F1D1D"/>
                </a:solidFill>
                <a:latin typeface="Helvetica Neue"/>
                <a:ea typeface="Helvetica Neue"/>
                <a:cs typeface="Helvetica Neue"/>
              </a:rPr>
              <a:t>Never modify anything outside the code directory.</a:t>
            </a:r>
          </a:p>
        </p:txBody>
      </p:sp>
      <p:sp>
        <p:nvSpPr>
          <p:cNvPr id="13" name="guardrail-exception">
            <a:extLst xmlns:a="http://schemas.openxmlformats.org/drawingml/2006/main">
              <a:ext uri="{FF2B5EF4-FFF2-40B4-BE49-F238E27FC236}">
                <a16:creationId xmlns:a16="http://schemas.microsoft.com/office/drawing/2014/main" id="{755118D5-CC0E-4040-A8BE-CAF4D9D4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1336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91B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991B1B"/>
                </a:solidFill>
                <a:latin typeface="Helvetica Neue"/>
                <a:ea typeface="Helvetica Neue"/>
                <a:cs typeface="Helvetica Neue"/>
              </a:rPr>
              <a:t>Only exception: adding a required model or checkpoint asset.</a:t>
            </a:r>
          </a:p>
        </p:txBody>
      </p:sp>
      <p:sp>
        <p:nvSpPr>
          <p:cNvPr id="14" name="arrow-12">
            <a:extLst xmlns:a="http://schemas.openxmlformats.org/drawingml/2006/main">
              <a:ext uri="{FF2B5EF4-FFF2-40B4-BE49-F238E27FC236}">
                <a16:creationId xmlns:a16="http://schemas.microsoft.com/office/drawing/2014/main" id="{94837B51-07A0-474A-9839-C93BABC4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62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arrow-23">
            <a:extLst xmlns:a="http://schemas.openxmlformats.org/drawingml/2006/main">
              <a:ext uri="{FF2B5EF4-FFF2-40B4-BE49-F238E27FC236}">
                <a16:creationId xmlns:a16="http://schemas.microsoft.com/office/drawing/2014/main" id="{82412E33-C6E8-4D8B-A7D8-1116E4B7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62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arrow-34">
            <a:extLst xmlns:a="http://schemas.openxmlformats.org/drawingml/2006/main">
              <a:ext uri="{FF2B5EF4-FFF2-40B4-BE49-F238E27FC236}">
                <a16:creationId xmlns:a16="http://schemas.microsoft.com/office/drawing/2014/main" id="{9257C8D6-1216-4607-BE36-97FF05E0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62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workflow-01-region">
            <a:extLst xmlns:a="http://schemas.openxmlformats.org/drawingml/2006/main">
              <a:ext uri="{FF2B5EF4-FFF2-40B4-BE49-F238E27FC236}">
                <a16:creationId xmlns:a16="http://schemas.microsoft.com/office/drawing/2014/main" id="{07FD8D41-7066-40C3-8DA8-027A4224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2667000" cy="2419350"/>
          </a:xfrm>
          <a:prstGeom xmlns:a="http://schemas.openxmlformats.org/drawingml/2006/main" prst="roundRect">
            <a:avLst>
              <a:gd name="adj" fmla="val 31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8" name="workflow-01-accent">
            <a:extLst xmlns:a="http://schemas.openxmlformats.org/drawingml/2006/main">
              <a:ext uri="{FF2B5EF4-FFF2-40B4-BE49-F238E27FC236}">
                <a16:creationId xmlns:a16="http://schemas.microsoft.com/office/drawing/2014/main" id="{AC633548-653A-4A2F-8214-E297E26D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2667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orkflow-01-number">
            <a:extLst xmlns:a="http://schemas.openxmlformats.org/drawingml/2006/main">
              <a:ext uri="{FF2B5EF4-FFF2-40B4-BE49-F238E27FC236}">
                <a16:creationId xmlns:a16="http://schemas.microsoft.com/office/drawing/2014/main" id="{64BCD9BC-5FFB-4DCC-B8C5-0335368D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0" name="workflow-01-title">
            <a:extLst xmlns:a="http://schemas.openxmlformats.org/drawingml/2006/main">
              <a:ext uri="{FF2B5EF4-FFF2-40B4-BE49-F238E27FC236}">
                <a16:creationId xmlns:a16="http://schemas.microsoft.com/office/drawing/2014/main" id="{A3E61EAE-9B08-4510-B96C-21784D78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765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RECEIVE CODE</a:t>
            </a:r>
          </a:p>
        </p:txBody>
      </p:sp>
      <p:sp>
        <p:nvSpPr>
          <p:cNvPr id="21" name="workflow-01-kicker">
            <a:extLst xmlns:a="http://schemas.openxmlformats.org/drawingml/2006/main">
              <a:ext uri="{FF2B5EF4-FFF2-40B4-BE49-F238E27FC236}">
                <a16:creationId xmlns:a16="http://schemas.microsoft.com/office/drawing/2014/main" id="{A38CF16B-4F94-4231-BD8E-539377E3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Start from the shared code folder.</a:t>
            </a:r>
          </a:p>
        </p:txBody>
      </p:sp>
      <p:sp>
        <p:nvSpPr>
          <p:cNvPr id="22" name="workflow-01-rule">
            <a:extLst xmlns:a="http://schemas.openxmlformats.org/drawingml/2006/main">
              <a:ext uri="{FF2B5EF4-FFF2-40B4-BE49-F238E27FC236}">
                <a16:creationId xmlns:a16="http://schemas.microsoft.com/office/drawing/2014/main" id="{AC44D217-39F6-493C-A47F-979326A0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3" name="workflow-01-body">
            <a:extLst xmlns:a="http://schemas.openxmlformats.org/drawingml/2006/main">
              <a:ext uri="{FF2B5EF4-FFF2-40B4-BE49-F238E27FC236}">
                <a16:creationId xmlns:a16="http://schemas.microsoft.com/office/drawing/2014/main" id="{531FB60B-2AE4-4ABC-B150-B04BE1BA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• Use the provided project code as the baseline</a:t>
            </a:r>
          </a:p>
          <a:p xmlns:a="http://schemas.openxmlformats.org/drawingml/2006/main">
            <a:pPr>
              <a:buNone/>
              <a:def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• Keep changes inside the code directory</a:t>
            </a:r>
          </a:p>
        </p:txBody>
      </p:sp>
      <p:sp>
        <p:nvSpPr>
          <p:cNvPr id="24" name="workflow-02-region">
            <a:extLst xmlns:a="http://schemas.openxmlformats.org/drawingml/2006/main">
              <a:ext uri="{FF2B5EF4-FFF2-40B4-BE49-F238E27FC236}">
                <a16:creationId xmlns:a16="http://schemas.microsoft.com/office/drawing/2014/main" id="{830F1FAF-6E5A-4EA4-A68E-742B1F96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47950"/>
            <a:ext cx="2667000" cy="2419350"/>
          </a:xfrm>
          <a:prstGeom xmlns:a="http://schemas.openxmlformats.org/drawingml/2006/main" prst="roundRect">
            <a:avLst>
              <a:gd name="adj" fmla="val 31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25" name="workflow-02-accent">
            <a:extLst xmlns:a="http://schemas.openxmlformats.org/drawingml/2006/main">
              <a:ext uri="{FF2B5EF4-FFF2-40B4-BE49-F238E27FC236}">
                <a16:creationId xmlns:a16="http://schemas.microsoft.com/office/drawing/2014/main" id="{EDB8E9F9-FAC0-499E-B59F-3B34CF1E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47950"/>
            <a:ext cx="2667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orkflow-02-number">
            <a:extLst xmlns:a="http://schemas.openxmlformats.org/drawingml/2006/main">
              <a:ext uri="{FF2B5EF4-FFF2-40B4-BE49-F238E27FC236}">
                <a16:creationId xmlns:a16="http://schemas.microsoft.com/office/drawing/2014/main" id="{D96EB16D-F9AA-474E-AB8A-71C125CE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956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7" name="workflow-02-title">
            <a:extLst xmlns:a="http://schemas.openxmlformats.org/drawingml/2006/main">
              <a:ext uri="{FF2B5EF4-FFF2-40B4-BE49-F238E27FC236}">
                <a16:creationId xmlns:a16="http://schemas.microsoft.com/office/drawing/2014/main" id="{26FB324B-1044-4234-9801-0438E6D2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765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OWN REPO</a:t>
            </a:r>
          </a:p>
        </p:txBody>
      </p:sp>
      <p:sp>
        <p:nvSpPr>
          <p:cNvPr id="28" name="workflow-02-kicker">
            <a:extLst xmlns:a="http://schemas.openxmlformats.org/drawingml/2006/main">
              <a:ext uri="{FF2B5EF4-FFF2-40B4-BE49-F238E27FC236}">
                <a16:creationId xmlns:a16="http://schemas.microsoft.com/office/drawing/2014/main" id="{42407E40-6CB8-447D-9464-F099CBD1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909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Implement the idea in your own repository.</a:t>
            </a:r>
          </a:p>
        </p:txBody>
      </p:sp>
      <p:sp>
        <p:nvSpPr>
          <p:cNvPr id="29" name="workflow-02-rule">
            <a:extLst xmlns:a="http://schemas.openxmlformats.org/drawingml/2006/main">
              <a:ext uri="{FF2B5EF4-FFF2-40B4-BE49-F238E27FC236}">
                <a16:creationId xmlns:a16="http://schemas.microsoft.com/office/drawing/2014/main" id="{6F09596E-2B36-495F-97D2-ED4ACE46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052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30" name="workflow-02-body">
            <a:extLst xmlns:a="http://schemas.openxmlformats.org/drawingml/2006/main">
              <a:ext uri="{FF2B5EF4-FFF2-40B4-BE49-F238E27FC236}">
                <a16:creationId xmlns:a16="http://schemas.microsoft.com/office/drawing/2014/main" id="{D9A26A4D-7DE4-49CF-9B5D-BCE9FF44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576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• Create a personal repo or working branch</a:t>
            </a:r>
          </a:p>
          <a:p xmlns:a="http://schemas.openxmlformats.org/drawingml/2006/main">
            <a:pPr>
              <a:buNone/>
              <a:def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• Use Claude Code or an equivalent coding agent</a:t>
            </a:r>
          </a:p>
        </p:txBody>
      </p:sp>
      <p:sp>
        <p:nvSpPr>
          <p:cNvPr id="31" name="workflow-03-region">
            <a:extLst xmlns:a="http://schemas.openxmlformats.org/drawingml/2006/main">
              <a:ext uri="{FF2B5EF4-FFF2-40B4-BE49-F238E27FC236}">
                <a16:creationId xmlns:a16="http://schemas.microsoft.com/office/drawing/2014/main" id="{9B3F104A-8242-4E1D-932C-78A9776F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667000" cy="2419350"/>
          </a:xfrm>
          <a:prstGeom xmlns:a="http://schemas.openxmlformats.org/drawingml/2006/main" prst="roundRect">
            <a:avLst>
              <a:gd name="adj" fmla="val 31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32" name="workflow-03-accent">
            <a:extLst xmlns:a="http://schemas.openxmlformats.org/drawingml/2006/main">
              <a:ext uri="{FF2B5EF4-FFF2-40B4-BE49-F238E27FC236}">
                <a16:creationId xmlns:a16="http://schemas.microsoft.com/office/drawing/2014/main" id="{346D87F0-081E-4248-9FC7-A745C824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667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workflow-03-number">
            <a:extLst xmlns:a="http://schemas.openxmlformats.org/drawingml/2006/main">
              <a:ext uri="{FF2B5EF4-FFF2-40B4-BE49-F238E27FC236}">
                <a16:creationId xmlns:a16="http://schemas.microsoft.com/office/drawing/2014/main" id="{64C2B538-862D-43BF-9A7A-B10795E2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4" name="workflow-03-title">
            <a:extLst xmlns:a="http://schemas.openxmlformats.org/drawingml/2006/main">
              <a:ext uri="{FF2B5EF4-FFF2-40B4-BE49-F238E27FC236}">
                <a16:creationId xmlns:a16="http://schemas.microsoft.com/office/drawing/2014/main" id="{C868BE77-7C0C-4687-B206-9872E2CC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765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DEPLOY &amp; RUN</a:t>
            </a:r>
          </a:p>
        </p:txBody>
      </p:sp>
      <p:sp>
        <p:nvSpPr>
          <p:cNvPr id="35" name="workflow-03-kicker">
            <a:extLst xmlns:a="http://schemas.openxmlformats.org/drawingml/2006/main">
              <a:ext uri="{FF2B5EF4-FFF2-40B4-BE49-F238E27FC236}">
                <a16:creationId xmlns:a16="http://schemas.microsoft.com/office/drawing/2014/main" id="{74E92EB6-FC7E-4E05-AE2D-4DC67A24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909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Swap the updated code on both machines.</a:t>
            </a:r>
          </a:p>
        </p:txBody>
      </p:sp>
      <p:sp>
        <p:nvSpPr>
          <p:cNvPr id="36" name="workflow-03-rule">
            <a:extLst xmlns:a="http://schemas.openxmlformats.org/drawingml/2006/main">
              <a:ext uri="{FF2B5EF4-FFF2-40B4-BE49-F238E27FC236}">
                <a16:creationId xmlns:a16="http://schemas.microsoft.com/office/drawing/2014/main" id="{DB8446BE-05B6-4DD3-875C-5AF6126A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37" name="workflow-03-body">
            <a:extLst xmlns:a="http://schemas.openxmlformats.org/drawingml/2006/main">
              <a:ext uri="{FF2B5EF4-FFF2-40B4-BE49-F238E27FC236}">
                <a16:creationId xmlns:a16="http://schemas.microsoft.com/office/drawing/2014/main" id="{54DB9B3D-00FE-4CB6-8065-E5C8195B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• Replace the corresponding A100 and RTX 4090 code</a:t>
            </a:r>
          </a:p>
          <a:p xmlns:a="http://schemas.openxmlformats.org/drawingml/2006/main">
            <a:pPr>
              <a:buNone/>
              <a:def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• Run seokmins/exp_script with the documented commands</a:t>
            </a:r>
          </a:p>
        </p:txBody>
      </p:sp>
      <p:sp>
        <p:nvSpPr>
          <p:cNvPr id="38" name="workflow-04-region">
            <a:extLst xmlns:a="http://schemas.openxmlformats.org/drawingml/2006/main">
              <a:ext uri="{FF2B5EF4-FFF2-40B4-BE49-F238E27FC236}">
                <a16:creationId xmlns:a16="http://schemas.microsoft.com/office/drawing/2014/main" id="{C8B05449-6A2C-49E9-800F-17EAFA59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2667000" cy="2419350"/>
          </a:xfrm>
          <a:prstGeom xmlns:a="http://schemas.openxmlformats.org/drawingml/2006/main" prst="roundRect">
            <a:avLst>
              <a:gd name="adj" fmla="val 31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39" name="workflow-04-accent">
            <a:extLst xmlns:a="http://schemas.openxmlformats.org/drawingml/2006/main">
              <a:ext uri="{FF2B5EF4-FFF2-40B4-BE49-F238E27FC236}">
                <a16:creationId xmlns:a16="http://schemas.microsoft.com/office/drawing/2014/main" id="{7DC94B0A-4C04-4F36-868F-E28A2D54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2667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workflow-04-number">
            <a:extLst xmlns:a="http://schemas.openxmlformats.org/drawingml/2006/main">
              <a:ext uri="{FF2B5EF4-FFF2-40B4-BE49-F238E27FC236}">
                <a16:creationId xmlns:a16="http://schemas.microsoft.com/office/drawing/2014/main" id="{B0AD995F-2640-458C-B6EB-12FF77E1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956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1" name="workflow-04-title">
            <a:extLst xmlns:a="http://schemas.openxmlformats.org/drawingml/2006/main">
              <a:ext uri="{FF2B5EF4-FFF2-40B4-BE49-F238E27FC236}">
                <a16:creationId xmlns:a16="http://schemas.microsoft.com/office/drawing/2014/main" id="{464D60C2-568F-40F9-822A-2F2FB770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8765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CHOOSE SCALE</a:t>
            </a:r>
          </a:p>
        </p:txBody>
      </p:sp>
      <p:sp>
        <p:nvSpPr>
          <p:cNvPr id="42" name="workflow-04-kicker">
            <a:extLst xmlns:a="http://schemas.openxmlformats.org/drawingml/2006/main">
              <a:ext uri="{FF2B5EF4-FFF2-40B4-BE49-F238E27FC236}">
                <a16:creationId xmlns:a16="http://schemas.microsoft.com/office/drawing/2014/main" id="{466728DF-89EF-4521-9FD3-939B2ECE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909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Match execution mode to experiment size.</a:t>
            </a:r>
          </a:p>
        </p:txBody>
      </p:sp>
      <p:sp>
        <p:nvSpPr>
          <p:cNvPr id="43" name="workflow-04-rule">
            <a:extLst xmlns:a="http://schemas.openxmlformats.org/drawingml/2006/main">
              <a:ext uri="{FF2B5EF4-FFF2-40B4-BE49-F238E27FC236}">
                <a16:creationId xmlns:a16="http://schemas.microsoft.com/office/drawing/2014/main" id="{94DAE601-0443-4DD7-936D-C58806D5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052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44" name="workflow-04-body">
            <a:extLst xmlns:a="http://schemas.openxmlformats.org/drawingml/2006/main">
              <a:ext uri="{FF2B5EF4-FFF2-40B4-BE49-F238E27FC236}">
                <a16:creationId xmlns:a16="http://schemas.microsoft.com/office/drawing/2014/main" id="{F0955797-56E0-4199-8D1C-98DED0DE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• Manageable run → execute independently</a:t>
            </a:r>
          </a:p>
          <a:p xmlns:a="http://schemas.openxmlformats.org/drawingml/2006/main">
            <a:pPr>
              <a:buNone/>
              <a:def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• Heavy or long run → coordinate parallel streams first</a:t>
            </a:r>
          </a:p>
        </p:txBody>
      </p:sp>
      <p:sp>
        <p:nvSpPr>
          <p:cNvPr id="45" name="run-mode-region">
            <a:extLst xmlns:a="http://schemas.openxmlformats.org/drawingml/2006/main">
              <a:ext uri="{FF2B5EF4-FFF2-40B4-BE49-F238E27FC236}">
                <a16:creationId xmlns:a16="http://schemas.microsoft.com/office/drawing/2014/main" id="{A1BEC7A3-9570-45A3-AE6A-07C385B2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67325"/>
            <a:ext cx="113919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solo-label">
            <a:extLst xmlns:a="http://schemas.openxmlformats.org/drawingml/2006/main">
              <a:ext uri="{FF2B5EF4-FFF2-40B4-BE49-F238E27FC236}">
                <a16:creationId xmlns:a16="http://schemas.microsoft.com/office/drawing/2014/main" id="{F2FCD943-DC73-40D9-BE49-F495362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00" b="1" spc="90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spc="90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SOLO RUN</a:t>
            </a:r>
          </a:p>
        </p:txBody>
      </p:sp>
      <p:sp>
        <p:nvSpPr>
          <p:cNvPr id="47" name="solo-desc">
            <a:extLst xmlns:a="http://schemas.openxmlformats.org/drawingml/2006/main">
              <a:ext uri="{FF2B5EF4-FFF2-40B4-BE49-F238E27FC236}">
                <a16:creationId xmlns:a16="http://schemas.microsoft.com/office/drawing/2014/main" id="{E3A4DC67-A1A7-45D0-A471-91475360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816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One manageable experiment</a:t>
            </a:r>
          </a:p>
        </p:txBody>
      </p:sp>
      <p:sp>
        <p:nvSpPr>
          <p:cNvPr id="48" name="run-or">
            <a:extLst xmlns:a="http://schemas.openxmlformats.org/drawingml/2006/main">
              <a:ext uri="{FF2B5EF4-FFF2-40B4-BE49-F238E27FC236}">
                <a16:creationId xmlns:a16="http://schemas.microsoft.com/office/drawing/2014/main" id="{4B118D40-3A7F-4DBF-BA7B-CAD13F76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4102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spc="9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spc="9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OR</a:t>
            </a:r>
          </a:p>
        </p:txBody>
      </p:sp>
      <p:sp>
        <p:nvSpPr>
          <p:cNvPr id="49" name="parallel-label">
            <a:extLst xmlns:a="http://schemas.openxmlformats.org/drawingml/2006/main">
              <a:ext uri="{FF2B5EF4-FFF2-40B4-BE49-F238E27FC236}">
                <a16:creationId xmlns:a16="http://schemas.microsoft.com/office/drawing/2014/main" id="{0E25033C-9E59-4031-976D-03737D65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102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00" b="1" spc="90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spc="90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TEAM PARALLEL</a:t>
            </a:r>
          </a:p>
        </p:txBody>
      </p:sp>
      <p:sp>
        <p:nvSpPr>
          <p:cNvPr id="50" name="parallel-desc">
            <a:extLst xmlns:a="http://schemas.openxmlformats.org/drawingml/2006/main">
              <a:ext uri="{FF2B5EF4-FFF2-40B4-BE49-F238E27FC236}">
                <a16:creationId xmlns:a16="http://schemas.microsoft.com/office/drawing/2014/main" id="{6DB9FCA2-35BA-4247-92CB-42ACD1F2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81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Multi-task or long-running workload</a:t>
            </a:r>
          </a:p>
        </p:txBody>
      </p:sp>
      <p:sp>
        <p:nvSpPr>
          <p:cNvPr id="51" name="workflow-footer-rule">
            <a:extLst xmlns:a="http://schemas.openxmlformats.org/drawingml/2006/main">
              <a:ext uri="{FF2B5EF4-FFF2-40B4-BE49-F238E27FC236}">
                <a16:creationId xmlns:a16="http://schemas.microsoft.com/office/drawing/2014/main" id="{88F005B4-2582-4277-9377-BC667D40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67425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workflow-footer">
            <a:extLst xmlns:a="http://schemas.openxmlformats.org/drawingml/2006/main">
              <a:ext uri="{FF2B5EF4-FFF2-40B4-BE49-F238E27FC236}">
                <a16:creationId xmlns:a16="http://schemas.microsoft.com/office/drawing/2014/main" id="{F35E1383-8953-4006-86C8-39BF98EF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13" b="1" spc="2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spc="2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IMPLEMENT LOCALLY  ·  DEPLOY CAREFULLY  ·  COORDINATE BEFORE PARALLEL RUNS</a:t>
            </a:r>
          </a:p>
        </p:txBody>
      </p:sp>
    </p:spTree>
    <p:extLst>
      <p:ext uri="{BB962C8B-B14F-4D97-AF65-F5344CB8AC3E}">
        <p14:creationId xmlns:p14="http://schemas.microsoft.com/office/powerpoint/2010/main" val="669095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ule">
            <a:extLst xmlns:a="http://schemas.openxmlformats.org/drawingml/2006/main">
              <a:ext uri="{FF2B5EF4-FFF2-40B4-BE49-F238E27FC236}">
                <a16:creationId xmlns:a16="http://schemas.microsoft.com/office/drawing/2014/main" id="{D6C70A71-318F-4E59-B358-C4A4EA3A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0F11DB5-392C-4DAF-B645-D55D13A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spc="16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ROBOTICS RESEARCH</a:t>
            </a:r>
          </a:p>
        </p:txBody>
      </p:sp>
      <p:sp>
        <p:nvSpPr>
          <p:cNvPr id="3" name="date-top">
            <a:extLst xmlns:a="http://schemas.openxmlformats.org/drawingml/2006/main">
              <a:ext uri="{FF2B5EF4-FFF2-40B4-BE49-F238E27FC236}">
                <a16:creationId xmlns:a16="http://schemas.microsoft.com/office/drawing/2014/main" id="{21677A87-8FBF-43AC-9CE5-6886F1E4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86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2026. 09. 04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91B1C26D-7029-4118-B4B0-51258F79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End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F915A45E-1C73-4BD0-9EEB-A4E4983C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1600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eting-label">
            <a:extLst xmlns:a="http://schemas.openxmlformats.org/drawingml/2006/main">
              <a:ext uri="{FF2B5EF4-FFF2-40B4-BE49-F238E27FC236}">
                <a16:creationId xmlns:a16="http://schemas.microsoft.com/office/drawing/2014/main" id="{B0BE61AB-CBE1-4A45-9D02-D678E34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spc="4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spc="4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ROBOTICS AGENT PROJECT MEETING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A0E51C-97C5-4536-BB41-C1CD5CE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69095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2026-09-02T09:48:21.7940000Z</dcterms:created>
  <dcterms:modified xsi:type="dcterms:W3CDTF">2026-09-02T09:48:21.7940000Z</dcterms:modified>
</coreProperties>
</file>